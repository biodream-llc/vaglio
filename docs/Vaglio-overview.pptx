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75569"/>
                </a:solidFill>
                <a:latin typeface="Arial"/>
              </a:defRPr>
            </a:pPr>
            <a:r>
              <a:rPr sz="1000" b="0" i="0" u="none" strike="noStrike">
                <a:solidFill>
                  <a:srgbClr val="475569"/>
                </a:solidFill>
                <a:latin typeface="Arial"/>
              </a:rPr>
              <a:t>Share of requests (%): example numbers only</a:t>
            </a:r>
          </a:p>
        </c:rich>
      </c:tx>
      <c:layout/>
      <c:overlay val="0"/>
    </c:title>
    <c:autoTitleDeleted val="0"/>
    <c:plotArea>
      <c:layout/>
      <c:barChart>
        <c:barDir val="col"/>
        <c:grouping val="stacked"/>
        <c:varyColors val="0"/>
        <c:ser>
          <c:idx val="0"/>
          <c:order val="0"/>
          <c:tx>
            <c:strRef>
              <c:f>Sheet1!$B$1</c:f>
              <c:strCache>
                <c:ptCount val="1"/>
                <c:pt idx="0">
                  <c:v>Approved</c:v>
                </c:pt>
              </c:strCache>
            </c:strRef>
          </c:tx>
          <c:spPr>
            <a:solidFill>
              <a:srgbClr val="059669"/>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Standard</c:v>
                  </c:pt>
                  <c:pt idx="1">
                    <c:v>Urgent</c:v>
                  </c:pt>
                  <c:pt idx="2">
                    <c:v>Drugs</c:v>
                  </c:pt>
                </c:lvl>
              </c:multiLvlStrCache>
            </c:multiLvlStrRef>
          </c:cat>
          <c:val>
            <c:numRef>
              <c:f>Sheet1!$B$2:$B$4</c:f>
              <c:numCache>
                <c:formatCode>General</c:formatCode>
                <c:ptCount val="3"/>
                <c:pt idx="0">
                  <c:v>78</c:v>
                </c:pt>
                <c:pt idx="1">
                  <c:v>84</c:v>
                </c:pt>
                <c:pt idx="2">
                  <c:v>71</c:v>
                </c:pt>
              </c:numCache>
            </c:numRef>
          </c:val>
        </c:ser>
        <c:ser>
          <c:idx val="1"/>
          <c:order val="1"/>
          <c:tx>
            <c:strRef>
              <c:f>Sheet1!$C$1</c:f>
              <c:strCache>
                <c:ptCount val="1"/>
                <c:pt idx="0">
                  <c:v>Denied</c:v>
                </c:pt>
              </c:strCache>
            </c:strRef>
          </c:tx>
          <c:spPr>
            <a:solidFill>
              <a:srgbClr val="DC2626"/>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Standard</c:v>
                  </c:pt>
                  <c:pt idx="1">
                    <c:v>Urgent</c:v>
                  </c:pt>
                  <c:pt idx="2">
                    <c:v>Drugs</c:v>
                  </c:pt>
                </c:lvl>
              </c:multiLvlStrCache>
            </c:multiLvlStrRef>
          </c:cat>
          <c:val>
            <c:numRef>
              <c:f>Sheet1!$C$2:$C$4</c:f>
              <c:numCache>
                <c:formatCode>General</c:formatCode>
                <c:ptCount val="3"/>
                <c:pt idx="0">
                  <c:v>9</c:v>
                </c:pt>
                <c:pt idx="1">
                  <c:v>6</c:v>
                </c:pt>
                <c:pt idx="2">
                  <c:v>12</c:v>
                </c:pt>
              </c:numCache>
            </c:numRef>
          </c:val>
        </c:ser>
        <c:ser>
          <c:idx val="2"/>
          <c:order val="2"/>
          <c:tx>
            <c:strRef>
              <c:f>Sheet1!$D$1</c:f>
              <c:strCache>
                <c:ptCount val="1"/>
                <c:pt idx="0">
                  <c:v>Pended, then decided</c:v>
                </c:pt>
              </c:strCache>
            </c:strRef>
          </c:tx>
          <c:spPr>
            <a:solidFill>
              <a:srgbClr val="D97706"/>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Standard</c:v>
                  </c:pt>
                  <c:pt idx="1">
                    <c:v>Urgent</c:v>
                  </c:pt>
                  <c:pt idx="2">
                    <c:v>Drugs</c:v>
                  </c:pt>
                </c:lvl>
              </c:multiLvlStrCache>
            </c:multiLvlStrRef>
          </c:cat>
          <c:val>
            <c:numRef>
              <c:f>Sheet1!$D$2:$D$4</c:f>
              <c:numCache>
                <c:formatCode>General</c:formatCode>
                <c:ptCount val="3"/>
                <c:pt idx="0">
                  <c:v>13</c:v>
                </c:pt>
                <c:pt idx="1">
                  <c:v>10</c:v>
                </c:pt>
                <c:pt idx="2">
                  <c:v>17</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14-1.png"/><Relationship Id="rId2" Type="http://schemas.openxmlformats.org/officeDocument/2006/relationships/image" Target="../media/image-14-2.sv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sv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Shape 1"/>
          <p:cNvSpPr/>
          <p:nvPr/>
        </p:nvSpPr>
        <p:spPr>
          <a:xfrm>
            <a:off x="6583680" y="-2011680"/>
            <a:ext cx="7772400" cy="7772400"/>
          </a:xfrm>
          <a:prstGeom prst="ellipse">
            <a:avLst/>
          </a:prstGeom>
          <a:solidFill>
            <a:srgbClr val="2E1065">
              <a:alpha val="65000"/>
            </a:srgbClr>
          </a:solidFill>
          <a:ln w="12700">
            <a:solidFill>
              <a:srgbClr val="2E1065">
                <a:alpha val="0"/>
              </a:srgbClr>
            </a:solidFill>
            <a:prstDash val="solid"/>
          </a:ln>
        </p:spPr>
      </p:sp>
      <p:sp>
        <p:nvSpPr>
          <p:cNvPr id="4" name="Shape 2"/>
          <p:cNvSpPr/>
          <p:nvPr/>
        </p:nvSpPr>
        <p:spPr>
          <a:xfrm>
            <a:off x="8595360" y="3291840"/>
            <a:ext cx="5029200" cy="5029200"/>
          </a:xfrm>
          <a:prstGeom prst="ellipse">
            <a:avLst/>
          </a:prstGeom>
          <a:solidFill>
            <a:srgbClr val="4C1D95">
              <a:alpha val="45000"/>
            </a:srgbClr>
          </a:solidFill>
          <a:ln w="12700">
            <a:solidFill>
              <a:srgbClr val="4C1D95">
                <a:alpha val="0"/>
              </a:srgbClr>
            </a:solidFill>
            <a:prstDash val="solid"/>
          </a:ln>
        </p:spPr>
      </p:sp>
      <p:pic>
        <p:nvPicPr>
          <p:cNvPr id="5" name="Image 0" descr="Vaglio logo: a sieve with a check mark">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1520" y="822960"/>
            <a:ext cx="1005840" cy="1005840"/>
          </a:xfrm>
          <a:prstGeom prst="rect">
            <a:avLst/>
          </a:prstGeom>
        </p:spPr>
      </p:pic>
      <p:sp>
        <p:nvSpPr>
          <p:cNvPr id="6" name="Text 3"/>
          <p:cNvSpPr/>
          <p:nvPr/>
        </p:nvSpPr>
        <p:spPr>
          <a:xfrm>
            <a:off x="731520" y="1920240"/>
            <a:ext cx="6400800" cy="1005840"/>
          </a:xfrm>
          <a:prstGeom prst="rect">
            <a:avLst/>
          </a:prstGeom>
          <a:noFill/>
          <a:ln/>
        </p:spPr>
        <p:txBody>
          <a:bodyPr wrap="square" rtlCol="0" anchor="ctr"/>
          <a:lstStyle/>
          <a:p>
            <a:pPr indent="0" marL="0">
              <a:buNone/>
            </a:pPr>
            <a:r>
              <a:rPr lang="en-US" sz="6000" b="1" dirty="0">
                <a:solidFill>
                  <a:srgbClr val="F5F3FF"/>
                </a:solidFill>
                <a:latin typeface="Arial" pitchFamily="34" charset="0"/>
                <a:ea typeface="Arial" pitchFamily="34" charset="-122"/>
                <a:cs typeface="Arial" pitchFamily="34" charset="-120"/>
              </a:rPr>
              <a:t>Vaglio</a:t>
            </a:r>
            <a:endParaRPr lang="en-US" sz="6000" dirty="0"/>
          </a:p>
        </p:txBody>
      </p:sp>
      <p:sp>
        <p:nvSpPr>
          <p:cNvPr id="7" name="Text 4"/>
          <p:cNvSpPr/>
          <p:nvPr/>
        </p:nvSpPr>
        <p:spPr>
          <a:xfrm>
            <a:off x="731520" y="2880360"/>
            <a:ext cx="6949440" cy="457200"/>
          </a:xfrm>
          <a:prstGeom prst="rect">
            <a:avLst/>
          </a:prstGeom>
          <a:noFill/>
          <a:ln/>
        </p:spPr>
        <p:txBody>
          <a:bodyPr wrap="square" rtlCol="0" anchor="ctr"/>
          <a:lstStyle/>
          <a:p>
            <a:pPr indent="0" marL="0">
              <a:buNone/>
            </a:pPr>
            <a:r>
              <a:rPr lang="en-US" sz="2000" dirty="0">
                <a:solidFill>
                  <a:srgbClr val="C4B5FD"/>
                </a:solidFill>
                <a:latin typeface="Arial" pitchFamily="34" charset="0"/>
                <a:ea typeface="Arial" pitchFamily="34" charset="-122"/>
                <a:cs typeface="Arial" pitchFamily="34" charset="-120"/>
              </a:rPr>
              <a:t>Prior authorization that has to prove its answer</a:t>
            </a:r>
            <a:endParaRPr lang="en-US" sz="2000" dirty="0"/>
          </a:p>
        </p:txBody>
      </p:sp>
      <p:sp>
        <p:nvSpPr>
          <p:cNvPr id="8" name="Text 5"/>
          <p:cNvSpPr/>
          <p:nvPr/>
        </p:nvSpPr>
        <p:spPr>
          <a:xfrm>
            <a:off x="731520" y="3520440"/>
            <a:ext cx="6766560" cy="1188720"/>
          </a:xfrm>
          <a:prstGeom prst="rect">
            <a:avLst/>
          </a:prstGeom>
          <a:noFill/>
          <a:ln/>
        </p:spPr>
        <p:txBody>
          <a:bodyPr wrap="square" rtlCol="0" anchor="t"/>
          <a:lstStyle/>
          <a:p>
            <a:pPr indent="0" marL="0">
              <a:buNone/>
            </a:pPr>
            <a:r>
              <a:rPr lang="en-US" sz="1200" dirty="0">
                <a:solidFill>
                  <a:srgbClr val="CBD5E1"/>
                </a:solidFill>
                <a:latin typeface="Arial" pitchFamily="34" charset="0"/>
                <a:ea typeface="Arial" pitchFamily="34" charset="-122"/>
                <a:cs typeface="Arial" pitchFamily="34" charset="-120"/>
              </a:rPr>
              <a:t>A decision engine for health plans. It never denies care without showing why,</a:t>
            </a:r>
            <a:endParaRPr lang="en-US" sz="1200" dirty="0"/>
          </a:p>
          <a:p>
            <a:pPr indent="0" marL="0">
              <a:buNone/>
            </a:pPr>
            <a:r>
              <a:rPr lang="en-US" sz="1200" dirty="0">
                <a:solidFill>
                  <a:srgbClr val="CBD5E1"/>
                </a:solidFill>
                <a:latin typeface="Arial" pitchFamily="34" charset="0"/>
                <a:ea typeface="Arial" pitchFamily="34" charset="-122"/>
                <a:cs typeface="Arial" pitchFamily="34" charset="-120"/>
              </a:rPr>
              <a:t>and it never denies care just because something was missing from the file.</a:t>
            </a:r>
            <a:endParaRPr lang="en-US" sz="1200" dirty="0"/>
          </a:p>
          <a:p>
            <a:pPr indent="0" marL="0">
              <a:buNone/>
            </a:pPr>
            <a:r>
              <a:rPr lang="en-US" sz="1200" dirty="0">
                <a:solidFill>
                  <a:srgbClr val="CBD5E1"/>
                </a:solidFill>
                <a:latin typeface="Arial" pitchFamily="34" charset="0"/>
                <a:ea typeface="Arial" pitchFamily="34" charset="-122"/>
                <a:cs typeface="Arial" pitchFamily="34" charset="-120"/>
              </a:rPr>
              <a:t> </a:t>
            </a:r>
            <a:endParaRPr lang="en-US" sz="1200" dirty="0"/>
          </a:p>
          <a:p>
            <a:pPr indent="0" marL="0">
              <a:buNone/>
            </a:pPr>
            <a:r>
              <a:rPr lang="en-US" sz="1200" dirty="0">
                <a:solidFill>
                  <a:srgbClr val="CBD5E1"/>
                </a:solidFill>
                <a:latin typeface="Arial" pitchFamily="34" charset="0"/>
                <a:ea typeface="Arial" pitchFamily="34" charset="-122"/>
                <a:cs typeface="Arial" pitchFamily="34" charset="-120"/>
              </a:rPr>
              <a:t>This deck explains what it does, in plain words: no software background needed.</a:t>
            </a:r>
            <a:endParaRPr lang="en-US" sz="1200" dirty="0"/>
          </a:p>
        </p:txBody>
      </p:sp>
      <p:sp>
        <p:nvSpPr>
          <p:cNvPr id="9" name="Shape 6"/>
          <p:cNvSpPr/>
          <p:nvPr/>
        </p:nvSpPr>
        <p:spPr>
          <a:xfrm>
            <a:off x="731520" y="4983480"/>
            <a:ext cx="2807208" cy="329184"/>
          </a:xfrm>
          <a:prstGeom prst="roundRect">
            <a:avLst>
              <a:gd name="adj" fmla="val 50000"/>
            </a:avLst>
          </a:prstGeom>
          <a:solidFill>
            <a:srgbClr val="1E1B4B"/>
          </a:solidFill>
          <a:ln w="12700">
            <a:solidFill>
              <a:srgbClr val="A78BFA"/>
            </a:solidFill>
            <a:prstDash val="solid"/>
          </a:ln>
        </p:spPr>
      </p:sp>
      <p:sp>
        <p:nvSpPr>
          <p:cNvPr id="10" name="Text 7"/>
          <p:cNvSpPr/>
          <p:nvPr/>
        </p:nvSpPr>
        <p:spPr>
          <a:xfrm>
            <a:off x="731520" y="4983480"/>
            <a:ext cx="2807208" cy="329184"/>
          </a:xfrm>
          <a:prstGeom prst="rect">
            <a:avLst/>
          </a:prstGeom>
          <a:noFill/>
          <a:ln/>
        </p:spPr>
        <p:txBody>
          <a:bodyPr wrap="square" rtlCol="0" anchor="ctr"/>
          <a:lstStyle/>
          <a:p>
            <a:pPr algn="ctr" indent="0" marL="0">
              <a:buNone/>
            </a:pPr>
            <a:r>
              <a:rPr lang="en-US" sz="950" b="1" dirty="0">
                <a:solidFill>
                  <a:srgbClr val="A78BFA"/>
                </a:solidFill>
                <a:latin typeface="Arial" pitchFamily="34" charset="0"/>
                <a:ea typeface="Arial" pitchFamily="34" charset="-122"/>
                <a:cs typeface="Arial" pitchFamily="34" charset="-120"/>
              </a:rPr>
              <a:t>Source-available · PolyForm Shield 1.0.0</a:t>
            </a:r>
            <a:endParaRPr lang="en-US" sz="950" dirty="0"/>
          </a:p>
        </p:txBody>
      </p:sp>
      <p:sp>
        <p:nvSpPr>
          <p:cNvPr id="11" name="Shape 8"/>
          <p:cNvSpPr/>
          <p:nvPr/>
        </p:nvSpPr>
        <p:spPr>
          <a:xfrm>
            <a:off x="3721608" y="4983480"/>
            <a:ext cx="2247595" cy="329184"/>
          </a:xfrm>
          <a:prstGeom prst="roundRect">
            <a:avLst>
              <a:gd name="adj" fmla="val 50000"/>
            </a:avLst>
          </a:prstGeom>
          <a:solidFill>
            <a:srgbClr val="1E1B4B"/>
          </a:solidFill>
          <a:ln w="12700">
            <a:solidFill>
              <a:srgbClr val="34D399"/>
            </a:solidFill>
            <a:prstDash val="solid"/>
          </a:ln>
        </p:spPr>
      </p:sp>
      <p:sp>
        <p:nvSpPr>
          <p:cNvPr id="12" name="Text 9"/>
          <p:cNvSpPr/>
          <p:nvPr/>
        </p:nvSpPr>
        <p:spPr>
          <a:xfrm>
            <a:off x="3721608" y="4983480"/>
            <a:ext cx="2247595" cy="329184"/>
          </a:xfrm>
          <a:prstGeom prst="rect">
            <a:avLst/>
          </a:prstGeom>
          <a:noFill/>
          <a:ln/>
        </p:spPr>
        <p:txBody>
          <a:bodyPr wrap="square" rtlCol="0" anchor="ctr"/>
          <a:lstStyle/>
          <a:p>
            <a:pPr algn="ctr" indent="0" marL="0">
              <a:buNone/>
            </a:pPr>
            <a:r>
              <a:rPr lang="en-US" sz="950" b="1" dirty="0">
                <a:solidFill>
                  <a:srgbClr val="34D399"/>
                </a:solidFill>
                <a:latin typeface="Arial" pitchFamily="34" charset="0"/>
                <a:ea typeface="Arial" pitchFamily="34" charset="-122"/>
                <a:cs typeface="Arial" pitchFamily="34" charset="-120"/>
              </a:rPr>
              <a:t>One program, nothing to install</a:t>
            </a:r>
            <a:endParaRPr lang="en-US" sz="950" dirty="0"/>
          </a:p>
        </p:txBody>
      </p:sp>
      <p:sp>
        <p:nvSpPr>
          <p:cNvPr id="13" name="Shape 10"/>
          <p:cNvSpPr/>
          <p:nvPr/>
        </p:nvSpPr>
        <p:spPr>
          <a:xfrm>
            <a:off x="6152083" y="4983480"/>
            <a:ext cx="1439266" cy="329184"/>
          </a:xfrm>
          <a:prstGeom prst="roundRect">
            <a:avLst>
              <a:gd name="adj" fmla="val 50000"/>
            </a:avLst>
          </a:prstGeom>
          <a:solidFill>
            <a:srgbClr val="1E1B4B"/>
          </a:solidFill>
          <a:ln w="12700">
            <a:solidFill>
              <a:srgbClr val="60A5FA"/>
            </a:solidFill>
            <a:prstDash val="solid"/>
          </a:ln>
        </p:spPr>
      </p:sp>
      <p:sp>
        <p:nvSpPr>
          <p:cNvPr id="14" name="Text 11"/>
          <p:cNvSpPr/>
          <p:nvPr/>
        </p:nvSpPr>
        <p:spPr>
          <a:xfrm>
            <a:off x="6152083" y="4983480"/>
            <a:ext cx="1439266" cy="329184"/>
          </a:xfrm>
          <a:prstGeom prst="rect">
            <a:avLst/>
          </a:prstGeom>
          <a:noFill/>
          <a:ln/>
        </p:spPr>
        <p:txBody>
          <a:bodyPr wrap="square" rtlCol="0" anchor="ctr"/>
          <a:lstStyle/>
          <a:p>
            <a:pPr algn="ctr" indent="0" marL="0">
              <a:buNone/>
            </a:pPr>
            <a:r>
              <a:rPr lang="en-US" sz="950" b="1" dirty="0">
                <a:solidFill>
                  <a:srgbClr val="60A5FA"/>
                </a:solidFill>
                <a:latin typeface="Arial" pitchFamily="34" charset="0"/>
                <a:ea typeface="Arial" pitchFamily="34" charset="-122"/>
                <a:cs typeface="Arial" pitchFamily="34" charset="-120"/>
              </a:rPr>
              <a:t>Works with Perfuse</a:t>
            </a:r>
            <a:endParaRPr lang="en-US" sz="950" dirty="0"/>
          </a:p>
        </p:txBody>
      </p:sp>
      <p:sp>
        <p:nvSpPr>
          <p:cNvPr id="15" name="Text 12"/>
          <p:cNvSpPr/>
          <p:nvPr/>
        </p:nvSpPr>
        <p:spPr>
          <a:xfrm>
            <a:off x="731520" y="6172200"/>
            <a:ext cx="6400800" cy="274320"/>
          </a:xfrm>
          <a:prstGeom prst="rect">
            <a:avLst/>
          </a:prstGeom>
          <a:noFill/>
          <a:ln/>
        </p:spPr>
        <p:txBody>
          <a:bodyPr wrap="square" rtlCol="0" anchor="ctr"/>
          <a:lstStyle/>
          <a:p>
            <a:pPr indent="0" marL="0">
              <a:buNone/>
            </a:pPr>
            <a:r>
              <a:rPr lang="en-US" sz="900" dirty="0">
                <a:solidFill>
                  <a:srgbClr val="94A3B8"/>
                </a:solidFill>
                <a:latin typeface="Arial" pitchFamily="34" charset="0"/>
                <a:ea typeface="Arial" pitchFamily="34" charset="-122"/>
                <a:cs typeface="Arial" pitchFamily="34" charset="-120"/>
              </a:rPr>
              <a:t>BioDream LLC · github.com/BioDream-LLC/vaglio</a:t>
            </a:r>
            <a:endParaRPr lang="en-US" sz="900" dirty="0"/>
          </a:p>
        </p:txBody>
      </p:sp>
      <p:sp>
        <p:nvSpPr>
          <p:cNvPr id="16" name="Shape 13"/>
          <p:cNvSpPr/>
          <p:nvPr/>
        </p:nvSpPr>
        <p:spPr>
          <a:xfrm>
            <a:off x="8229600" y="822960"/>
            <a:ext cx="3017520" cy="1143000"/>
          </a:xfrm>
          <a:prstGeom prst="roundRect">
            <a:avLst>
              <a:gd name="adj" fmla="val 9600"/>
            </a:avLst>
          </a:prstGeom>
          <a:solidFill>
            <a:srgbClr val="1E293B"/>
          </a:solidFill>
          <a:ln w="12700">
            <a:solidFill>
              <a:srgbClr val="475569"/>
            </a:solidFill>
            <a:prstDash val="solid"/>
          </a:ln>
        </p:spPr>
      </p:sp>
      <p:sp>
        <p:nvSpPr>
          <p:cNvPr id="17" name="Text 14"/>
          <p:cNvSpPr/>
          <p:nvPr/>
        </p:nvSpPr>
        <p:spPr>
          <a:xfrm>
            <a:off x="8412480" y="896112"/>
            <a:ext cx="2743200" cy="1005840"/>
          </a:xfrm>
          <a:prstGeom prst="rect">
            <a:avLst/>
          </a:prstGeom>
          <a:noFill/>
          <a:ln/>
        </p:spPr>
        <p:txBody>
          <a:bodyPr wrap="square" rtlCol="0" anchor="ctr"/>
          <a:lstStyle/>
          <a:p>
            <a:pPr indent="0" marL="0">
              <a:buNone/>
            </a:pPr>
            <a:r>
              <a:rPr lang="en-US" sz="1050" b="1" dirty="0">
                <a:solidFill>
                  <a:srgbClr val="E2E8F0"/>
                </a:solidFill>
                <a:latin typeface="Arial" pitchFamily="34" charset="0"/>
                <a:ea typeface="Arial" pitchFamily="34" charset="-122"/>
                <a:cs typeface="Arial" pitchFamily="34" charset="-120"/>
              </a:rPr>
              <a:t>A request</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MRI of the lower back</a:t>
            </a:r>
            <a:endParaRPr lang="en-US" sz="1050" dirty="0"/>
          </a:p>
          <a:p>
            <a:pPr indent="0" marL="0">
              <a:buNone/>
            </a:pPr>
            <a:r>
              <a:rPr lang="en-US" sz="1050" dirty="0">
                <a:solidFill>
                  <a:srgbClr val="94A3B8"/>
                </a:solidFill>
                <a:latin typeface="Arial" pitchFamily="34" charset="0"/>
                <a:ea typeface="Arial" pitchFamily="34" charset="-122"/>
                <a:cs typeface="Arial" pitchFamily="34" charset="-120"/>
              </a:rPr>
              <a:t>+ the patient's record</a:t>
            </a:r>
            <a:endParaRPr lang="en-US" sz="1050" dirty="0"/>
          </a:p>
        </p:txBody>
      </p:sp>
      <p:sp>
        <p:nvSpPr>
          <p:cNvPr id="18" name="Shape 15"/>
          <p:cNvSpPr/>
          <p:nvPr/>
        </p:nvSpPr>
        <p:spPr>
          <a:xfrm>
            <a:off x="9738360" y="2011680"/>
            <a:ext cx="0" cy="457200"/>
          </a:xfrm>
          <a:prstGeom prst="line">
            <a:avLst/>
          </a:prstGeom>
          <a:noFill/>
          <a:ln w="31750">
            <a:solidFill>
              <a:srgbClr val="A78BFA"/>
            </a:solidFill>
            <a:prstDash val="solid"/>
            <a:tailEnd type="triangle"/>
          </a:ln>
        </p:spPr>
      </p:sp>
      <p:sp>
        <p:nvSpPr>
          <p:cNvPr id="19" name="Shape 16"/>
          <p:cNvSpPr/>
          <p:nvPr/>
        </p:nvSpPr>
        <p:spPr>
          <a:xfrm>
            <a:off x="9429750" y="2697480"/>
            <a:ext cx="164592" cy="164592"/>
          </a:xfrm>
          <a:prstGeom prst="ellipse">
            <a:avLst/>
          </a:prstGeom>
          <a:solidFill>
            <a:srgbClr val="E879F9"/>
          </a:solidFill>
          <a:ln w="12700">
            <a:solidFill>
              <a:srgbClr val="E879F9"/>
            </a:solidFill>
            <a:prstDash val="solid"/>
          </a:ln>
        </p:spPr>
      </p:sp>
      <p:sp>
        <p:nvSpPr>
          <p:cNvPr id="20" name="Shape 17"/>
          <p:cNvSpPr/>
          <p:nvPr/>
        </p:nvSpPr>
        <p:spPr>
          <a:xfrm>
            <a:off x="9686925" y="2594610"/>
            <a:ext cx="164592" cy="164592"/>
          </a:xfrm>
          <a:prstGeom prst="ellipse">
            <a:avLst/>
          </a:prstGeom>
          <a:solidFill>
            <a:srgbClr val="C084FC"/>
          </a:solidFill>
          <a:ln w="12700">
            <a:solidFill>
              <a:srgbClr val="C084FC"/>
            </a:solidFill>
            <a:prstDash val="solid"/>
          </a:ln>
        </p:spPr>
      </p:sp>
      <p:sp>
        <p:nvSpPr>
          <p:cNvPr id="21" name="Shape 18"/>
          <p:cNvSpPr/>
          <p:nvPr/>
        </p:nvSpPr>
        <p:spPr>
          <a:xfrm>
            <a:off x="9944100" y="2738628"/>
            <a:ext cx="164592" cy="164592"/>
          </a:xfrm>
          <a:prstGeom prst="ellipse">
            <a:avLst/>
          </a:prstGeom>
          <a:solidFill>
            <a:srgbClr val="A78BFA"/>
          </a:solidFill>
          <a:ln w="12700">
            <a:solidFill>
              <a:srgbClr val="A78BFA"/>
            </a:solidFill>
            <a:prstDash val="solid"/>
          </a:ln>
        </p:spPr>
      </p:sp>
      <p:sp>
        <p:nvSpPr>
          <p:cNvPr id="22" name="Shape 19"/>
          <p:cNvSpPr/>
          <p:nvPr/>
        </p:nvSpPr>
        <p:spPr>
          <a:xfrm>
            <a:off x="9069705" y="2491740"/>
            <a:ext cx="1337310" cy="1337310"/>
          </a:xfrm>
          <a:prstGeom prst="chord">
            <a:avLst>
              <a:gd name="adj1" fmla="val 0"/>
              <a:gd name="adj2" fmla="val 10800000"/>
            </a:avLst>
          </a:prstGeom>
          <a:solidFill>
            <a:srgbClr val="2E1065"/>
          </a:solidFill>
          <a:ln w="38100">
            <a:solidFill>
              <a:srgbClr val="A855F7"/>
            </a:solidFill>
            <a:prstDash val="solid"/>
          </a:ln>
        </p:spPr>
      </p:sp>
      <p:sp>
        <p:nvSpPr>
          <p:cNvPr id="23" name="Shape 20"/>
          <p:cNvSpPr/>
          <p:nvPr/>
        </p:nvSpPr>
        <p:spPr>
          <a:xfrm>
            <a:off x="9292933" y="3160395"/>
            <a:ext cx="0" cy="164592"/>
          </a:xfrm>
          <a:prstGeom prst="line">
            <a:avLst/>
          </a:prstGeom>
          <a:noFill/>
          <a:ln w="12700">
            <a:solidFill>
              <a:srgbClr val="A78BFA"/>
            </a:solidFill>
            <a:prstDash val="solid"/>
          </a:ln>
        </p:spPr>
      </p:sp>
      <p:sp>
        <p:nvSpPr>
          <p:cNvPr id="24" name="Shape 21"/>
          <p:cNvSpPr/>
          <p:nvPr/>
        </p:nvSpPr>
        <p:spPr>
          <a:xfrm>
            <a:off x="9516161" y="3160395"/>
            <a:ext cx="0" cy="246888"/>
          </a:xfrm>
          <a:prstGeom prst="line">
            <a:avLst/>
          </a:prstGeom>
          <a:noFill/>
          <a:ln w="12700">
            <a:solidFill>
              <a:srgbClr val="A78BFA"/>
            </a:solidFill>
            <a:prstDash val="solid"/>
          </a:ln>
        </p:spPr>
      </p:sp>
      <p:sp>
        <p:nvSpPr>
          <p:cNvPr id="25" name="Shape 22"/>
          <p:cNvSpPr/>
          <p:nvPr/>
        </p:nvSpPr>
        <p:spPr>
          <a:xfrm>
            <a:off x="9739389" y="3160395"/>
            <a:ext cx="0" cy="329184"/>
          </a:xfrm>
          <a:prstGeom prst="line">
            <a:avLst/>
          </a:prstGeom>
          <a:noFill/>
          <a:ln w="12700">
            <a:solidFill>
              <a:srgbClr val="A78BFA"/>
            </a:solidFill>
            <a:prstDash val="solid"/>
          </a:ln>
        </p:spPr>
      </p:sp>
      <p:sp>
        <p:nvSpPr>
          <p:cNvPr id="26" name="Shape 23"/>
          <p:cNvSpPr/>
          <p:nvPr/>
        </p:nvSpPr>
        <p:spPr>
          <a:xfrm>
            <a:off x="9962617" y="3160395"/>
            <a:ext cx="0" cy="246888"/>
          </a:xfrm>
          <a:prstGeom prst="line">
            <a:avLst/>
          </a:prstGeom>
          <a:noFill/>
          <a:ln w="12700">
            <a:solidFill>
              <a:srgbClr val="A78BFA"/>
            </a:solidFill>
            <a:prstDash val="solid"/>
          </a:ln>
        </p:spPr>
      </p:sp>
      <p:sp>
        <p:nvSpPr>
          <p:cNvPr id="27" name="Shape 24"/>
          <p:cNvSpPr/>
          <p:nvPr/>
        </p:nvSpPr>
        <p:spPr>
          <a:xfrm>
            <a:off x="10185845" y="3160395"/>
            <a:ext cx="0" cy="164592"/>
          </a:xfrm>
          <a:prstGeom prst="line">
            <a:avLst/>
          </a:prstGeom>
          <a:noFill/>
          <a:ln w="12700">
            <a:solidFill>
              <a:srgbClr val="A78BFA"/>
            </a:solidFill>
            <a:prstDash val="solid"/>
          </a:ln>
        </p:spPr>
      </p:sp>
      <p:sp>
        <p:nvSpPr>
          <p:cNvPr id="28" name="Shape 25"/>
          <p:cNvSpPr/>
          <p:nvPr/>
        </p:nvSpPr>
        <p:spPr>
          <a:xfrm>
            <a:off x="8966835" y="3160395"/>
            <a:ext cx="1543050" cy="0"/>
          </a:xfrm>
          <a:prstGeom prst="line">
            <a:avLst/>
          </a:prstGeom>
          <a:noFill/>
          <a:ln w="50800">
            <a:solidFill>
              <a:srgbClr val="C084FC"/>
            </a:solidFill>
            <a:prstDash val="solid"/>
          </a:ln>
        </p:spPr>
      </p:sp>
      <p:sp>
        <p:nvSpPr>
          <p:cNvPr id="29" name="Shape 26"/>
          <p:cNvSpPr/>
          <p:nvPr/>
        </p:nvSpPr>
        <p:spPr>
          <a:xfrm>
            <a:off x="9553194" y="3931920"/>
            <a:ext cx="144018" cy="144018"/>
          </a:xfrm>
          <a:prstGeom prst="line">
            <a:avLst/>
          </a:prstGeom>
          <a:noFill/>
          <a:ln w="63500">
            <a:solidFill>
              <a:srgbClr val="34D399"/>
            </a:solidFill>
            <a:prstDash val="solid"/>
          </a:ln>
        </p:spPr>
      </p:sp>
      <p:sp>
        <p:nvSpPr>
          <p:cNvPr id="30" name="Shape 27"/>
          <p:cNvSpPr/>
          <p:nvPr/>
        </p:nvSpPr>
        <p:spPr>
          <a:xfrm flipV="1">
            <a:off x="9697212" y="3767328"/>
            <a:ext cx="288036" cy="308610"/>
          </a:xfrm>
          <a:prstGeom prst="line">
            <a:avLst/>
          </a:prstGeom>
          <a:noFill/>
          <a:ln w="63500">
            <a:solidFill>
              <a:srgbClr val="34D399"/>
            </a:solidFill>
            <a:prstDash val="solid"/>
          </a:ln>
        </p:spPr>
      </p:sp>
      <p:sp>
        <p:nvSpPr>
          <p:cNvPr id="31" name="Shape 28"/>
          <p:cNvSpPr/>
          <p:nvPr/>
        </p:nvSpPr>
        <p:spPr>
          <a:xfrm>
            <a:off x="9738360" y="4343400"/>
            <a:ext cx="0" cy="411480"/>
          </a:xfrm>
          <a:prstGeom prst="line">
            <a:avLst/>
          </a:prstGeom>
          <a:noFill/>
          <a:ln w="31750">
            <a:solidFill>
              <a:srgbClr val="34D399"/>
            </a:solidFill>
            <a:prstDash val="solid"/>
            <a:tailEnd type="triangle"/>
          </a:ln>
        </p:spPr>
      </p:sp>
      <p:sp>
        <p:nvSpPr>
          <p:cNvPr id="32" name="Shape 29"/>
          <p:cNvSpPr/>
          <p:nvPr/>
        </p:nvSpPr>
        <p:spPr>
          <a:xfrm>
            <a:off x="8229600" y="4800600"/>
            <a:ext cx="3017520" cy="1188720"/>
          </a:xfrm>
          <a:prstGeom prst="roundRect">
            <a:avLst>
              <a:gd name="adj" fmla="val 9231"/>
            </a:avLst>
          </a:prstGeom>
          <a:solidFill>
            <a:srgbClr val="052E2B"/>
          </a:solidFill>
          <a:ln w="12700">
            <a:solidFill>
              <a:srgbClr val="34D399"/>
            </a:solidFill>
            <a:prstDash val="solid"/>
          </a:ln>
        </p:spPr>
      </p:sp>
      <p:sp>
        <p:nvSpPr>
          <p:cNvPr id="33" name="Text 30"/>
          <p:cNvSpPr/>
          <p:nvPr/>
        </p:nvSpPr>
        <p:spPr>
          <a:xfrm>
            <a:off x="8412480" y="4864608"/>
            <a:ext cx="2743200" cy="1051560"/>
          </a:xfrm>
          <a:prstGeom prst="rect">
            <a:avLst/>
          </a:prstGeom>
          <a:noFill/>
          <a:ln/>
        </p:spPr>
        <p:txBody>
          <a:bodyPr wrap="square" rtlCol="0" anchor="ctr"/>
          <a:lstStyle/>
          <a:p>
            <a:pPr indent="0" marL="0">
              <a:buNone/>
            </a:pPr>
            <a:r>
              <a:rPr lang="en-US" sz="1050" b="1" dirty="0">
                <a:solidFill>
                  <a:srgbClr val="6EE7B7"/>
                </a:solidFill>
                <a:latin typeface="Arial" pitchFamily="34" charset="0"/>
                <a:ea typeface="Arial" pitchFamily="34" charset="-122"/>
                <a:cs typeface="Arial" pitchFamily="34" charset="-120"/>
              </a:rPr>
              <a:t>An answer, with its proof</a:t>
            </a:r>
            <a:endParaRPr lang="en-US" sz="1050" dirty="0"/>
          </a:p>
          <a:p>
            <a:pPr indent="0" marL="0">
              <a:buNone/>
            </a:pPr>
            <a:r>
              <a:rPr lang="en-US" sz="1050" dirty="0">
                <a:solidFill>
                  <a:srgbClr val="A7F3D0"/>
                </a:solidFill>
                <a:latin typeface="Arial" pitchFamily="34" charset="0"/>
                <a:ea typeface="Arial" pitchFamily="34" charset="-122"/>
                <a:cs typeface="Arial" pitchFamily="34" charset="-120"/>
              </a:rPr>
              <a:t>each step quotes the plan's rule</a:t>
            </a:r>
            <a:endParaRPr lang="en-US" sz="1050" dirty="0"/>
          </a:p>
          <a:p>
            <a:pPr indent="0" marL="0">
              <a:buNone/>
            </a:pPr>
            <a:r>
              <a:rPr lang="en-US" sz="1050" dirty="0">
                <a:solidFill>
                  <a:srgbClr val="A7F3D0"/>
                </a:solidFill>
                <a:latin typeface="Arial" pitchFamily="34" charset="0"/>
                <a:ea typeface="Arial" pitchFamily="34" charset="-122"/>
                <a:cs typeface="Arial" pitchFamily="34" charset="-120"/>
              </a:rPr>
              <a:t>and points to the record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THE BACKGROUND</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What is prior authorization?</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Before some tests, surgeries and drugs, a doctor must ask the patient's health plan whether it will pay.</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2 / 18</a:t>
            </a:r>
            <a:endParaRPr lang="en-US" sz="800" dirty="0"/>
          </a:p>
        </p:txBody>
      </p:sp>
      <p:sp>
        <p:nvSpPr>
          <p:cNvPr id="11" name="Shape 8"/>
          <p:cNvSpPr/>
          <p:nvPr/>
        </p:nvSpPr>
        <p:spPr>
          <a:xfrm>
            <a:off x="548640" y="1737360"/>
            <a:ext cx="2377440" cy="1325880"/>
          </a:xfrm>
          <a:prstGeom prst="roundRect">
            <a:avLst>
              <a:gd name="adj" fmla="val 8276"/>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2" name="Shape 9"/>
          <p:cNvSpPr/>
          <p:nvPr/>
        </p:nvSpPr>
        <p:spPr>
          <a:xfrm>
            <a:off x="658368" y="1901952"/>
            <a:ext cx="54864" cy="996696"/>
          </a:xfrm>
          <a:prstGeom prst="rect">
            <a:avLst/>
          </a:prstGeom>
          <a:solidFill>
            <a:srgbClr val="2563EB"/>
          </a:solidFill>
          <a:ln w="12700">
            <a:solidFill>
              <a:srgbClr val="2563EB"/>
            </a:solidFill>
            <a:prstDash val="solid"/>
          </a:ln>
        </p:spPr>
      </p:sp>
      <p:sp>
        <p:nvSpPr>
          <p:cNvPr id="13" name="Text 10"/>
          <p:cNvSpPr/>
          <p:nvPr/>
        </p:nvSpPr>
        <p:spPr>
          <a:xfrm>
            <a:off x="822960" y="1865376"/>
            <a:ext cx="1938528" cy="347472"/>
          </a:xfrm>
          <a:prstGeom prst="rect">
            <a:avLst/>
          </a:prstGeom>
          <a:noFill/>
          <a:ln/>
        </p:spPr>
        <p:txBody>
          <a:bodyPr wrap="square" rtlCol="0" anchor="t"/>
          <a:lstStyle/>
          <a:p>
            <a:pPr indent="0" marL="0">
              <a:buNone/>
            </a:pPr>
            <a:r>
              <a:rPr lang="en-US" sz="1300" b="1" dirty="0">
                <a:solidFill>
                  <a:srgbClr val="0F172A"/>
                </a:solidFill>
                <a:latin typeface="Arial" pitchFamily="34" charset="0"/>
                <a:ea typeface="Arial" pitchFamily="34" charset="-122"/>
                <a:cs typeface="Arial" pitchFamily="34" charset="-120"/>
              </a:rPr>
              <a:t>The doctor</a:t>
            </a:r>
            <a:endParaRPr lang="en-US" sz="1300" dirty="0"/>
          </a:p>
        </p:txBody>
      </p:sp>
      <p:sp>
        <p:nvSpPr>
          <p:cNvPr id="14" name="Text 11"/>
          <p:cNvSpPr/>
          <p:nvPr/>
        </p:nvSpPr>
        <p:spPr>
          <a:xfrm>
            <a:off x="822960" y="2231136"/>
            <a:ext cx="1938528" cy="74066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wants to order an MRI of the lower back for a patient with back pain.</a:t>
            </a:r>
            <a:endParaRPr lang="en-US" sz="1050" dirty="0"/>
          </a:p>
        </p:txBody>
      </p:sp>
      <p:sp>
        <p:nvSpPr>
          <p:cNvPr id="15" name="Shape 12"/>
          <p:cNvSpPr/>
          <p:nvPr/>
        </p:nvSpPr>
        <p:spPr>
          <a:xfrm>
            <a:off x="2971800" y="2514600"/>
            <a:ext cx="914400" cy="0"/>
          </a:xfrm>
          <a:prstGeom prst="line">
            <a:avLst/>
          </a:prstGeom>
          <a:noFill/>
          <a:ln w="31750">
            <a:solidFill>
              <a:srgbClr val="7C3AED"/>
            </a:solidFill>
            <a:prstDash val="solid"/>
            <a:tailEnd type="triangle"/>
          </a:ln>
        </p:spPr>
      </p:sp>
      <p:sp>
        <p:nvSpPr>
          <p:cNvPr id="16" name="Text 13"/>
          <p:cNvSpPr/>
          <p:nvPr/>
        </p:nvSpPr>
        <p:spPr>
          <a:xfrm>
            <a:off x="2743200" y="1737360"/>
            <a:ext cx="1417320" cy="548640"/>
          </a:xfrm>
          <a:prstGeom prst="rect">
            <a:avLst/>
          </a:prstGeom>
          <a:noFill/>
          <a:ln/>
        </p:spPr>
        <p:txBody>
          <a:bodyPr wrap="square" rtlCol="0" anchor="ctr"/>
          <a:lstStyle/>
          <a:p>
            <a:pPr algn="ctr" indent="0" marL="0">
              <a:buNone/>
            </a:pPr>
            <a:r>
              <a:rPr lang="en-US" sz="900" i="1" dirty="0">
                <a:solidFill>
                  <a:srgbClr val="7C3AED"/>
                </a:solidFill>
                <a:latin typeface="Arial" pitchFamily="34" charset="0"/>
                <a:ea typeface="Arial" pitchFamily="34" charset="-122"/>
                <a:cs typeface="Arial" pitchFamily="34" charset="-120"/>
              </a:rPr>
              <a:t>“May we do this?”</a:t>
            </a:r>
            <a:endParaRPr lang="en-US" sz="900" dirty="0"/>
          </a:p>
          <a:p>
            <a:pPr algn="ctr" indent="0" marL="0">
              <a:buNone/>
            </a:pPr>
            <a:r>
              <a:rPr lang="en-US" sz="900" i="1" dirty="0">
                <a:solidFill>
                  <a:srgbClr val="7C3AED"/>
                </a:solidFill>
                <a:latin typeface="Arial" pitchFamily="34" charset="0"/>
                <a:ea typeface="Arial" pitchFamily="34" charset="-122"/>
                <a:cs typeface="Arial" pitchFamily="34" charset="-120"/>
              </a:rPr>
              <a:t>+ the medical record</a:t>
            </a:r>
            <a:endParaRPr lang="en-US" sz="900" dirty="0"/>
          </a:p>
        </p:txBody>
      </p:sp>
      <p:sp>
        <p:nvSpPr>
          <p:cNvPr id="17" name="Shape 14"/>
          <p:cNvSpPr/>
          <p:nvPr/>
        </p:nvSpPr>
        <p:spPr>
          <a:xfrm>
            <a:off x="3931920" y="1737360"/>
            <a:ext cx="2560320" cy="1325880"/>
          </a:xfrm>
          <a:prstGeom prst="roundRect">
            <a:avLst>
              <a:gd name="adj" fmla="val 8276"/>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8" name="Shape 15"/>
          <p:cNvSpPr/>
          <p:nvPr/>
        </p:nvSpPr>
        <p:spPr>
          <a:xfrm>
            <a:off x="4041648" y="1901952"/>
            <a:ext cx="54864" cy="996696"/>
          </a:xfrm>
          <a:prstGeom prst="rect">
            <a:avLst/>
          </a:prstGeom>
          <a:solidFill>
            <a:srgbClr val="7C3AED"/>
          </a:solidFill>
          <a:ln w="12700">
            <a:solidFill>
              <a:srgbClr val="7C3AED"/>
            </a:solidFill>
            <a:prstDash val="solid"/>
          </a:ln>
        </p:spPr>
      </p:sp>
      <p:sp>
        <p:nvSpPr>
          <p:cNvPr id="19" name="Text 16"/>
          <p:cNvSpPr/>
          <p:nvPr/>
        </p:nvSpPr>
        <p:spPr>
          <a:xfrm>
            <a:off x="4206240" y="1865376"/>
            <a:ext cx="2121408" cy="347472"/>
          </a:xfrm>
          <a:prstGeom prst="rect">
            <a:avLst/>
          </a:prstGeom>
          <a:noFill/>
          <a:ln/>
        </p:spPr>
        <p:txBody>
          <a:bodyPr wrap="square" rtlCol="0" anchor="t"/>
          <a:lstStyle/>
          <a:p>
            <a:pPr indent="0" marL="0">
              <a:buNone/>
            </a:pPr>
            <a:r>
              <a:rPr lang="en-US" sz="1300" b="1" dirty="0">
                <a:solidFill>
                  <a:srgbClr val="0F172A"/>
                </a:solidFill>
                <a:latin typeface="Arial" pitchFamily="34" charset="0"/>
                <a:ea typeface="Arial" pitchFamily="34" charset="-122"/>
                <a:cs typeface="Arial" pitchFamily="34" charset="-120"/>
              </a:rPr>
              <a:t>The health plan</a:t>
            </a:r>
            <a:endParaRPr lang="en-US" sz="1300" dirty="0"/>
          </a:p>
        </p:txBody>
      </p:sp>
      <p:sp>
        <p:nvSpPr>
          <p:cNvPr id="20" name="Text 17"/>
          <p:cNvSpPr/>
          <p:nvPr/>
        </p:nvSpPr>
        <p:spPr>
          <a:xfrm>
            <a:off x="4206240" y="2231136"/>
            <a:ext cx="2121408" cy="74066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checks the request against its written coverage rules, called policies.</a:t>
            </a:r>
            <a:endParaRPr lang="en-US" sz="1050" dirty="0"/>
          </a:p>
        </p:txBody>
      </p:sp>
      <p:sp>
        <p:nvSpPr>
          <p:cNvPr id="21" name="Shape 18"/>
          <p:cNvSpPr/>
          <p:nvPr/>
        </p:nvSpPr>
        <p:spPr>
          <a:xfrm flipV="1">
            <a:off x="6537960" y="1801368"/>
            <a:ext cx="685800" cy="594360"/>
          </a:xfrm>
          <a:prstGeom prst="line">
            <a:avLst/>
          </a:prstGeom>
          <a:noFill/>
          <a:ln w="25400">
            <a:solidFill>
              <a:srgbClr val="059669"/>
            </a:solidFill>
            <a:prstDash val="solid"/>
            <a:tailEnd type="triangle"/>
          </a:ln>
        </p:spPr>
      </p:sp>
      <p:sp>
        <p:nvSpPr>
          <p:cNvPr id="22" name="Shape 19"/>
          <p:cNvSpPr/>
          <p:nvPr/>
        </p:nvSpPr>
        <p:spPr>
          <a:xfrm>
            <a:off x="7269480" y="1600200"/>
            <a:ext cx="2377440" cy="420624"/>
          </a:xfrm>
          <a:prstGeom prst="roundRect">
            <a:avLst>
              <a:gd name="adj" fmla="val 21739"/>
            </a:avLst>
          </a:prstGeom>
          <a:solidFill>
            <a:srgbClr val="D1FAE5"/>
          </a:solidFill>
          <a:ln w="12700">
            <a:solidFill>
              <a:srgbClr val="059669"/>
            </a:solidFill>
            <a:prstDash val="solid"/>
          </a:ln>
        </p:spPr>
      </p:sp>
      <p:sp>
        <p:nvSpPr>
          <p:cNvPr id="23" name="Shape 20"/>
          <p:cNvSpPr/>
          <p:nvPr/>
        </p:nvSpPr>
        <p:spPr>
          <a:xfrm>
            <a:off x="7342632" y="1655064"/>
            <a:ext cx="310896" cy="310896"/>
          </a:xfrm>
          <a:prstGeom prst="ellipse">
            <a:avLst/>
          </a:prstGeom>
          <a:solidFill>
            <a:srgbClr val="059669"/>
          </a:solidFill>
          <a:ln w="12700">
            <a:solidFill>
              <a:srgbClr val="059669"/>
            </a:solidFill>
            <a:prstDash val="solid"/>
          </a:ln>
        </p:spPr>
      </p:sp>
      <p:sp>
        <p:nvSpPr>
          <p:cNvPr id="24" name="Text 21"/>
          <p:cNvSpPr/>
          <p:nvPr/>
        </p:nvSpPr>
        <p:spPr>
          <a:xfrm>
            <a:off x="7342632" y="1655064"/>
            <a:ext cx="310896" cy="310896"/>
          </a:xfrm>
          <a:prstGeom prst="rect">
            <a:avLst/>
          </a:prstGeom>
          <a:noFill/>
          <a:ln/>
        </p:spPr>
        <p:txBody>
          <a:bodyPr wrap="square"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a:t>
            </a:r>
            <a:endParaRPr lang="en-US" sz="1020" dirty="0"/>
          </a:p>
        </p:txBody>
      </p:sp>
      <p:sp>
        <p:nvSpPr>
          <p:cNvPr id="25" name="Text 22"/>
          <p:cNvSpPr/>
          <p:nvPr/>
        </p:nvSpPr>
        <p:spPr>
          <a:xfrm>
            <a:off x="7726680" y="1600200"/>
            <a:ext cx="1874520" cy="420624"/>
          </a:xfrm>
          <a:prstGeom prst="rect">
            <a:avLst/>
          </a:prstGeom>
          <a:noFill/>
          <a:ln/>
        </p:spPr>
        <p:txBody>
          <a:bodyPr wrap="square" rtlCol="0" anchor="ctr"/>
          <a:lstStyle/>
          <a:p>
            <a:pPr indent="0" marL="0">
              <a:buNone/>
            </a:pPr>
            <a:r>
              <a:rPr lang="en-US" sz="1100" b="1" dirty="0">
                <a:solidFill>
                  <a:srgbClr val="059669"/>
                </a:solidFill>
                <a:latin typeface="Arial" pitchFamily="34" charset="0"/>
                <a:ea typeface="Arial" pitchFamily="34" charset="-122"/>
                <a:cs typeface="Arial" pitchFamily="34" charset="-120"/>
              </a:rPr>
              <a:t>Yes: approved</a:t>
            </a:r>
            <a:endParaRPr lang="en-US" sz="1100" dirty="0"/>
          </a:p>
        </p:txBody>
      </p:sp>
      <p:sp>
        <p:nvSpPr>
          <p:cNvPr id="26" name="Shape 23"/>
          <p:cNvSpPr/>
          <p:nvPr/>
        </p:nvSpPr>
        <p:spPr>
          <a:xfrm flipV="1">
            <a:off x="6537960" y="2350008"/>
            <a:ext cx="685800" cy="45720"/>
          </a:xfrm>
          <a:prstGeom prst="line">
            <a:avLst/>
          </a:prstGeom>
          <a:noFill/>
          <a:ln w="25400">
            <a:solidFill>
              <a:srgbClr val="DC2626"/>
            </a:solidFill>
            <a:prstDash val="solid"/>
            <a:tailEnd type="triangle"/>
          </a:ln>
        </p:spPr>
      </p:sp>
      <p:sp>
        <p:nvSpPr>
          <p:cNvPr id="27" name="Shape 24"/>
          <p:cNvSpPr/>
          <p:nvPr/>
        </p:nvSpPr>
        <p:spPr>
          <a:xfrm>
            <a:off x="7269480" y="2148840"/>
            <a:ext cx="2377440" cy="420624"/>
          </a:xfrm>
          <a:prstGeom prst="roundRect">
            <a:avLst>
              <a:gd name="adj" fmla="val 21739"/>
            </a:avLst>
          </a:prstGeom>
          <a:solidFill>
            <a:srgbClr val="FEE2E2"/>
          </a:solidFill>
          <a:ln w="12700">
            <a:solidFill>
              <a:srgbClr val="DC2626"/>
            </a:solidFill>
            <a:prstDash val="solid"/>
          </a:ln>
        </p:spPr>
      </p:sp>
      <p:sp>
        <p:nvSpPr>
          <p:cNvPr id="28" name="Shape 25"/>
          <p:cNvSpPr/>
          <p:nvPr/>
        </p:nvSpPr>
        <p:spPr>
          <a:xfrm>
            <a:off x="7342632" y="2203704"/>
            <a:ext cx="310896" cy="310896"/>
          </a:xfrm>
          <a:prstGeom prst="ellipse">
            <a:avLst/>
          </a:prstGeom>
          <a:solidFill>
            <a:srgbClr val="DC2626"/>
          </a:solidFill>
          <a:ln w="12700">
            <a:solidFill>
              <a:srgbClr val="DC2626"/>
            </a:solidFill>
            <a:prstDash val="solid"/>
          </a:ln>
        </p:spPr>
      </p:sp>
      <p:sp>
        <p:nvSpPr>
          <p:cNvPr id="29" name="Text 26"/>
          <p:cNvSpPr/>
          <p:nvPr/>
        </p:nvSpPr>
        <p:spPr>
          <a:xfrm>
            <a:off x="7342632" y="2203704"/>
            <a:ext cx="310896" cy="310896"/>
          </a:xfrm>
          <a:prstGeom prst="rect">
            <a:avLst/>
          </a:prstGeom>
          <a:noFill/>
          <a:ln/>
        </p:spPr>
        <p:txBody>
          <a:bodyPr wrap="square" rtlCol="0" anchor="ctr"/>
          <a:lstStyle/>
          <a:p>
            <a:pPr algn="ctr" indent="0" marL="0">
              <a:buNone/>
            </a:pPr>
            <a:r>
              <a:rPr lang="en-US" sz="1156" b="1" dirty="0">
                <a:solidFill>
                  <a:srgbClr val="FFFFFF"/>
                </a:solidFill>
                <a:latin typeface="Arial" pitchFamily="34" charset="0"/>
                <a:ea typeface="Arial" pitchFamily="34" charset="-122"/>
                <a:cs typeface="Arial" pitchFamily="34" charset="-120"/>
              </a:rPr>
              <a:t>×</a:t>
            </a:r>
            <a:endParaRPr lang="en-US" sz="1156" dirty="0"/>
          </a:p>
        </p:txBody>
      </p:sp>
      <p:sp>
        <p:nvSpPr>
          <p:cNvPr id="30" name="Text 27"/>
          <p:cNvSpPr/>
          <p:nvPr/>
        </p:nvSpPr>
        <p:spPr>
          <a:xfrm>
            <a:off x="7726680" y="2148840"/>
            <a:ext cx="1874520" cy="420624"/>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No: denied</a:t>
            </a:r>
            <a:endParaRPr lang="en-US" sz="1100" dirty="0"/>
          </a:p>
        </p:txBody>
      </p:sp>
      <p:sp>
        <p:nvSpPr>
          <p:cNvPr id="31" name="Shape 28"/>
          <p:cNvSpPr/>
          <p:nvPr/>
        </p:nvSpPr>
        <p:spPr>
          <a:xfrm>
            <a:off x="6537960" y="2395728"/>
            <a:ext cx="685800" cy="502920"/>
          </a:xfrm>
          <a:prstGeom prst="line">
            <a:avLst/>
          </a:prstGeom>
          <a:noFill/>
          <a:ln w="25400">
            <a:solidFill>
              <a:srgbClr val="D97706"/>
            </a:solidFill>
            <a:prstDash val="solid"/>
            <a:tailEnd type="triangle"/>
          </a:ln>
        </p:spPr>
      </p:sp>
      <p:sp>
        <p:nvSpPr>
          <p:cNvPr id="32" name="Shape 29"/>
          <p:cNvSpPr/>
          <p:nvPr/>
        </p:nvSpPr>
        <p:spPr>
          <a:xfrm>
            <a:off x="7269480" y="2697480"/>
            <a:ext cx="2377440" cy="420624"/>
          </a:xfrm>
          <a:prstGeom prst="roundRect">
            <a:avLst>
              <a:gd name="adj" fmla="val 21739"/>
            </a:avLst>
          </a:prstGeom>
          <a:solidFill>
            <a:srgbClr val="FEF3C7"/>
          </a:solidFill>
          <a:ln w="12700">
            <a:solidFill>
              <a:srgbClr val="D97706"/>
            </a:solidFill>
            <a:prstDash val="solid"/>
          </a:ln>
        </p:spPr>
      </p:sp>
      <p:sp>
        <p:nvSpPr>
          <p:cNvPr id="33" name="Shape 30"/>
          <p:cNvSpPr/>
          <p:nvPr/>
        </p:nvSpPr>
        <p:spPr>
          <a:xfrm>
            <a:off x="7342632" y="2752344"/>
            <a:ext cx="310896" cy="310896"/>
          </a:xfrm>
          <a:prstGeom prst="ellipse">
            <a:avLst/>
          </a:prstGeom>
          <a:solidFill>
            <a:srgbClr val="D97706"/>
          </a:solidFill>
          <a:ln w="12700">
            <a:solidFill>
              <a:srgbClr val="D97706"/>
            </a:solidFill>
            <a:prstDash val="solid"/>
          </a:ln>
        </p:spPr>
      </p:sp>
      <p:sp>
        <p:nvSpPr>
          <p:cNvPr id="34" name="Text 31"/>
          <p:cNvSpPr/>
          <p:nvPr/>
        </p:nvSpPr>
        <p:spPr>
          <a:xfrm>
            <a:off x="7342632" y="2752344"/>
            <a:ext cx="310896" cy="310896"/>
          </a:xfrm>
          <a:prstGeom prst="rect">
            <a:avLst/>
          </a:prstGeom>
          <a:noFill/>
          <a:ln/>
        </p:spPr>
        <p:txBody>
          <a:bodyPr wrap="square" rtlCol="0" anchor="ctr"/>
          <a:lstStyle/>
          <a:p>
            <a:pPr algn="ctr" indent="0" marL="0">
              <a:buNone/>
            </a:pPr>
            <a:r>
              <a:rPr lang="en-US" sz="1020" b="1" dirty="0">
                <a:solidFill>
                  <a:srgbClr val="FFFFFF"/>
                </a:solidFill>
                <a:latin typeface="Arial" pitchFamily="34" charset="0"/>
                <a:ea typeface="Arial" pitchFamily="34" charset="-122"/>
                <a:cs typeface="Arial" pitchFamily="34" charset="-120"/>
              </a:rPr>
              <a:t>?</a:t>
            </a:r>
            <a:endParaRPr lang="en-US" sz="1020" dirty="0"/>
          </a:p>
        </p:txBody>
      </p:sp>
      <p:sp>
        <p:nvSpPr>
          <p:cNvPr id="35" name="Text 32"/>
          <p:cNvSpPr/>
          <p:nvPr/>
        </p:nvSpPr>
        <p:spPr>
          <a:xfrm>
            <a:off x="7726680" y="2697480"/>
            <a:ext cx="1874520" cy="420624"/>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Send more information</a:t>
            </a:r>
            <a:endParaRPr lang="en-US" sz="1100" dirty="0"/>
          </a:p>
        </p:txBody>
      </p:sp>
      <p:sp>
        <p:nvSpPr>
          <p:cNvPr id="36" name="Shape 33"/>
          <p:cNvSpPr/>
          <p:nvPr/>
        </p:nvSpPr>
        <p:spPr>
          <a:xfrm>
            <a:off x="10314432" y="1737360"/>
            <a:ext cx="237744" cy="237744"/>
          </a:xfrm>
          <a:prstGeom prst="ellipse">
            <a:avLst/>
          </a:prstGeom>
          <a:solidFill>
            <a:srgbClr val="475569"/>
          </a:solidFill>
          <a:ln w="12700">
            <a:solidFill>
              <a:srgbClr val="475569"/>
            </a:solidFill>
            <a:prstDash val="solid"/>
          </a:ln>
        </p:spPr>
      </p:sp>
      <p:sp>
        <p:nvSpPr>
          <p:cNvPr id="37" name="Shape 34"/>
          <p:cNvSpPr/>
          <p:nvPr/>
        </p:nvSpPr>
        <p:spPr>
          <a:xfrm>
            <a:off x="10195560" y="1993392"/>
            <a:ext cx="475488" cy="457200"/>
          </a:xfrm>
          <a:prstGeom prst="chord">
            <a:avLst>
              <a:gd name="adj1" fmla="val 10800000"/>
              <a:gd name="adj2" fmla="val 0"/>
            </a:avLst>
          </a:prstGeom>
          <a:solidFill>
            <a:srgbClr val="475569"/>
          </a:solidFill>
          <a:ln w="12700">
            <a:solidFill>
              <a:srgbClr val="475569"/>
            </a:solidFill>
            <a:prstDash val="solid"/>
          </a:ln>
        </p:spPr>
      </p:sp>
      <p:sp>
        <p:nvSpPr>
          <p:cNvPr id="38" name="Shape 35"/>
          <p:cNvSpPr/>
          <p:nvPr/>
        </p:nvSpPr>
        <p:spPr>
          <a:xfrm>
            <a:off x="10881360" y="1920240"/>
            <a:ext cx="475488" cy="475488"/>
          </a:xfrm>
          <a:prstGeom prst="ellipse">
            <a:avLst/>
          </a:prstGeom>
          <a:solidFill>
            <a:srgbClr val="FFFFFF"/>
          </a:solidFill>
          <a:ln w="22860">
            <a:solidFill>
              <a:srgbClr val="D97706"/>
            </a:solidFill>
            <a:prstDash val="solid"/>
          </a:ln>
        </p:spPr>
      </p:sp>
      <p:sp>
        <p:nvSpPr>
          <p:cNvPr id="39" name="Shape 36"/>
          <p:cNvSpPr/>
          <p:nvPr/>
        </p:nvSpPr>
        <p:spPr>
          <a:xfrm>
            <a:off x="11119104" y="2011680"/>
            <a:ext cx="0" cy="146304"/>
          </a:xfrm>
          <a:prstGeom prst="line">
            <a:avLst/>
          </a:prstGeom>
          <a:noFill/>
          <a:ln w="22860">
            <a:solidFill>
              <a:srgbClr val="D97706"/>
            </a:solidFill>
            <a:prstDash val="solid"/>
          </a:ln>
        </p:spPr>
      </p:sp>
      <p:sp>
        <p:nvSpPr>
          <p:cNvPr id="40" name="Shape 37"/>
          <p:cNvSpPr/>
          <p:nvPr/>
        </p:nvSpPr>
        <p:spPr>
          <a:xfrm>
            <a:off x="11119104" y="2157984"/>
            <a:ext cx="118872" cy="73152"/>
          </a:xfrm>
          <a:prstGeom prst="line">
            <a:avLst/>
          </a:prstGeom>
          <a:noFill/>
          <a:ln w="22860">
            <a:solidFill>
              <a:srgbClr val="D97706"/>
            </a:solidFill>
            <a:prstDash val="solid"/>
          </a:ln>
        </p:spPr>
      </p:sp>
      <p:sp>
        <p:nvSpPr>
          <p:cNvPr id="41" name="Text 38"/>
          <p:cNvSpPr/>
          <p:nvPr/>
        </p:nvSpPr>
        <p:spPr>
          <a:xfrm>
            <a:off x="9921240" y="2514600"/>
            <a:ext cx="1828800" cy="548640"/>
          </a:xfrm>
          <a:prstGeom prst="rect">
            <a:avLst/>
          </a:prstGeom>
          <a:noFill/>
          <a:ln/>
        </p:spPr>
        <p:txBody>
          <a:bodyPr wrap="square" rtlCol="0" anchor="ctr"/>
          <a:lstStyle/>
          <a:p>
            <a:pPr algn="ctr" indent="0" marL="0">
              <a:buNone/>
            </a:pPr>
            <a:r>
              <a:rPr lang="en-US" sz="950" dirty="0">
                <a:solidFill>
                  <a:srgbClr val="475569"/>
                </a:solidFill>
                <a:latin typeface="Arial" pitchFamily="34" charset="0"/>
                <a:ea typeface="Arial" pitchFamily="34" charset="-122"/>
                <a:cs typeface="Arial" pitchFamily="34" charset="-120"/>
              </a:rPr>
              <a:t>Until the answer comes, the patient waits.</a:t>
            </a:r>
            <a:endParaRPr lang="en-US" sz="950" dirty="0"/>
          </a:p>
        </p:txBody>
      </p:sp>
      <p:sp>
        <p:nvSpPr>
          <p:cNvPr id="42" name="Shape 39"/>
          <p:cNvSpPr/>
          <p:nvPr/>
        </p:nvSpPr>
        <p:spPr>
          <a:xfrm>
            <a:off x="548640" y="3429000"/>
            <a:ext cx="5486400" cy="2331720"/>
          </a:xfrm>
          <a:prstGeom prst="roundRect">
            <a:avLst>
              <a:gd name="adj" fmla="val 4706"/>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3" name="Shape 40"/>
          <p:cNvSpPr/>
          <p:nvPr/>
        </p:nvSpPr>
        <p:spPr>
          <a:xfrm>
            <a:off x="658368" y="3593592"/>
            <a:ext cx="54864" cy="2002536"/>
          </a:xfrm>
          <a:prstGeom prst="rect">
            <a:avLst/>
          </a:prstGeom>
          <a:solidFill>
            <a:srgbClr val="7C3AED"/>
          </a:solidFill>
          <a:ln w="12700">
            <a:solidFill>
              <a:srgbClr val="7C3AED"/>
            </a:solidFill>
            <a:prstDash val="solid"/>
          </a:ln>
        </p:spPr>
      </p:sp>
      <p:sp>
        <p:nvSpPr>
          <p:cNvPr id="44" name="Text 41"/>
          <p:cNvSpPr/>
          <p:nvPr/>
        </p:nvSpPr>
        <p:spPr>
          <a:xfrm>
            <a:off x="822960" y="3557016"/>
            <a:ext cx="5047488" cy="347472"/>
          </a:xfrm>
          <a:prstGeom prst="rect">
            <a:avLst/>
          </a:prstGeom>
          <a:noFill/>
          <a:ln/>
        </p:spPr>
        <p:txBody>
          <a:bodyPr wrap="square" rtlCol="0" anchor="t"/>
          <a:lstStyle/>
          <a:p>
            <a:pPr indent="0" marL="0">
              <a:buNone/>
            </a:pPr>
            <a:r>
              <a:rPr lang="en-US" sz="1300" b="1" dirty="0">
                <a:solidFill>
                  <a:srgbClr val="0F172A"/>
                </a:solidFill>
                <a:latin typeface="Arial" pitchFamily="34" charset="0"/>
                <a:ea typeface="Arial" pitchFamily="34" charset="-122"/>
                <a:cs typeface="Arial" pitchFamily="34" charset="-120"/>
              </a:rPr>
              <a:t>New US rules for health plans (CMS-0057-F)</a:t>
            </a:r>
            <a:endParaRPr lang="en-US" sz="1300" dirty="0"/>
          </a:p>
        </p:txBody>
      </p:sp>
      <p:sp>
        <p:nvSpPr>
          <p:cNvPr id="45" name="Text 42"/>
          <p:cNvSpPr/>
          <p:nvPr/>
        </p:nvSpPr>
        <p:spPr>
          <a:xfrm>
            <a:off x="822960" y="3922776"/>
            <a:ext cx="5047488" cy="174650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Most plans that serve Medicare Advantage, Medicaid, CHIP and the federal marketplace must:</a:t>
            </a:r>
            <a:endParaRPr lang="en-US" sz="1050" dirty="0"/>
          </a:p>
          <a:p>
            <a:pPr indent="0" marL="0">
              <a:spcAft>
                <a:spcPts val="300"/>
              </a:spcAft>
              <a:buNone/>
            </a:pPr>
            <a:r>
              <a:rPr lang="en-US" sz="1050" dirty="0">
                <a:solidFill>
                  <a:srgbClr val="475569"/>
                </a:solidFill>
                <a:latin typeface="Arial" pitchFamily="34" charset="0"/>
                <a:ea typeface="Arial" pitchFamily="34" charset="-122"/>
                <a:cs typeface="Arial" pitchFamily="34" charset="-120"/>
              </a:rPr>
              <a:t>Answer within </a:t>
            </a:r>
            <a:pPr indent="0" marL="0">
              <a:spcAft>
                <a:spcPts val="300"/>
              </a:spcAft>
              <a:buNone/>
            </a:pPr>
            <a:r>
              <a:rPr lang="en-US" sz="1050" b="1" dirty="0">
                <a:solidFill>
                  <a:srgbClr val="0F172A"/>
                </a:solidFill>
                <a:latin typeface="Arial" pitchFamily="34" charset="0"/>
                <a:ea typeface="Arial" pitchFamily="34" charset="-122"/>
                <a:cs typeface="Arial" pitchFamily="34" charset="-120"/>
              </a:rPr>
              <a:t>7 days</a:t>
            </a:r>
            <a:pPr indent="0" marL="0">
              <a:spcAft>
                <a:spcPts val="300"/>
              </a:spcAft>
              <a:buNone/>
            </a:pPr>
            <a:r>
              <a:rPr lang="en-US" sz="1050" dirty="0">
                <a:solidFill>
                  <a:srgbClr val="475569"/>
                </a:solidFill>
                <a:latin typeface="Arial" pitchFamily="34" charset="0"/>
                <a:ea typeface="Arial" pitchFamily="34" charset="-122"/>
                <a:cs typeface="Arial" pitchFamily="34" charset="-120"/>
              </a:rPr>
              <a:t>, or </a:t>
            </a:r>
            <a:pPr indent="0" marL="0">
              <a:spcAft>
                <a:spcPts val="300"/>
              </a:spcAft>
              <a:buNone/>
            </a:pPr>
            <a:r>
              <a:rPr lang="en-US" sz="1050" b="1" dirty="0">
                <a:solidFill>
                  <a:srgbClr val="0F172A"/>
                </a:solidFill>
                <a:latin typeface="Arial" pitchFamily="34" charset="0"/>
                <a:ea typeface="Arial" pitchFamily="34" charset="-122"/>
                <a:cs typeface="Arial" pitchFamily="34" charset="-120"/>
              </a:rPr>
              <a:t>72 hours</a:t>
            </a:r>
            <a:pPr indent="0" marL="0">
              <a:spcAft>
                <a:spcPts val="300"/>
              </a:spcAft>
              <a:buNone/>
            </a:pPr>
            <a:r>
              <a:rPr lang="en-US" sz="1050" dirty="0">
                <a:solidFill>
                  <a:srgbClr val="475569"/>
                </a:solidFill>
                <a:latin typeface="Arial" pitchFamily="34" charset="0"/>
                <a:ea typeface="Arial" pitchFamily="34" charset="-122"/>
                <a:cs typeface="Arial" pitchFamily="34" charset="-120"/>
              </a:rPr>
              <a:t> when it is urgent (from 2026).</a:t>
            </a:r>
            <a:endParaRPr lang="en-US" sz="1050" dirty="0"/>
          </a:p>
          <a:p>
            <a:pPr indent="0" marL="0">
              <a:spcAft>
                <a:spcPts val="300"/>
              </a:spcAft>
              <a:buNone/>
            </a:pPr>
            <a:r>
              <a:rPr lang="en-US" sz="1050" dirty="0">
                <a:solidFill>
                  <a:srgbClr val="475569"/>
                </a:solidFill>
                <a:latin typeface="Arial" pitchFamily="34" charset="0"/>
                <a:ea typeface="Arial" pitchFamily="34" charset="-122"/>
                <a:cs typeface="Arial" pitchFamily="34" charset="-120"/>
              </a:rPr>
              <a:t>Give a </a:t>
            </a:r>
            <a:pPr indent="0" marL="0">
              <a:spcAft>
                <a:spcPts val="300"/>
              </a:spcAft>
              <a:buNone/>
            </a:pPr>
            <a:r>
              <a:rPr lang="en-US" sz="1050" b="1" dirty="0">
                <a:solidFill>
                  <a:srgbClr val="0F172A"/>
                </a:solidFill>
                <a:latin typeface="Arial" pitchFamily="34" charset="0"/>
                <a:ea typeface="Arial" pitchFamily="34" charset="-122"/>
                <a:cs typeface="Arial" pitchFamily="34" charset="-120"/>
              </a:rPr>
              <a:t>specific reason</a:t>
            </a:r>
            <a:pPr indent="0" marL="0">
              <a:spcAft>
                <a:spcPts val="300"/>
              </a:spcAft>
              <a:buNone/>
            </a:pPr>
            <a:r>
              <a:rPr lang="en-US" sz="1050" dirty="0">
                <a:solidFill>
                  <a:srgbClr val="475569"/>
                </a:solidFill>
                <a:latin typeface="Arial" pitchFamily="34" charset="0"/>
                <a:ea typeface="Arial" pitchFamily="34" charset="-122"/>
                <a:cs typeface="Arial" pitchFamily="34" charset="-120"/>
              </a:rPr>
              <a:t> for every denial.</a:t>
            </a:r>
            <a:endParaRPr lang="en-US" sz="1050" dirty="0"/>
          </a:p>
          <a:p>
            <a:pPr indent="0" marL="0">
              <a:spcAft>
                <a:spcPts val="300"/>
              </a:spcAft>
              <a:buNone/>
            </a:pPr>
            <a:r>
              <a:rPr lang="en-US" sz="1050" dirty="0">
                <a:solidFill>
                  <a:srgbClr val="475569"/>
                </a:solidFill>
                <a:latin typeface="Arial" pitchFamily="34" charset="0"/>
                <a:ea typeface="Arial" pitchFamily="34" charset="-122"/>
                <a:cs typeface="Arial" pitchFamily="34" charset="-120"/>
              </a:rPr>
              <a:t>Publish </a:t>
            </a:r>
            <a:pPr indent="0" marL="0">
              <a:spcAft>
                <a:spcPts val="300"/>
              </a:spcAft>
              <a:buNone/>
            </a:pPr>
            <a:r>
              <a:rPr lang="en-US" sz="1050" b="1" dirty="0">
                <a:solidFill>
                  <a:srgbClr val="0F172A"/>
                </a:solidFill>
                <a:latin typeface="Arial" pitchFamily="34" charset="0"/>
                <a:ea typeface="Arial" pitchFamily="34" charset="-122"/>
                <a:cs typeface="Arial" pitchFamily="34" charset="-120"/>
              </a:rPr>
              <a:t>how often</a:t>
            </a:r>
            <a:pPr indent="0" marL="0">
              <a:spcAft>
                <a:spcPts val="300"/>
              </a:spcAft>
              <a:buNone/>
            </a:pPr>
            <a:r>
              <a:rPr lang="en-US" sz="1050" dirty="0">
                <a:solidFill>
                  <a:srgbClr val="475569"/>
                </a:solidFill>
                <a:latin typeface="Arial" pitchFamily="34" charset="0"/>
                <a:ea typeface="Arial" pitchFamily="34" charset="-122"/>
                <a:cs typeface="Arial" pitchFamily="34" charset="-120"/>
              </a:rPr>
              <a:t> they approve, deny and take longer.</a:t>
            </a:r>
            <a:endParaRPr lang="en-US" sz="1050" dirty="0"/>
          </a:p>
          <a:p>
            <a:pPr indent="0" marL="0">
              <a:spcAft>
                <a:spcPts val="300"/>
              </a:spcAft>
              <a:buNone/>
            </a:pPr>
            <a:r>
              <a:rPr lang="en-US" sz="1050" dirty="0">
                <a:solidFill>
                  <a:srgbClr val="475569"/>
                </a:solidFill>
                <a:latin typeface="Arial" pitchFamily="34" charset="0"/>
                <a:ea typeface="Arial" pitchFamily="34" charset="-122"/>
                <a:cs typeface="Arial" pitchFamily="34" charset="-120"/>
              </a:rPr>
              <a:t>Take requests </a:t>
            </a:r>
            <a:pPr indent="0" marL="0">
              <a:spcAft>
                <a:spcPts val="300"/>
              </a:spcAft>
              <a:buNone/>
            </a:pPr>
            <a:r>
              <a:rPr lang="en-US" sz="1050" b="1" dirty="0">
                <a:solidFill>
                  <a:srgbClr val="0F172A"/>
                </a:solidFill>
                <a:latin typeface="Arial" pitchFamily="34" charset="0"/>
                <a:ea typeface="Arial" pitchFamily="34" charset="-122"/>
                <a:cs typeface="Arial" pitchFamily="34" charset="-120"/>
              </a:rPr>
              <a:t>electronically</a:t>
            </a:r>
            <a:pPr indent="0" marL="0">
              <a:spcAft>
                <a:spcPts val="300"/>
              </a:spcAft>
              <a:buNone/>
            </a:pPr>
            <a:r>
              <a:rPr lang="en-US" sz="1050" dirty="0">
                <a:solidFill>
                  <a:srgbClr val="475569"/>
                </a:solidFill>
                <a:latin typeface="Arial" pitchFamily="34" charset="0"/>
                <a:ea typeface="Arial" pitchFamily="34" charset="-122"/>
                <a:cs typeface="Arial" pitchFamily="34" charset="-120"/>
              </a:rPr>
              <a:t> through a standard API by 2027; the Da Vinci PAS standard is the recommended way.</a:t>
            </a:r>
            <a:endParaRPr lang="en-US" sz="1050" dirty="0"/>
          </a:p>
        </p:txBody>
      </p:sp>
      <p:sp>
        <p:nvSpPr>
          <p:cNvPr id="46" name="Shape 43"/>
          <p:cNvSpPr/>
          <p:nvPr/>
        </p:nvSpPr>
        <p:spPr>
          <a:xfrm>
            <a:off x="6263640" y="3429000"/>
            <a:ext cx="5376672" cy="2331720"/>
          </a:xfrm>
          <a:prstGeom prst="roundRect">
            <a:avLst>
              <a:gd name="adj" fmla="val 4706"/>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7" name="Shape 44"/>
          <p:cNvSpPr/>
          <p:nvPr/>
        </p:nvSpPr>
        <p:spPr>
          <a:xfrm>
            <a:off x="6373368" y="3593592"/>
            <a:ext cx="54864" cy="2002536"/>
          </a:xfrm>
          <a:prstGeom prst="rect">
            <a:avLst/>
          </a:prstGeom>
          <a:solidFill>
            <a:srgbClr val="0D9488"/>
          </a:solidFill>
          <a:ln w="12700">
            <a:solidFill>
              <a:srgbClr val="0D9488"/>
            </a:solidFill>
            <a:prstDash val="solid"/>
          </a:ln>
        </p:spPr>
      </p:sp>
      <p:sp>
        <p:nvSpPr>
          <p:cNvPr id="48" name="Text 45"/>
          <p:cNvSpPr/>
          <p:nvPr/>
        </p:nvSpPr>
        <p:spPr>
          <a:xfrm>
            <a:off x="6537960" y="3557016"/>
            <a:ext cx="4937760" cy="347472"/>
          </a:xfrm>
          <a:prstGeom prst="rect">
            <a:avLst/>
          </a:prstGeom>
          <a:noFill/>
          <a:ln/>
        </p:spPr>
        <p:txBody>
          <a:bodyPr wrap="square" rtlCol="0" anchor="t"/>
          <a:lstStyle/>
          <a:p>
            <a:pPr indent="0" marL="0">
              <a:buNone/>
            </a:pPr>
            <a:r>
              <a:rPr lang="en-US" sz="1300" b="1" dirty="0">
                <a:solidFill>
                  <a:srgbClr val="0F172A"/>
                </a:solidFill>
                <a:latin typeface="Arial" pitchFamily="34" charset="0"/>
                <a:ea typeface="Arial" pitchFamily="34" charset="-122"/>
                <a:cs typeface="Arial" pitchFamily="34" charset="-120"/>
              </a:rPr>
              <a:t>Words used in this deck</a:t>
            </a:r>
            <a:endParaRPr lang="en-US" sz="1300" dirty="0"/>
          </a:p>
        </p:txBody>
      </p:sp>
      <p:sp>
        <p:nvSpPr>
          <p:cNvPr id="49" name="Text 46"/>
          <p:cNvSpPr/>
          <p:nvPr/>
        </p:nvSpPr>
        <p:spPr>
          <a:xfrm>
            <a:off x="6537960" y="3922776"/>
            <a:ext cx="4937760" cy="1746504"/>
          </a:xfrm>
          <a:prstGeom prst="rect">
            <a:avLst/>
          </a:prstGeom>
          <a:noFill/>
          <a:ln/>
        </p:spPr>
        <p:txBody>
          <a:bodyPr wrap="square" rtlCol="0" anchor="t"/>
          <a:lstStyle/>
          <a:p>
            <a:pPr indent="0" marL="0">
              <a:spcAft>
                <a:spcPts val="300"/>
              </a:spcAft>
              <a:buNone/>
            </a:pPr>
            <a:r>
              <a:rPr lang="en-US" sz="1050" b="1" dirty="0">
                <a:solidFill>
                  <a:srgbClr val="0F172A"/>
                </a:solidFill>
                <a:latin typeface="Arial" pitchFamily="34" charset="0"/>
                <a:ea typeface="Arial" pitchFamily="34" charset="-122"/>
                <a:cs typeface="Arial" pitchFamily="34" charset="-120"/>
              </a:rPr>
              <a:t>Policy: </a:t>
            </a:r>
            <a:pPr indent="0" marL="0">
              <a:spcAft>
                <a:spcPts val="300"/>
              </a:spcAft>
              <a:buNone/>
            </a:pPr>
            <a:r>
              <a:rPr lang="en-US" sz="1050" dirty="0">
                <a:solidFill>
                  <a:srgbClr val="475569"/>
                </a:solidFill>
                <a:latin typeface="Arial" pitchFamily="34" charset="0"/>
                <a:ea typeface="Arial" pitchFamily="34" charset="-122"/>
                <a:cs typeface="Arial" pitchFamily="34" charset="-120"/>
              </a:rPr>
              <a:t>the plan's written rules for when it covers a service.</a:t>
            </a:r>
            <a:endParaRPr lang="en-US" sz="1050" dirty="0"/>
          </a:p>
          <a:p>
            <a:pPr indent="0" marL="0">
              <a:spcAft>
                <a:spcPts val="300"/>
              </a:spcAft>
              <a:buNone/>
            </a:pPr>
            <a:r>
              <a:rPr lang="en-US" sz="1050" b="1" dirty="0">
                <a:solidFill>
                  <a:srgbClr val="0F172A"/>
                </a:solidFill>
                <a:latin typeface="Arial" pitchFamily="34" charset="0"/>
                <a:ea typeface="Arial" pitchFamily="34" charset="-122"/>
                <a:cs typeface="Arial" pitchFamily="34" charset="-120"/>
              </a:rPr>
              <a:t>Evidence: </a:t>
            </a:r>
            <a:pPr indent="0" marL="0">
              <a:spcAft>
                <a:spcPts val="300"/>
              </a:spcAft>
              <a:buNone/>
            </a:pPr>
            <a:r>
              <a:rPr lang="en-US" sz="1050" dirty="0">
                <a:solidFill>
                  <a:srgbClr val="475569"/>
                </a:solidFill>
                <a:latin typeface="Arial" pitchFamily="34" charset="0"/>
                <a:ea typeface="Arial" pitchFamily="34" charset="-122"/>
                <a:cs typeface="Arial" pitchFamily="34" charset="-120"/>
              </a:rPr>
              <a:t>facts in the request: diagnoses, answers to questions, past tests, medicines.</a:t>
            </a:r>
            <a:endParaRPr lang="en-US" sz="1050" dirty="0"/>
          </a:p>
          <a:p>
            <a:pPr indent="0" marL="0">
              <a:spcAft>
                <a:spcPts val="300"/>
              </a:spcAft>
              <a:buNone/>
            </a:pPr>
            <a:r>
              <a:rPr lang="en-US" sz="1050" b="1" dirty="0">
                <a:solidFill>
                  <a:srgbClr val="0F172A"/>
                </a:solidFill>
                <a:latin typeface="Arial" pitchFamily="34" charset="0"/>
                <a:ea typeface="Arial" pitchFamily="34" charset="-122"/>
                <a:cs typeface="Arial" pitchFamily="34" charset="-120"/>
              </a:rPr>
              <a:t>Pend: </a:t>
            </a:r>
            <a:pPr indent="0" marL="0">
              <a:spcAft>
                <a:spcPts val="300"/>
              </a:spcAft>
              <a:buNone/>
            </a:pPr>
            <a:r>
              <a:rPr lang="en-US" sz="1050" dirty="0">
                <a:solidFill>
                  <a:srgbClr val="475569"/>
                </a:solidFill>
                <a:latin typeface="Arial" pitchFamily="34" charset="0"/>
                <a:ea typeface="Arial" pitchFamily="34" charset="-122"/>
                <a:cs typeface="Arial" pitchFamily="34" charset="-120"/>
              </a:rPr>
              <a:t>“not decided yet: please send this information.”</a:t>
            </a:r>
            <a:endParaRPr lang="en-US" sz="1050" dirty="0"/>
          </a:p>
          <a:p>
            <a:pPr indent="0" marL="0">
              <a:spcAft>
                <a:spcPts val="300"/>
              </a:spcAft>
              <a:buNone/>
            </a:pPr>
            <a:r>
              <a:rPr lang="en-US" sz="1050" b="1" dirty="0">
                <a:solidFill>
                  <a:srgbClr val="0F172A"/>
                </a:solidFill>
                <a:latin typeface="Arial" pitchFamily="34" charset="0"/>
                <a:ea typeface="Arial" pitchFamily="34" charset="-122"/>
                <a:cs typeface="Arial" pitchFamily="34" charset="-120"/>
              </a:rPr>
              <a:t>PAS server: </a:t>
            </a:r>
            <a:pPr indent="0" marL="0">
              <a:spcAft>
                <a:spcPts val="300"/>
              </a:spcAft>
              <a:buNone/>
            </a:pPr>
            <a:r>
              <a:rPr lang="en-US" sz="1050" dirty="0">
                <a:solidFill>
                  <a:srgbClr val="475569"/>
                </a:solidFill>
                <a:latin typeface="Arial" pitchFamily="34" charset="0"/>
                <a:ea typeface="Arial" pitchFamily="34" charset="-122"/>
                <a:cs typeface="Arial" pitchFamily="34" charset="-120"/>
              </a:rPr>
              <a:t>the plan's front desk that receives requests electronically (for example, Perfuse).</a:t>
            </a:r>
            <a:endParaRPr lang="en-US" sz="1050" dirty="0"/>
          </a:p>
          <a:p>
            <a:pPr indent="0" marL="0">
              <a:spcAft>
                <a:spcPts val="300"/>
              </a:spcAft>
              <a:buNone/>
            </a:pPr>
            <a:r>
              <a:rPr lang="en-US" sz="1050" b="1" dirty="0">
                <a:solidFill>
                  <a:srgbClr val="0F172A"/>
                </a:solidFill>
                <a:latin typeface="Arial" pitchFamily="34" charset="0"/>
                <a:ea typeface="Arial" pitchFamily="34" charset="-122"/>
                <a:cs typeface="Arial" pitchFamily="34" charset="-120"/>
              </a:rPr>
              <a:t>Reviewer, clinician: </a:t>
            </a:r>
            <a:pPr indent="0" marL="0">
              <a:spcAft>
                <a:spcPts val="300"/>
              </a:spcAft>
              <a:buNone/>
            </a:pPr>
            <a:r>
              <a:rPr lang="en-US" sz="1050" dirty="0">
                <a:solidFill>
                  <a:srgbClr val="475569"/>
                </a:solidFill>
                <a:latin typeface="Arial" pitchFamily="34" charset="0"/>
                <a:ea typeface="Arial" pitchFamily="34" charset="-122"/>
                <a:cs typeface="Arial" pitchFamily="34" charset="-120"/>
              </a:rPr>
              <a:t>a person at the plan who checks cases; a clinician is a licensed one, such as a doctor or nurse.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THE PROBLEM</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What goes wrong today</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Prior authorization is meant to stop unnecessary care. Too often it stops necessary care instead.</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3 / 18</a:t>
            </a:r>
            <a:endParaRPr lang="en-US" sz="800" dirty="0"/>
          </a:p>
        </p:txBody>
      </p:sp>
      <p:sp>
        <p:nvSpPr>
          <p:cNvPr id="11" name="Shape 8"/>
          <p:cNvSpPr/>
          <p:nvPr/>
        </p:nvSpPr>
        <p:spPr>
          <a:xfrm>
            <a:off x="548640" y="1737360"/>
            <a:ext cx="2633472" cy="2331720"/>
          </a:xfrm>
          <a:prstGeom prst="roundRect">
            <a:avLst>
              <a:gd name="adj" fmla="val 4706"/>
            </a:avLst>
          </a:prstGeom>
          <a:solidFill>
            <a:srgbClr val="FFFFFF"/>
          </a:solidFill>
          <a:ln w="9525">
            <a:solidFill>
              <a:srgbClr val="DC2626"/>
            </a:solidFill>
            <a:prstDash val="solid"/>
          </a:ln>
          <a:effectLst>
            <a:outerShdw sx="100000" sy="100000" kx="0" ky="0" algn="bl" rotWithShape="0" blurRad="76200" dist="25400" dir="5400000">
              <a:srgbClr val="0F172A">
                <a:alpha val="12000"/>
              </a:srgbClr>
            </a:outerShdw>
          </a:effectLst>
        </p:spPr>
      </p:sp>
      <p:sp>
        <p:nvSpPr>
          <p:cNvPr id="12" name="Text 9"/>
          <p:cNvSpPr/>
          <p:nvPr/>
        </p:nvSpPr>
        <p:spPr>
          <a:xfrm>
            <a:off x="731520" y="1865376"/>
            <a:ext cx="2286000" cy="347472"/>
          </a:xfrm>
          <a:prstGeom prst="rect">
            <a:avLst/>
          </a:prstGeom>
          <a:noFill/>
          <a:ln/>
        </p:spPr>
        <p:txBody>
          <a:bodyPr wrap="square" rtlCol="0" anchor="t"/>
          <a:lstStyle/>
          <a:p>
            <a:pPr indent="0" marL="0">
              <a:buNone/>
            </a:pPr>
            <a:r>
              <a:rPr lang="en-US" sz="1300" b="1" dirty="0">
                <a:solidFill>
                  <a:srgbClr val="DC2626"/>
                </a:solidFill>
                <a:latin typeface="Arial" pitchFamily="34" charset="0"/>
                <a:ea typeface="Arial" pitchFamily="34" charset="-122"/>
                <a:cs typeface="Arial" pitchFamily="34" charset="-120"/>
              </a:rPr>
              <a:t>Denied for what was not there</a:t>
            </a:r>
            <a:endParaRPr lang="en-US" sz="1300" dirty="0"/>
          </a:p>
        </p:txBody>
      </p:sp>
      <p:sp>
        <p:nvSpPr>
          <p:cNvPr id="13" name="Text 10"/>
          <p:cNvSpPr/>
          <p:nvPr/>
        </p:nvSpPr>
        <p:spPr>
          <a:xfrm>
            <a:off x="731520" y="2432304"/>
            <a:ext cx="2286000" cy="1545336"/>
          </a:xfrm>
          <a:prstGeom prst="rect">
            <a:avLst/>
          </a:prstGeom>
          <a:noFill/>
          <a:ln/>
        </p:spPr>
        <p:txBody>
          <a:bodyPr wrap="square" rtlCol="0" anchor="t"/>
          <a:lstStyle/>
          <a:p>
            <a:pPr indent="0" marL="0">
              <a:spcAft>
                <a:spcPts val="300"/>
              </a:spcAft>
              <a:buNone/>
            </a:pPr>
            <a:r>
              <a:rPr lang="en-US" sz="1100" dirty="0">
                <a:solidFill>
                  <a:srgbClr val="475569"/>
                </a:solidFill>
                <a:latin typeface="Arial" pitchFamily="34" charset="0"/>
                <a:ea typeface="Arial" pitchFamily="34" charset="-122"/>
                <a:cs typeface="Arial" pitchFamily="34" charset="-120"/>
              </a:rPr>
              <a:t>The file did not mention a symptom, so the answer was no, even though the patient has it. Silence was treated as a no.</a:t>
            </a:r>
            <a:endParaRPr lang="en-US" sz="1100" dirty="0"/>
          </a:p>
        </p:txBody>
      </p:sp>
      <p:sp>
        <p:nvSpPr>
          <p:cNvPr id="14" name="Shape 11"/>
          <p:cNvSpPr/>
          <p:nvPr/>
        </p:nvSpPr>
        <p:spPr>
          <a:xfrm>
            <a:off x="548640" y="1737360"/>
            <a:ext cx="2633472" cy="73152"/>
          </a:xfrm>
          <a:prstGeom prst="rect">
            <a:avLst/>
          </a:prstGeom>
          <a:solidFill>
            <a:srgbClr val="DC2626"/>
          </a:solidFill>
          <a:ln w="12700">
            <a:solidFill>
              <a:srgbClr val="DC2626"/>
            </a:solidFill>
            <a:prstDash val="solid"/>
          </a:ln>
        </p:spPr>
      </p:sp>
      <p:sp>
        <p:nvSpPr>
          <p:cNvPr id="15" name="Shape 12"/>
          <p:cNvSpPr/>
          <p:nvPr/>
        </p:nvSpPr>
        <p:spPr>
          <a:xfrm>
            <a:off x="3364992" y="1737360"/>
            <a:ext cx="2633472" cy="2331720"/>
          </a:xfrm>
          <a:prstGeom prst="roundRect">
            <a:avLst>
              <a:gd name="adj" fmla="val 4706"/>
            </a:avLst>
          </a:prstGeom>
          <a:solidFill>
            <a:srgbClr val="FFFFFF"/>
          </a:solidFill>
          <a:ln w="9525">
            <a:solidFill>
              <a:srgbClr val="D97706"/>
            </a:solidFill>
            <a:prstDash val="solid"/>
          </a:ln>
          <a:effectLst>
            <a:outerShdw sx="100000" sy="100000" kx="0" ky="0" algn="bl" rotWithShape="0" blurRad="76200" dist="25400" dir="5400000">
              <a:srgbClr val="0F172A">
                <a:alpha val="12000"/>
              </a:srgbClr>
            </a:outerShdw>
          </a:effectLst>
        </p:spPr>
      </p:sp>
      <p:sp>
        <p:nvSpPr>
          <p:cNvPr id="16" name="Text 13"/>
          <p:cNvSpPr/>
          <p:nvPr/>
        </p:nvSpPr>
        <p:spPr>
          <a:xfrm>
            <a:off x="3547872" y="1865376"/>
            <a:ext cx="2286000" cy="347472"/>
          </a:xfrm>
          <a:prstGeom prst="rect">
            <a:avLst/>
          </a:prstGeom>
          <a:noFill/>
          <a:ln/>
        </p:spPr>
        <p:txBody>
          <a:bodyPr wrap="square" rtlCol="0" anchor="t"/>
          <a:lstStyle/>
          <a:p>
            <a:pPr indent="0" marL="0">
              <a:buNone/>
            </a:pPr>
            <a:r>
              <a:rPr lang="en-US" sz="1300" b="1" dirty="0">
                <a:solidFill>
                  <a:srgbClr val="D97706"/>
                </a:solidFill>
                <a:latin typeface="Arial" pitchFamily="34" charset="0"/>
                <a:ea typeface="Arial" pitchFamily="34" charset="-122"/>
                <a:cs typeface="Arial" pitchFamily="34" charset="-120"/>
              </a:rPr>
              <a:t>No clear reason</a:t>
            </a:r>
            <a:endParaRPr lang="en-US" sz="1300" dirty="0"/>
          </a:p>
        </p:txBody>
      </p:sp>
      <p:sp>
        <p:nvSpPr>
          <p:cNvPr id="17" name="Text 14"/>
          <p:cNvSpPr/>
          <p:nvPr/>
        </p:nvSpPr>
        <p:spPr>
          <a:xfrm>
            <a:off x="3547872" y="2432304"/>
            <a:ext cx="2286000" cy="1545336"/>
          </a:xfrm>
          <a:prstGeom prst="rect">
            <a:avLst/>
          </a:prstGeom>
          <a:noFill/>
          <a:ln/>
        </p:spPr>
        <p:txBody>
          <a:bodyPr wrap="square" rtlCol="0" anchor="t"/>
          <a:lstStyle/>
          <a:p>
            <a:pPr indent="0" marL="0">
              <a:spcAft>
                <a:spcPts val="300"/>
              </a:spcAft>
              <a:buNone/>
            </a:pPr>
            <a:r>
              <a:rPr lang="en-US" sz="1100" dirty="0">
                <a:solidFill>
                  <a:srgbClr val="475569"/>
                </a:solidFill>
                <a:latin typeface="Arial" pitchFamily="34" charset="0"/>
                <a:ea typeface="Arial" pitchFamily="34" charset="-122"/>
                <a:cs typeface="Arial" pitchFamily="34" charset="-120"/>
              </a:rPr>
              <a:t>The doctor is told “not medically necessary”, but not which rule, or what would change the answer.</a:t>
            </a:r>
            <a:endParaRPr lang="en-US" sz="1100" dirty="0"/>
          </a:p>
        </p:txBody>
      </p:sp>
      <p:sp>
        <p:nvSpPr>
          <p:cNvPr id="18" name="Shape 15"/>
          <p:cNvSpPr/>
          <p:nvPr/>
        </p:nvSpPr>
        <p:spPr>
          <a:xfrm>
            <a:off x="3364992" y="1737360"/>
            <a:ext cx="2633472" cy="73152"/>
          </a:xfrm>
          <a:prstGeom prst="rect">
            <a:avLst/>
          </a:prstGeom>
          <a:solidFill>
            <a:srgbClr val="D97706"/>
          </a:solidFill>
          <a:ln w="12700">
            <a:solidFill>
              <a:srgbClr val="D97706"/>
            </a:solidFill>
            <a:prstDash val="solid"/>
          </a:ln>
        </p:spPr>
      </p:sp>
      <p:sp>
        <p:nvSpPr>
          <p:cNvPr id="19" name="Shape 16"/>
          <p:cNvSpPr/>
          <p:nvPr/>
        </p:nvSpPr>
        <p:spPr>
          <a:xfrm>
            <a:off x="6181344" y="1737360"/>
            <a:ext cx="2633472" cy="2331720"/>
          </a:xfrm>
          <a:prstGeom prst="roundRect">
            <a:avLst>
              <a:gd name="adj" fmla="val 4706"/>
            </a:avLst>
          </a:prstGeom>
          <a:solidFill>
            <a:srgbClr val="FFFFFF"/>
          </a:solidFill>
          <a:ln w="9525">
            <a:solidFill>
              <a:srgbClr val="2563EB"/>
            </a:solidFill>
            <a:prstDash val="solid"/>
          </a:ln>
          <a:effectLst>
            <a:outerShdw sx="100000" sy="100000" kx="0" ky="0" algn="bl" rotWithShape="0" blurRad="76200" dist="25400" dir="5400000">
              <a:srgbClr val="0F172A">
                <a:alpha val="12000"/>
              </a:srgbClr>
            </a:outerShdw>
          </a:effectLst>
        </p:spPr>
      </p:sp>
      <p:sp>
        <p:nvSpPr>
          <p:cNvPr id="20" name="Text 17"/>
          <p:cNvSpPr/>
          <p:nvPr/>
        </p:nvSpPr>
        <p:spPr>
          <a:xfrm>
            <a:off x="6364224" y="1865376"/>
            <a:ext cx="2286000" cy="347472"/>
          </a:xfrm>
          <a:prstGeom prst="rect">
            <a:avLst/>
          </a:prstGeom>
          <a:noFill/>
          <a:ln/>
        </p:spPr>
        <p:txBody>
          <a:bodyPr wrap="square" rtlCol="0" anchor="t"/>
          <a:lstStyle/>
          <a:p>
            <a:pPr indent="0" marL="0">
              <a:buNone/>
            </a:pPr>
            <a:r>
              <a:rPr lang="en-US" sz="1300" b="1" dirty="0">
                <a:solidFill>
                  <a:srgbClr val="2563EB"/>
                </a:solidFill>
                <a:latin typeface="Arial" pitchFamily="34" charset="0"/>
                <a:ea typeface="Arial" pitchFamily="34" charset="-122"/>
                <a:cs typeface="Arial" pitchFamily="34" charset="-120"/>
              </a:rPr>
              <a:t>Slow and manual</a:t>
            </a:r>
            <a:endParaRPr lang="en-US" sz="1300" dirty="0"/>
          </a:p>
        </p:txBody>
      </p:sp>
      <p:sp>
        <p:nvSpPr>
          <p:cNvPr id="21" name="Text 18"/>
          <p:cNvSpPr/>
          <p:nvPr/>
        </p:nvSpPr>
        <p:spPr>
          <a:xfrm>
            <a:off x="6364224" y="2432304"/>
            <a:ext cx="2286000" cy="1545336"/>
          </a:xfrm>
          <a:prstGeom prst="rect">
            <a:avLst/>
          </a:prstGeom>
          <a:noFill/>
          <a:ln/>
        </p:spPr>
        <p:txBody>
          <a:bodyPr wrap="square" rtlCol="0" anchor="t"/>
          <a:lstStyle/>
          <a:p>
            <a:pPr indent="0" marL="0">
              <a:spcAft>
                <a:spcPts val="300"/>
              </a:spcAft>
              <a:buNone/>
            </a:pPr>
            <a:r>
              <a:rPr lang="en-US" sz="1100" dirty="0">
                <a:solidFill>
                  <a:srgbClr val="475569"/>
                </a:solidFill>
                <a:latin typeface="Arial" pitchFamily="34" charset="0"/>
                <a:ea typeface="Arial" pitchFamily="34" charset="-122"/>
                <a:cs typeface="Arial" pitchFamily="34" charset="-120"/>
              </a:rPr>
              <a:t>Faxes, phone calls and paperwork sent again and again, while the patient waits for care.</a:t>
            </a:r>
            <a:endParaRPr lang="en-US" sz="1100" dirty="0"/>
          </a:p>
        </p:txBody>
      </p:sp>
      <p:sp>
        <p:nvSpPr>
          <p:cNvPr id="22" name="Shape 19"/>
          <p:cNvSpPr/>
          <p:nvPr/>
        </p:nvSpPr>
        <p:spPr>
          <a:xfrm>
            <a:off x="6181344" y="1737360"/>
            <a:ext cx="2633472" cy="73152"/>
          </a:xfrm>
          <a:prstGeom prst="rect">
            <a:avLst/>
          </a:prstGeom>
          <a:solidFill>
            <a:srgbClr val="2563EB"/>
          </a:solidFill>
          <a:ln w="12700">
            <a:solidFill>
              <a:srgbClr val="2563EB"/>
            </a:solidFill>
            <a:prstDash val="solid"/>
          </a:ln>
        </p:spPr>
      </p:sp>
      <p:sp>
        <p:nvSpPr>
          <p:cNvPr id="23" name="Shape 20"/>
          <p:cNvSpPr/>
          <p:nvPr/>
        </p:nvSpPr>
        <p:spPr>
          <a:xfrm>
            <a:off x="8997696" y="1737360"/>
            <a:ext cx="2633472" cy="2331720"/>
          </a:xfrm>
          <a:prstGeom prst="roundRect">
            <a:avLst>
              <a:gd name="adj" fmla="val 4706"/>
            </a:avLst>
          </a:prstGeom>
          <a:solidFill>
            <a:srgbClr val="FFFFFF"/>
          </a:solidFill>
          <a:ln w="9525">
            <a:solidFill>
              <a:srgbClr val="7C3AED"/>
            </a:solidFill>
            <a:prstDash val="solid"/>
          </a:ln>
          <a:effectLst>
            <a:outerShdw sx="100000" sy="100000" kx="0" ky="0" algn="bl" rotWithShape="0" blurRad="76200" dist="25400" dir="5400000">
              <a:srgbClr val="0F172A">
                <a:alpha val="12000"/>
              </a:srgbClr>
            </a:outerShdw>
          </a:effectLst>
        </p:spPr>
      </p:sp>
      <p:sp>
        <p:nvSpPr>
          <p:cNvPr id="24" name="Text 21"/>
          <p:cNvSpPr/>
          <p:nvPr/>
        </p:nvSpPr>
        <p:spPr>
          <a:xfrm>
            <a:off x="9180576" y="1865376"/>
            <a:ext cx="2286000" cy="347472"/>
          </a:xfrm>
          <a:prstGeom prst="rect">
            <a:avLst/>
          </a:prstGeom>
          <a:noFill/>
          <a:ln/>
        </p:spPr>
        <p:txBody>
          <a:bodyPr wrap="square" rtlCol="0" anchor="t"/>
          <a:lstStyle/>
          <a:p>
            <a:pPr indent="0" marL="0">
              <a:buNone/>
            </a:pPr>
            <a:r>
              <a:rPr lang="en-US" sz="1300" b="1" dirty="0">
                <a:solidFill>
                  <a:srgbClr val="7C3AED"/>
                </a:solidFill>
                <a:latin typeface="Arial" pitchFamily="34" charset="0"/>
                <a:ea typeface="Arial" pitchFamily="34" charset="-122"/>
                <a:cs typeface="Arial" pitchFamily="34" charset="-120"/>
              </a:rPr>
              <a:t>Hard to check later</a:t>
            </a:r>
            <a:endParaRPr lang="en-US" sz="1300" dirty="0"/>
          </a:p>
        </p:txBody>
      </p:sp>
      <p:sp>
        <p:nvSpPr>
          <p:cNvPr id="25" name="Text 22"/>
          <p:cNvSpPr/>
          <p:nvPr/>
        </p:nvSpPr>
        <p:spPr>
          <a:xfrm>
            <a:off x="9180576" y="2432304"/>
            <a:ext cx="2286000" cy="1545336"/>
          </a:xfrm>
          <a:prstGeom prst="rect">
            <a:avLst/>
          </a:prstGeom>
          <a:noFill/>
          <a:ln/>
        </p:spPr>
        <p:txBody>
          <a:bodyPr wrap="square" rtlCol="0" anchor="t"/>
          <a:lstStyle/>
          <a:p>
            <a:pPr indent="0" marL="0">
              <a:spcAft>
                <a:spcPts val="300"/>
              </a:spcAft>
              <a:buNone/>
            </a:pPr>
            <a:r>
              <a:rPr lang="en-US" sz="1100" dirty="0">
                <a:solidFill>
                  <a:srgbClr val="475569"/>
                </a:solidFill>
                <a:latin typeface="Arial" pitchFamily="34" charset="0"/>
                <a:ea typeface="Arial" pitchFamily="34" charset="-122"/>
                <a:cs typeface="Arial" pitchFamily="34" charset="-120"/>
              </a:rPr>
              <a:t>Months later, nobody can show exactly why a decision was made, or replay it under new rules.</a:t>
            </a:r>
            <a:endParaRPr lang="en-US" sz="1100" dirty="0"/>
          </a:p>
        </p:txBody>
      </p:sp>
      <p:sp>
        <p:nvSpPr>
          <p:cNvPr id="26" name="Shape 23"/>
          <p:cNvSpPr/>
          <p:nvPr/>
        </p:nvSpPr>
        <p:spPr>
          <a:xfrm>
            <a:off x="8997696" y="1737360"/>
            <a:ext cx="2633472" cy="73152"/>
          </a:xfrm>
          <a:prstGeom prst="rect">
            <a:avLst/>
          </a:prstGeom>
          <a:solidFill>
            <a:srgbClr val="7C3AED"/>
          </a:solidFill>
          <a:ln w="12700">
            <a:solidFill>
              <a:srgbClr val="7C3AED"/>
            </a:solidFill>
            <a:prstDash val="solid"/>
          </a:ln>
        </p:spPr>
      </p:sp>
      <p:sp>
        <p:nvSpPr>
          <p:cNvPr id="27" name="Shape 24"/>
          <p:cNvSpPr/>
          <p:nvPr/>
        </p:nvSpPr>
        <p:spPr>
          <a:xfrm>
            <a:off x="2560320" y="3429000"/>
            <a:ext cx="384048" cy="493776"/>
          </a:xfrm>
          <a:prstGeom prst="snipRoundRect">
            <a:avLst/>
          </a:prstGeom>
          <a:solidFill>
            <a:srgbClr val="FFFFFF"/>
          </a:solidFill>
          <a:ln w="19050">
            <a:solidFill>
              <a:srgbClr val="DC2626"/>
            </a:solidFill>
            <a:prstDash val="solid"/>
          </a:ln>
        </p:spPr>
      </p:sp>
      <p:sp>
        <p:nvSpPr>
          <p:cNvPr id="28" name="Shape 25"/>
          <p:cNvSpPr/>
          <p:nvPr/>
        </p:nvSpPr>
        <p:spPr>
          <a:xfrm>
            <a:off x="2642616" y="3593592"/>
            <a:ext cx="219456" cy="0"/>
          </a:xfrm>
          <a:prstGeom prst="line">
            <a:avLst/>
          </a:prstGeom>
          <a:noFill/>
          <a:ln w="15240">
            <a:solidFill>
              <a:srgbClr val="DC2626"/>
            </a:solidFill>
            <a:prstDash val="solid"/>
          </a:ln>
        </p:spPr>
      </p:sp>
      <p:sp>
        <p:nvSpPr>
          <p:cNvPr id="29" name="Shape 26"/>
          <p:cNvSpPr/>
          <p:nvPr/>
        </p:nvSpPr>
        <p:spPr>
          <a:xfrm>
            <a:off x="2642616" y="3694176"/>
            <a:ext cx="219456" cy="0"/>
          </a:xfrm>
          <a:prstGeom prst="line">
            <a:avLst/>
          </a:prstGeom>
          <a:noFill/>
          <a:ln w="15240">
            <a:solidFill>
              <a:srgbClr val="DC2626"/>
            </a:solidFill>
            <a:prstDash val="solid"/>
          </a:ln>
        </p:spPr>
      </p:sp>
      <p:sp>
        <p:nvSpPr>
          <p:cNvPr id="30" name="Shape 27"/>
          <p:cNvSpPr/>
          <p:nvPr/>
        </p:nvSpPr>
        <p:spPr>
          <a:xfrm>
            <a:off x="2642616" y="3794760"/>
            <a:ext cx="219456" cy="0"/>
          </a:xfrm>
          <a:prstGeom prst="line">
            <a:avLst/>
          </a:prstGeom>
          <a:noFill/>
          <a:ln w="15240">
            <a:solidFill>
              <a:srgbClr val="DC2626"/>
            </a:solidFill>
            <a:prstDash val="solid"/>
          </a:ln>
        </p:spPr>
      </p:sp>
      <p:sp>
        <p:nvSpPr>
          <p:cNvPr id="31" name="Shape 28"/>
          <p:cNvSpPr/>
          <p:nvPr/>
        </p:nvSpPr>
        <p:spPr>
          <a:xfrm>
            <a:off x="5376672" y="3429000"/>
            <a:ext cx="475488" cy="475488"/>
          </a:xfrm>
          <a:prstGeom prst="ellipse">
            <a:avLst/>
          </a:prstGeom>
          <a:solidFill>
            <a:srgbClr val="D97706"/>
          </a:solidFill>
          <a:ln w="12700">
            <a:solidFill>
              <a:srgbClr val="D97706"/>
            </a:solidFill>
            <a:prstDash val="solid"/>
          </a:ln>
        </p:spPr>
      </p:sp>
      <p:sp>
        <p:nvSpPr>
          <p:cNvPr id="32" name="Text 29"/>
          <p:cNvSpPr/>
          <p:nvPr/>
        </p:nvSpPr>
        <p:spPr>
          <a:xfrm>
            <a:off x="5376672" y="3429000"/>
            <a:ext cx="475488" cy="475488"/>
          </a:xfrm>
          <a:prstGeom prst="rect">
            <a:avLst/>
          </a:prstGeom>
          <a:noFill/>
          <a:ln/>
        </p:spPr>
        <p:txBody>
          <a:bodyPr wrap="square" rtlCol="0" anchor="ctr"/>
          <a:lstStyle/>
          <a:p>
            <a:pPr algn="ctr" indent="0" marL="0">
              <a:buNone/>
            </a:pPr>
            <a:r>
              <a:rPr lang="en-US" sz="1560" b="1" dirty="0">
                <a:solidFill>
                  <a:srgbClr val="FFFFFF"/>
                </a:solidFill>
                <a:latin typeface="Arial" pitchFamily="34" charset="0"/>
                <a:ea typeface="Arial" pitchFamily="34" charset="-122"/>
                <a:cs typeface="Arial" pitchFamily="34" charset="-120"/>
              </a:rPr>
              <a:t>?</a:t>
            </a:r>
            <a:endParaRPr lang="en-US" sz="1560" dirty="0"/>
          </a:p>
        </p:txBody>
      </p:sp>
      <p:sp>
        <p:nvSpPr>
          <p:cNvPr id="33" name="Shape 30"/>
          <p:cNvSpPr/>
          <p:nvPr/>
        </p:nvSpPr>
        <p:spPr>
          <a:xfrm>
            <a:off x="8193024" y="3429000"/>
            <a:ext cx="475488" cy="475488"/>
          </a:xfrm>
          <a:prstGeom prst="ellipse">
            <a:avLst/>
          </a:prstGeom>
          <a:solidFill>
            <a:srgbClr val="FFFFFF"/>
          </a:solidFill>
          <a:ln w="22860">
            <a:solidFill>
              <a:srgbClr val="2563EB"/>
            </a:solidFill>
            <a:prstDash val="solid"/>
          </a:ln>
        </p:spPr>
      </p:sp>
      <p:sp>
        <p:nvSpPr>
          <p:cNvPr id="34" name="Shape 31"/>
          <p:cNvSpPr/>
          <p:nvPr/>
        </p:nvSpPr>
        <p:spPr>
          <a:xfrm>
            <a:off x="8430768" y="3520440"/>
            <a:ext cx="0" cy="146304"/>
          </a:xfrm>
          <a:prstGeom prst="line">
            <a:avLst/>
          </a:prstGeom>
          <a:noFill/>
          <a:ln w="22860">
            <a:solidFill>
              <a:srgbClr val="2563EB"/>
            </a:solidFill>
            <a:prstDash val="solid"/>
          </a:ln>
        </p:spPr>
      </p:sp>
      <p:sp>
        <p:nvSpPr>
          <p:cNvPr id="35" name="Shape 32"/>
          <p:cNvSpPr/>
          <p:nvPr/>
        </p:nvSpPr>
        <p:spPr>
          <a:xfrm>
            <a:off x="8430768" y="3666744"/>
            <a:ext cx="118872" cy="73152"/>
          </a:xfrm>
          <a:prstGeom prst="line">
            <a:avLst/>
          </a:prstGeom>
          <a:noFill/>
          <a:ln w="22860">
            <a:solidFill>
              <a:srgbClr val="2563EB"/>
            </a:solidFill>
            <a:prstDash val="solid"/>
          </a:ln>
        </p:spPr>
      </p:sp>
      <p:sp>
        <p:nvSpPr>
          <p:cNvPr id="36" name="Shape 33"/>
          <p:cNvSpPr/>
          <p:nvPr/>
        </p:nvSpPr>
        <p:spPr>
          <a:xfrm>
            <a:off x="11009376" y="3429000"/>
            <a:ext cx="347472" cy="347472"/>
          </a:xfrm>
          <a:prstGeom prst="ellipse">
            <a:avLst/>
          </a:prstGeom>
          <a:solidFill>
            <a:srgbClr val="FFFFFF"/>
          </a:solidFill>
          <a:ln w="27940">
            <a:solidFill>
              <a:srgbClr val="7C3AED"/>
            </a:solidFill>
            <a:prstDash val="solid"/>
          </a:ln>
        </p:spPr>
      </p:sp>
      <p:sp>
        <p:nvSpPr>
          <p:cNvPr id="37" name="Shape 34"/>
          <p:cNvSpPr/>
          <p:nvPr/>
        </p:nvSpPr>
        <p:spPr>
          <a:xfrm>
            <a:off x="11301984" y="3721608"/>
            <a:ext cx="164592" cy="164592"/>
          </a:xfrm>
          <a:prstGeom prst="line">
            <a:avLst/>
          </a:prstGeom>
          <a:noFill/>
          <a:ln w="38100">
            <a:solidFill>
              <a:srgbClr val="7C3AED"/>
            </a:solidFill>
            <a:prstDash val="solid"/>
          </a:ln>
        </p:spPr>
      </p:sp>
      <p:sp>
        <p:nvSpPr>
          <p:cNvPr id="38" name="Shape 35"/>
          <p:cNvSpPr/>
          <p:nvPr/>
        </p:nvSpPr>
        <p:spPr>
          <a:xfrm>
            <a:off x="548640" y="4343400"/>
            <a:ext cx="11091672" cy="1417320"/>
          </a:xfrm>
          <a:prstGeom prst="roundRect">
            <a:avLst>
              <a:gd name="adj" fmla="val 7742"/>
            </a:avLst>
          </a:prstGeom>
          <a:solidFill>
            <a:srgbClr val="EDE9FE"/>
          </a:solidFill>
          <a:ln w="12700">
            <a:solidFill>
              <a:srgbClr val="7C3AED"/>
            </a:solidFill>
            <a:prstDash val="solid"/>
          </a:ln>
        </p:spPr>
      </p:sp>
      <p:sp>
        <p:nvSpPr>
          <p:cNvPr id="39" name="Shape 36"/>
          <p:cNvSpPr/>
          <p:nvPr/>
        </p:nvSpPr>
        <p:spPr>
          <a:xfrm>
            <a:off x="1077278" y="4617720"/>
            <a:ext cx="96012" cy="96012"/>
          </a:xfrm>
          <a:prstGeom prst="ellipse">
            <a:avLst/>
          </a:prstGeom>
          <a:solidFill>
            <a:srgbClr val="E879F9"/>
          </a:solidFill>
          <a:ln w="12700">
            <a:solidFill>
              <a:srgbClr val="E879F9"/>
            </a:solidFill>
            <a:prstDash val="solid"/>
          </a:ln>
        </p:spPr>
      </p:sp>
      <p:sp>
        <p:nvSpPr>
          <p:cNvPr id="40" name="Shape 37"/>
          <p:cNvSpPr/>
          <p:nvPr/>
        </p:nvSpPr>
        <p:spPr>
          <a:xfrm>
            <a:off x="1227296" y="4557713"/>
            <a:ext cx="96012" cy="96012"/>
          </a:xfrm>
          <a:prstGeom prst="ellipse">
            <a:avLst/>
          </a:prstGeom>
          <a:solidFill>
            <a:srgbClr val="C084FC"/>
          </a:solidFill>
          <a:ln w="12700">
            <a:solidFill>
              <a:srgbClr val="C084FC"/>
            </a:solidFill>
            <a:prstDash val="solid"/>
          </a:ln>
        </p:spPr>
      </p:sp>
      <p:sp>
        <p:nvSpPr>
          <p:cNvPr id="41" name="Shape 38"/>
          <p:cNvSpPr/>
          <p:nvPr/>
        </p:nvSpPr>
        <p:spPr>
          <a:xfrm>
            <a:off x="1377315" y="4641723"/>
            <a:ext cx="96012" cy="96012"/>
          </a:xfrm>
          <a:prstGeom prst="ellipse">
            <a:avLst/>
          </a:prstGeom>
          <a:solidFill>
            <a:srgbClr val="A78BFA"/>
          </a:solidFill>
          <a:ln w="12700">
            <a:solidFill>
              <a:srgbClr val="A78BFA"/>
            </a:solidFill>
            <a:prstDash val="solid"/>
          </a:ln>
        </p:spPr>
      </p:sp>
      <p:sp>
        <p:nvSpPr>
          <p:cNvPr id="42" name="Shape 39"/>
          <p:cNvSpPr/>
          <p:nvPr/>
        </p:nvSpPr>
        <p:spPr>
          <a:xfrm>
            <a:off x="867251" y="4497705"/>
            <a:ext cx="780098" cy="780098"/>
          </a:xfrm>
          <a:prstGeom prst="chord">
            <a:avLst>
              <a:gd name="adj1" fmla="val 0"/>
              <a:gd name="adj2" fmla="val 10800000"/>
            </a:avLst>
          </a:prstGeom>
          <a:solidFill>
            <a:srgbClr val="EDE9FE"/>
          </a:solidFill>
          <a:ln w="38100">
            <a:solidFill>
              <a:srgbClr val="A855F7"/>
            </a:solidFill>
            <a:prstDash val="solid"/>
          </a:ln>
        </p:spPr>
      </p:sp>
      <p:sp>
        <p:nvSpPr>
          <p:cNvPr id="43" name="Shape 40"/>
          <p:cNvSpPr/>
          <p:nvPr/>
        </p:nvSpPr>
        <p:spPr>
          <a:xfrm>
            <a:off x="997468" y="4887754"/>
            <a:ext cx="0" cy="96012"/>
          </a:xfrm>
          <a:prstGeom prst="line">
            <a:avLst/>
          </a:prstGeom>
          <a:noFill/>
          <a:ln w="12700">
            <a:solidFill>
              <a:srgbClr val="A78BFA"/>
            </a:solidFill>
            <a:prstDash val="solid"/>
          </a:ln>
        </p:spPr>
      </p:sp>
      <p:sp>
        <p:nvSpPr>
          <p:cNvPr id="44" name="Shape 41"/>
          <p:cNvSpPr/>
          <p:nvPr/>
        </p:nvSpPr>
        <p:spPr>
          <a:xfrm>
            <a:off x="1127684" y="4887754"/>
            <a:ext cx="0" cy="144018"/>
          </a:xfrm>
          <a:prstGeom prst="line">
            <a:avLst/>
          </a:prstGeom>
          <a:noFill/>
          <a:ln w="12700">
            <a:solidFill>
              <a:srgbClr val="A78BFA"/>
            </a:solidFill>
            <a:prstDash val="solid"/>
          </a:ln>
        </p:spPr>
      </p:sp>
      <p:sp>
        <p:nvSpPr>
          <p:cNvPr id="45" name="Shape 42"/>
          <p:cNvSpPr/>
          <p:nvPr/>
        </p:nvSpPr>
        <p:spPr>
          <a:xfrm>
            <a:off x="1257900" y="4887754"/>
            <a:ext cx="0" cy="192024"/>
          </a:xfrm>
          <a:prstGeom prst="line">
            <a:avLst/>
          </a:prstGeom>
          <a:noFill/>
          <a:ln w="12700">
            <a:solidFill>
              <a:srgbClr val="A78BFA"/>
            </a:solidFill>
            <a:prstDash val="solid"/>
          </a:ln>
        </p:spPr>
      </p:sp>
      <p:sp>
        <p:nvSpPr>
          <p:cNvPr id="46" name="Shape 43"/>
          <p:cNvSpPr/>
          <p:nvPr/>
        </p:nvSpPr>
        <p:spPr>
          <a:xfrm>
            <a:off x="1388116" y="4887754"/>
            <a:ext cx="0" cy="144018"/>
          </a:xfrm>
          <a:prstGeom prst="line">
            <a:avLst/>
          </a:prstGeom>
          <a:noFill/>
          <a:ln w="12700">
            <a:solidFill>
              <a:srgbClr val="A78BFA"/>
            </a:solidFill>
            <a:prstDash val="solid"/>
          </a:ln>
        </p:spPr>
      </p:sp>
      <p:sp>
        <p:nvSpPr>
          <p:cNvPr id="47" name="Shape 44"/>
          <p:cNvSpPr/>
          <p:nvPr/>
        </p:nvSpPr>
        <p:spPr>
          <a:xfrm>
            <a:off x="1518333" y="4887754"/>
            <a:ext cx="0" cy="96012"/>
          </a:xfrm>
          <a:prstGeom prst="line">
            <a:avLst/>
          </a:prstGeom>
          <a:noFill/>
          <a:ln w="12700">
            <a:solidFill>
              <a:srgbClr val="A78BFA"/>
            </a:solidFill>
            <a:prstDash val="solid"/>
          </a:ln>
        </p:spPr>
      </p:sp>
      <p:sp>
        <p:nvSpPr>
          <p:cNvPr id="48" name="Shape 45"/>
          <p:cNvSpPr/>
          <p:nvPr/>
        </p:nvSpPr>
        <p:spPr>
          <a:xfrm>
            <a:off x="807244" y="4887754"/>
            <a:ext cx="900113" cy="0"/>
          </a:xfrm>
          <a:prstGeom prst="line">
            <a:avLst/>
          </a:prstGeom>
          <a:noFill/>
          <a:ln w="50800">
            <a:solidFill>
              <a:srgbClr val="C084FC"/>
            </a:solidFill>
            <a:prstDash val="solid"/>
          </a:ln>
        </p:spPr>
      </p:sp>
      <p:sp>
        <p:nvSpPr>
          <p:cNvPr id="49" name="Shape 46"/>
          <p:cNvSpPr/>
          <p:nvPr/>
        </p:nvSpPr>
        <p:spPr>
          <a:xfrm>
            <a:off x="1149287" y="5337810"/>
            <a:ext cx="84011" cy="84011"/>
          </a:xfrm>
          <a:prstGeom prst="line">
            <a:avLst/>
          </a:prstGeom>
          <a:noFill/>
          <a:ln w="63500">
            <a:solidFill>
              <a:srgbClr val="34D399"/>
            </a:solidFill>
            <a:prstDash val="solid"/>
          </a:ln>
        </p:spPr>
      </p:sp>
      <p:sp>
        <p:nvSpPr>
          <p:cNvPr id="50" name="Shape 47"/>
          <p:cNvSpPr/>
          <p:nvPr/>
        </p:nvSpPr>
        <p:spPr>
          <a:xfrm flipV="1">
            <a:off x="1233297" y="5241798"/>
            <a:ext cx="168021" cy="180023"/>
          </a:xfrm>
          <a:prstGeom prst="line">
            <a:avLst/>
          </a:prstGeom>
          <a:noFill/>
          <a:ln w="63500">
            <a:solidFill>
              <a:srgbClr val="34D399"/>
            </a:solidFill>
            <a:prstDash val="solid"/>
          </a:ln>
        </p:spPr>
      </p:sp>
      <p:sp>
        <p:nvSpPr>
          <p:cNvPr id="51" name="Text 48"/>
          <p:cNvSpPr/>
          <p:nvPr/>
        </p:nvSpPr>
        <p:spPr>
          <a:xfrm>
            <a:off x="2011680" y="4434840"/>
            <a:ext cx="9509760" cy="1280160"/>
          </a:xfrm>
          <a:prstGeom prst="rect">
            <a:avLst/>
          </a:prstGeom>
          <a:noFill/>
          <a:ln/>
        </p:spPr>
        <p:txBody>
          <a:bodyPr wrap="square" rtlCol="0" anchor="ctr"/>
          <a:lstStyle/>
          <a:p>
            <a:pPr indent="0" marL="0">
              <a:buNone/>
            </a:pPr>
            <a:r>
              <a:rPr lang="en-US" sz="1300" b="1" dirty="0">
                <a:solidFill>
                  <a:srgbClr val="7C3AED"/>
                </a:solidFill>
                <a:latin typeface="Arial" pitchFamily="34" charset="0"/>
                <a:ea typeface="Arial" pitchFamily="34" charset="-122"/>
                <a:cs typeface="Arial" pitchFamily="34" charset="-120"/>
              </a:rPr>
              <a:t>What Vaglio changes</a:t>
            </a:r>
            <a:endParaRPr lang="en-US" sz="1100" dirty="0"/>
          </a:p>
          <a:p>
            <a:pPr indent="0" marL="0">
              <a:buNone/>
            </a:pPr>
            <a:r>
              <a:rPr lang="en-US" sz="1100" b="1" dirty="0">
                <a:solidFill>
                  <a:srgbClr val="0F172A"/>
                </a:solidFill>
                <a:latin typeface="Arial" pitchFamily="34" charset="0"/>
                <a:ea typeface="Arial" pitchFamily="34" charset="-122"/>
                <a:cs typeface="Arial" pitchFamily="34" charset="-120"/>
              </a:rPr>
              <a:t>It never treats a missing fact as a “no”. </a:t>
            </a:r>
            <a:pPr indent="0" marL="0">
              <a:buNone/>
            </a:pPr>
            <a:r>
              <a:rPr lang="en-US" sz="1100" dirty="0">
                <a:solidFill>
                  <a:srgbClr val="475569"/>
                </a:solidFill>
                <a:latin typeface="Arial" pitchFamily="34" charset="0"/>
                <a:ea typeface="Arial" pitchFamily="34" charset="-122"/>
                <a:cs typeface="Arial" pitchFamily="34" charset="-120"/>
              </a:rPr>
              <a:t>Every answer comes with a proof that quotes the plan's own rule and points to the exact place in the record. </a:t>
            </a:r>
            <a:pPr indent="0" marL="0">
              <a:buNone/>
            </a:pPr>
            <a:r>
              <a:rPr lang="en-US" sz="1100" dirty="0">
                <a:solidFill>
                  <a:srgbClr val="475569"/>
                </a:solidFill>
                <a:latin typeface="Arial" pitchFamily="34" charset="0"/>
                <a:ea typeface="Arial" pitchFamily="34" charset="-122"/>
                <a:cs typeface="Arial" pitchFamily="34" charset="-120"/>
              </a:rPr>
              <a:t>Every pend names what is needed, and every denial says what would turn it into an approval. </a:t>
            </a:r>
            <a:pPr indent="0" marL="0">
              <a:buNone/>
            </a:pPr>
            <a:r>
              <a:rPr lang="en-US" sz="1100" dirty="0">
                <a:solidFill>
                  <a:srgbClr val="475569"/>
                </a:solidFill>
                <a:latin typeface="Arial" pitchFamily="34" charset="0"/>
                <a:ea typeface="Arial" pitchFamily="34" charset="-122"/>
                <a:cs typeface="Arial" pitchFamily="34" charset="-120"/>
              </a:rPr>
              <a:t>Every decision is kept, so it can be checked, explained and replayed.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THE IDEA</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Vaglio's one rule</a:t>
            </a:r>
            <a:endParaRPr lang="en-US" sz="2400" dirty="0"/>
          </a:p>
        </p:txBody>
      </p:sp>
      <p:pic>
        <p:nvPicPr>
          <p:cNvPr id="6"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7" name="Shape 4"/>
          <p:cNvSpPr/>
          <p:nvPr/>
        </p:nvSpPr>
        <p:spPr>
          <a:xfrm>
            <a:off x="548640" y="6419088"/>
            <a:ext cx="11091672" cy="0"/>
          </a:xfrm>
          <a:prstGeom prst="line">
            <a:avLst/>
          </a:prstGeom>
          <a:noFill/>
          <a:ln w="9525">
            <a:solidFill>
              <a:srgbClr val="CBD5E1"/>
            </a:solidFill>
            <a:prstDash val="solid"/>
          </a:ln>
        </p:spPr>
      </p:sp>
      <p:sp>
        <p:nvSpPr>
          <p:cNvPr id="8" name="Text 5"/>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9" name="Text 6"/>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4 / 18</a:t>
            </a:r>
            <a:endParaRPr lang="en-US" sz="800" dirty="0"/>
          </a:p>
        </p:txBody>
      </p:sp>
      <p:sp>
        <p:nvSpPr>
          <p:cNvPr id="10" name="Shape 7"/>
          <p:cNvSpPr/>
          <p:nvPr/>
        </p:nvSpPr>
        <p:spPr>
          <a:xfrm>
            <a:off x="548640" y="1143000"/>
            <a:ext cx="11091672" cy="914400"/>
          </a:xfrm>
          <a:prstGeom prst="roundRect">
            <a:avLst>
              <a:gd name="adj" fmla="val 12000"/>
            </a:avLst>
          </a:prstGeom>
          <a:solidFill>
            <a:srgbClr val="0B1220"/>
          </a:solidFill>
          <a:ln w="12700">
            <a:solidFill>
              <a:srgbClr val="0B1220"/>
            </a:solidFill>
            <a:prstDash val="solid"/>
          </a:ln>
        </p:spPr>
      </p:sp>
      <p:sp>
        <p:nvSpPr>
          <p:cNvPr id="11" name="Text 8"/>
          <p:cNvSpPr/>
          <p:nvPr/>
        </p:nvSpPr>
        <p:spPr>
          <a:xfrm>
            <a:off x="731520" y="1143000"/>
            <a:ext cx="10698480" cy="914400"/>
          </a:xfrm>
          <a:prstGeom prst="rect">
            <a:avLst/>
          </a:prstGeom>
          <a:noFill/>
          <a:ln/>
        </p:spPr>
        <p:txBody>
          <a:bodyPr wrap="square" rtlCol="0" anchor="ctr"/>
          <a:lstStyle/>
          <a:p>
            <a:pPr algn="ctr" indent="0" marL="0">
              <a:buNone/>
            </a:pPr>
            <a:r>
              <a:rPr lang="en-US" sz="2200" dirty="0">
                <a:solidFill>
                  <a:srgbClr val="F5F3FF"/>
                </a:solidFill>
                <a:latin typeface="Arial" pitchFamily="34" charset="0"/>
                <a:ea typeface="Arial" pitchFamily="34" charset="-122"/>
                <a:cs typeface="Arial" pitchFamily="34" charset="-120"/>
              </a:rPr>
              <a:t>A denial may rest on </a:t>
            </a:r>
            <a:pPr algn="ctr" indent="0" marL="0">
              <a:buNone/>
            </a:pPr>
            <a:r>
              <a:rPr lang="en-US" sz="2200" b="1" dirty="0">
                <a:solidFill>
                  <a:srgbClr val="6EE7B7"/>
                </a:solidFill>
                <a:latin typeface="Arial" pitchFamily="34" charset="0"/>
                <a:ea typeface="Arial" pitchFamily="34" charset="-122"/>
                <a:cs typeface="Arial" pitchFamily="34" charset="-120"/>
              </a:rPr>
              <a:t>evidence of absence</a:t>
            </a:r>
            <a:pPr algn="ctr" indent="0" marL="0">
              <a:buNone/>
            </a:pPr>
            <a:r>
              <a:rPr lang="en-US" sz="2200" dirty="0">
                <a:solidFill>
                  <a:srgbClr val="F5F3FF"/>
                </a:solidFill>
                <a:latin typeface="Arial" pitchFamily="34" charset="0"/>
                <a:ea typeface="Arial" pitchFamily="34" charset="-122"/>
                <a:cs typeface="Arial" pitchFamily="34" charset="-120"/>
              </a:rPr>
              <a:t>, never on </a:t>
            </a:r>
            <a:pPr algn="ctr" indent="0" marL="0">
              <a:buNone/>
            </a:pPr>
            <a:r>
              <a:rPr lang="en-US" sz="2200" b="1" dirty="0">
                <a:solidFill>
                  <a:srgbClr val="FCA5A5"/>
                </a:solidFill>
                <a:latin typeface="Arial" pitchFamily="34" charset="0"/>
                <a:ea typeface="Arial" pitchFamily="34" charset="-122"/>
                <a:cs typeface="Arial" pitchFamily="34" charset="-120"/>
              </a:rPr>
              <a:t>absence of evidence</a:t>
            </a:r>
            <a:pPr algn="ctr" indent="0" marL="0">
              <a:buNone/>
            </a:pPr>
            <a:r>
              <a:rPr lang="en-US" sz="2200" dirty="0">
                <a:solidFill>
                  <a:srgbClr val="F5F3FF"/>
                </a:solidFill>
                <a:latin typeface="Arial" pitchFamily="34" charset="0"/>
                <a:ea typeface="Arial" pitchFamily="34" charset="-122"/>
                <a:cs typeface="Arial" pitchFamily="34" charset="-120"/>
              </a:rPr>
              <a:t>.</a:t>
            </a:r>
            <a:endParaRPr lang="en-US" sz="2200" dirty="0"/>
          </a:p>
        </p:txBody>
      </p:sp>
      <p:sp>
        <p:nvSpPr>
          <p:cNvPr id="12" name="Shape 9"/>
          <p:cNvSpPr/>
          <p:nvPr/>
        </p:nvSpPr>
        <p:spPr>
          <a:xfrm>
            <a:off x="548640" y="2331720"/>
            <a:ext cx="5394960" cy="3383280"/>
          </a:xfrm>
          <a:prstGeom prst="roundRect">
            <a:avLst>
              <a:gd name="adj" fmla="val 3243"/>
            </a:avLst>
          </a:prstGeom>
          <a:solidFill>
            <a:srgbClr val="FFFFFF"/>
          </a:solidFill>
          <a:ln w="19050">
            <a:solidFill>
              <a:srgbClr val="DC2626"/>
            </a:solidFill>
            <a:prstDash val="solid"/>
          </a:ln>
        </p:spPr>
      </p:sp>
      <p:sp>
        <p:nvSpPr>
          <p:cNvPr id="13" name="Text 10"/>
          <p:cNvSpPr/>
          <p:nvPr/>
        </p:nvSpPr>
        <p:spPr>
          <a:xfrm>
            <a:off x="777240" y="2423160"/>
            <a:ext cx="4937760" cy="411480"/>
          </a:xfrm>
          <a:prstGeom prst="rect">
            <a:avLst/>
          </a:prstGeom>
          <a:noFill/>
          <a:ln/>
        </p:spPr>
        <p:txBody>
          <a:bodyPr wrap="square" rtlCol="0" anchor="ctr"/>
          <a:lstStyle/>
          <a:p>
            <a:pPr indent="0" marL="0">
              <a:buNone/>
            </a:pPr>
            <a:r>
              <a:rPr lang="en-US" sz="1400" b="1" dirty="0">
                <a:solidFill>
                  <a:srgbClr val="DC2626"/>
                </a:solidFill>
                <a:latin typeface="Arial" pitchFamily="34" charset="0"/>
                <a:ea typeface="Arial" pitchFamily="34" charset="-122"/>
                <a:cs typeface="Arial" pitchFamily="34" charset="-120"/>
              </a:rPr>
              <a:t>The record says “no”</a:t>
            </a:r>
            <a:endParaRPr lang="en-US" sz="1400" dirty="0"/>
          </a:p>
        </p:txBody>
      </p:sp>
      <p:sp>
        <p:nvSpPr>
          <p:cNvPr id="14" name="Shape 11"/>
          <p:cNvSpPr/>
          <p:nvPr/>
        </p:nvSpPr>
        <p:spPr>
          <a:xfrm>
            <a:off x="822960" y="2926080"/>
            <a:ext cx="2194560" cy="1920240"/>
          </a:xfrm>
          <a:prstGeom prst="folderCorner">
            <a:avLst/>
          </a:prstGeom>
          <a:solidFill>
            <a:srgbClr val="FEE2E2"/>
          </a:solidFill>
          <a:ln w="12700">
            <a:solidFill>
              <a:srgbClr val="DC2626"/>
            </a:solidFill>
            <a:prstDash val="solid"/>
          </a:ln>
        </p:spPr>
      </p:sp>
      <p:sp>
        <p:nvSpPr>
          <p:cNvPr id="15" name="Text 12"/>
          <p:cNvSpPr/>
          <p:nvPr/>
        </p:nvSpPr>
        <p:spPr>
          <a:xfrm>
            <a:off x="914400" y="2999232"/>
            <a:ext cx="2011680" cy="274320"/>
          </a:xfrm>
          <a:prstGeom prst="rect">
            <a:avLst/>
          </a:prstGeom>
          <a:noFill/>
          <a:ln/>
        </p:spPr>
        <p:txBody>
          <a:bodyPr wrap="square" rtlCol="0" anchor="ctr"/>
          <a:lstStyle/>
          <a:p>
            <a:pPr indent="0" marL="0">
              <a:buNone/>
            </a:pPr>
            <a:r>
              <a:rPr lang="en-US" sz="900" b="1" dirty="0">
                <a:solidFill>
                  <a:srgbClr val="DC2626"/>
                </a:solidFill>
                <a:latin typeface="Arial" pitchFamily="34" charset="0"/>
                <a:ea typeface="Arial" pitchFamily="34" charset="-122"/>
                <a:cs typeface="Arial" pitchFamily="34" charset="-120"/>
              </a:rPr>
              <a:t>The record</a:t>
            </a:r>
            <a:endParaRPr lang="en-US" sz="900" dirty="0"/>
          </a:p>
        </p:txBody>
      </p:sp>
      <p:sp>
        <p:nvSpPr>
          <p:cNvPr id="16" name="Shape 13"/>
          <p:cNvSpPr/>
          <p:nvPr/>
        </p:nvSpPr>
        <p:spPr>
          <a:xfrm>
            <a:off x="960120" y="3337560"/>
            <a:ext cx="1920240" cy="1325880"/>
          </a:xfrm>
          <a:prstGeom prst="rect">
            <a:avLst/>
          </a:prstGeom>
          <a:solidFill>
            <a:srgbClr val="FFFFFF"/>
          </a:solidFill>
          <a:ln w="12700">
            <a:solidFill>
              <a:srgbClr val="CBD5E1"/>
            </a:solidFill>
            <a:prstDash val="solid"/>
          </a:ln>
        </p:spPr>
      </p:sp>
      <p:sp>
        <p:nvSpPr>
          <p:cNvPr id="17" name="Text 14"/>
          <p:cNvSpPr/>
          <p:nvPr/>
        </p:nvSpPr>
        <p:spPr>
          <a:xfrm>
            <a:off x="1024128" y="3383280"/>
            <a:ext cx="1783080" cy="685800"/>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Red-flag symptoms, such as numbness or loss of bladder control?</a:t>
            </a:r>
            <a:endParaRPr lang="en-US" sz="900" dirty="0"/>
          </a:p>
        </p:txBody>
      </p:sp>
      <p:sp>
        <p:nvSpPr>
          <p:cNvPr id="18" name="Text 15"/>
          <p:cNvSpPr/>
          <p:nvPr/>
        </p:nvSpPr>
        <p:spPr>
          <a:xfrm>
            <a:off x="1024128" y="4069080"/>
            <a:ext cx="1783080" cy="502920"/>
          </a:xfrm>
          <a:prstGeom prst="rect">
            <a:avLst/>
          </a:prstGeom>
          <a:noFill/>
          <a:ln/>
        </p:spPr>
        <p:txBody>
          <a:bodyPr wrap="square" rtlCol="0" anchor="ctr"/>
          <a:lstStyle/>
          <a:p>
            <a:pPr indent="0" marL="0">
              <a:buNone/>
            </a:pPr>
            <a:r>
              <a:rPr lang="en-US" sz="1100" b="1" dirty="0">
                <a:solidFill>
                  <a:srgbClr val="DC2626"/>
                </a:solidFill>
                <a:latin typeface="Arial" pitchFamily="34" charset="0"/>
                <a:ea typeface="Arial" pitchFamily="34" charset="-122"/>
                <a:cs typeface="Arial" pitchFamily="34" charset="-120"/>
              </a:rPr>
              <a:t>Doctor answered: No</a:t>
            </a:r>
            <a:endParaRPr lang="en-US" sz="1100" dirty="0"/>
          </a:p>
        </p:txBody>
      </p:sp>
      <p:sp>
        <p:nvSpPr>
          <p:cNvPr id="19" name="Shape 16"/>
          <p:cNvSpPr/>
          <p:nvPr/>
        </p:nvSpPr>
        <p:spPr>
          <a:xfrm>
            <a:off x="3108960" y="3886200"/>
            <a:ext cx="502920" cy="0"/>
          </a:xfrm>
          <a:prstGeom prst="line">
            <a:avLst/>
          </a:prstGeom>
          <a:noFill/>
          <a:ln w="31750">
            <a:solidFill>
              <a:srgbClr val="DC2626"/>
            </a:solidFill>
            <a:prstDash val="solid"/>
            <a:tailEnd type="triangle"/>
          </a:ln>
        </p:spPr>
      </p:sp>
      <p:sp>
        <p:nvSpPr>
          <p:cNvPr id="20" name="Shape 17"/>
          <p:cNvSpPr/>
          <p:nvPr/>
        </p:nvSpPr>
        <p:spPr>
          <a:xfrm>
            <a:off x="3657600" y="3200400"/>
            <a:ext cx="2103120" cy="1371600"/>
          </a:xfrm>
          <a:prstGeom prst="roundRect">
            <a:avLst>
              <a:gd name="adj" fmla="val 6667"/>
            </a:avLst>
          </a:prstGeom>
          <a:solidFill>
            <a:srgbClr val="FEE2E2"/>
          </a:solidFill>
          <a:ln w="12700">
            <a:solidFill>
              <a:srgbClr val="DC2626"/>
            </a:solidFill>
            <a:prstDash val="solid"/>
          </a:ln>
        </p:spPr>
      </p:sp>
      <p:sp>
        <p:nvSpPr>
          <p:cNvPr id="21" name="Text 18"/>
          <p:cNvSpPr/>
          <p:nvPr/>
        </p:nvSpPr>
        <p:spPr>
          <a:xfrm>
            <a:off x="3730752" y="3246120"/>
            <a:ext cx="1965960" cy="1280160"/>
          </a:xfrm>
          <a:prstGeom prst="rect">
            <a:avLst/>
          </a:prstGeom>
          <a:noFill/>
          <a:ln/>
        </p:spPr>
        <p:txBody>
          <a:bodyPr wrap="square" rtlCol="0" anchor="ctr"/>
          <a:lstStyle/>
          <a:p>
            <a:pPr algn="ctr" indent="0" marL="0">
              <a:buNone/>
            </a:pPr>
            <a:r>
              <a:rPr lang="en-US" sz="1050" b="1" dirty="0">
                <a:solidFill>
                  <a:srgbClr val="DC2626"/>
                </a:solidFill>
                <a:latin typeface="Arial" pitchFamily="34" charset="0"/>
                <a:ea typeface="Arial" pitchFamily="34" charset="-122"/>
                <a:cs typeface="Arial" pitchFamily="34" charset="-120"/>
              </a:rPr>
              <a:t>Vaglio may deny, and cites that answer</a:t>
            </a:r>
            <a:endParaRPr lang="en-US" sz="1050" dirty="0"/>
          </a:p>
        </p:txBody>
      </p:sp>
      <p:sp>
        <p:nvSpPr>
          <p:cNvPr id="22" name="Text 19"/>
          <p:cNvSpPr/>
          <p:nvPr/>
        </p:nvSpPr>
        <p:spPr>
          <a:xfrm>
            <a:off x="822960" y="4937760"/>
            <a:ext cx="4937760" cy="731520"/>
          </a:xfrm>
          <a:prstGeom prst="rect">
            <a:avLst/>
          </a:prstGeom>
          <a:noFill/>
          <a:ln/>
        </p:spPr>
        <p:txBody>
          <a:bodyPr wrap="square" rtlCol="0" anchor="t"/>
          <a:lstStyle/>
          <a:p>
            <a:pPr indent="0" marL="0">
              <a:buNone/>
            </a:pPr>
            <a:r>
              <a:rPr lang="en-US" sz="1000" dirty="0">
                <a:solidFill>
                  <a:srgbClr val="475569"/>
                </a:solidFill>
                <a:latin typeface="Arial" pitchFamily="34" charset="0"/>
                <a:ea typeface="Arial" pitchFamily="34" charset="-122"/>
                <a:cs typeface="Arial" pitchFamily="34" charset="-120"/>
              </a:rPr>
              <a:t>The doctor has told the plan the patient does not have the symptom. That is evidence, and a denial can rest on it: Vaglio quotes the rule and points to the answer.</a:t>
            </a:r>
            <a:endParaRPr lang="en-US" sz="1000" dirty="0"/>
          </a:p>
        </p:txBody>
      </p:sp>
      <p:sp>
        <p:nvSpPr>
          <p:cNvPr id="23" name="Shape 20"/>
          <p:cNvSpPr/>
          <p:nvPr/>
        </p:nvSpPr>
        <p:spPr>
          <a:xfrm>
            <a:off x="6245352" y="2331720"/>
            <a:ext cx="5394960" cy="3383280"/>
          </a:xfrm>
          <a:prstGeom prst="roundRect">
            <a:avLst>
              <a:gd name="adj" fmla="val 3243"/>
            </a:avLst>
          </a:prstGeom>
          <a:solidFill>
            <a:srgbClr val="FFFFFF"/>
          </a:solidFill>
          <a:ln w="19050">
            <a:solidFill>
              <a:srgbClr val="D97706"/>
            </a:solidFill>
            <a:prstDash val="solid"/>
          </a:ln>
        </p:spPr>
      </p:sp>
      <p:sp>
        <p:nvSpPr>
          <p:cNvPr id="24" name="Text 21"/>
          <p:cNvSpPr/>
          <p:nvPr/>
        </p:nvSpPr>
        <p:spPr>
          <a:xfrm>
            <a:off x="6473952" y="2423160"/>
            <a:ext cx="4937760" cy="41148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The record says nothing</a:t>
            </a:r>
            <a:endParaRPr lang="en-US" sz="1400" dirty="0"/>
          </a:p>
        </p:txBody>
      </p:sp>
      <p:sp>
        <p:nvSpPr>
          <p:cNvPr id="25" name="Shape 22"/>
          <p:cNvSpPr/>
          <p:nvPr/>
        </p:nvSpPr>
        <p:spPr>
          <a:xfrm>
            <a:off x="6519672" y="2926080"/>
            <a:ext cx="2194560" cy="1920240"/>
          </a:xfrm>
          <a:prstGeom prst="folderCorner">
            <a:avLst/>
          </a:prstGeom>
          <a:solidFill>
            <a:srgbClr val="FEF3C7"/>
          </a:solidFill>
          <a:ln w="12700">
            <a:solidFill>
              <a:srgbClr val="D97706"/>
            </a:solidFill>
            <a:prstDash val="solid"/>
          </a:ln>
        </p:spPr>
      </p:sp>
      <p:sp>
        <p:nvSpPr>
          <p:cNvPr id="26" name="Text 23"/>
          <p:cNvSpPr/>
          <p:nvPr/>
        </p:nvSpPr>
        <p:spPr>
          <a:xfrm>
            <a:off x="6611112" y="2999232"/>
            <a:ext cx="2011680" cy="274320"/>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The record</a:t>
            </a:r>
            <a:endParaRPr lang="en-US" sz="900" dirty="0"/>
          </a:p>
        </p:txBody>
      </p:sp>
      <p:sp>
        <p:nvSpPr>
          <p:cNvPr id="27" name="Shape 24"/>
          <p:cNvSpPr/>
          <p:nvPr/>
        </p:nvSpPr>
        <p:spPr>
          <a:xfrm>
            <a:off x="6656832" y="3337560"/>
            <a:ext cx="1920240" cy="1325880"/>
          </a:xfrm>
          <a:prstGeom prst="rect">
            <a:avLst/>
          </a:prstGeom>
          <a:solidFill>
            <a:srgbClr val="FFFFFF"/>
          </a:solidFill>
          <a:ln w="12700">
            <a:solidFill>
              <a:srgbClr val="CBD5E1"/>
            </a:solidFill>
            <a:prstDash val="solid"/>
          </a:ln>
        </p:spPr>
      </p:sp>
      <p:sp>
        <p:nvSpPr>
          <p:cNvPr id="28" name="Text 25"/>
          <p:cNvSpPr/>
          <p:nvPr/>
        </p:nvSpPr>
        <p:spPr>
          <a:xfrm>
            <a:off x="6720840" y="3383280"/>
            <a:ext cx="1783080" cy="685800"/>
          </a:xfrm>
          <a:prstGeom prst="rect">
            <a:avLst/>
          </a:prstGeom>
          <a:noFill/>
          <a:ln/>
        </p:spPr>
        <p:txBody>
          <a:bodyPr wrap="square" rtlCol="0" anchor="ctr"/>
          <a:lstStyle/>
          <a:p>
            <a:pPr indent="0" marL="0">
              <a:buNone/>
            </a:pPr>
            <a:r>
              <a:rPr lang="en-US" sz="900" dirty="0">
                <a:solidFill>
                  <a:srgbClr val="0F172A"/>
                </a:solidFill>
                <a:latin typeface="Arial" pitchFamily="34" charset="0"/>
                <a:ea typeface="Arial" pitchFamily="34" charset="-122"/>
                <a:cs typeface="Arial" pitchFamily="34" charset="-120"/>
              </a:rPr>
              <a:t>Red-flag symptoms, such as numbness or loss of bladder control?</a:t>
            </a:r>
            <a:endParaRPr lang="en-US" sz="900" dirty="0"/>
          </a:p>
        </p:txBody>
      </p:sp>
      <p:sp>
        <p:nvSpPr>
          <p:cNvPr id="29" name="Text 26"/>
          <p:cNvSpPr/>
          <p:nvPr/>
        </p:nvSpPr>
        <p:spPr>
          <a:xfrm>
            <a:off x="6720840" y="4069080"/>
            <a:ext cx="1783080" cy="502920"/>
          </a:xfrm>
          <a:prstGeom prst="rect">
            <a:avLst/>
          </a:prstGeom>
          <a:noFill/>
          <a:ln/>
        </p:spPr>
        <p:txBody>
          <a:bodyPr wrap="square" rtlCol="0" anchor="ctr"/>
          <a:lstStyle/>
          <a:p>
            <a:pPr indent="0" marL="0">
              <a:buNone/>
            </a:pPr>
            <a:r>
              <a:rPr lang="en-US" sz="1100" b="1" dirty="0">
                <a:solidFill>
                  <a:srgbClr val="94A3B8"/>
                </a:solidFill>
                <a:latin typeface="Arial" pitchFamily="34" charset="0"/>
                <a:ea typeface="Arial" pitchFamily="34" charset="-122"/>
                <a:cs typeface="Arial" pitchFamily="34" charset="-120"/>
              </a:rPr>
              <a:t>(not answered)</a:t>
            </a:r>
            <a:endParaRPr lang="en-US" sz="1100" dirty="0"/>
          </a:p>
        </p:txBody>
      </p:sp>
      <p:sp>
        <p:nvSpPr>
          <p:cNvPr id="30" name="Shape 27"/>
          <p:cNvSpPr/>
          <p:nvPr/>
        </p:nvSpPr>
        <p:spPr>
          <a:xfrm>
            <a:off x="8805672" y="3886200"/>
            <a:ext cx="502920" cy="0"/>
          </a:xfrm>
          <a:prstGeom prst="line">
            <a:avLst/>
          </a:prstGeom>
          <a:noFill/>
          <a:ln w="31750">
            <a:solidFill>
              <a:srgbClr val="D97706"/>
            </a:solidFill>
            <a:prstDash val="solid"/>
            <a:tailEnd type="triangle"/>
          </a:ln>
        </p:spPr>
      </p:sp>
      <p:sp>
        <p:nvSpPr>
          <p:cNvPr id="31" name="Shape 28"/>
          <p:cNvSpPr/>
          <p:nvPr/>
        </p:nvSpPr>
        <p:spPr>
          <a:xfrm>
            <a:off x="9354312" y="3200400"/>
            <a:ext cx="2103120" cy="1371600"/>
          </a:xfrm>
          <a:prstGeom prst="roundRect">
            <a:avLst>
              <a:gd name="adj" fmla="val 6667"/>
            </a:avLst>
          </a:prstGeom>
          <a:solidFill>
            <a:srgbClr val="FEF3C7"/>
          </a:solidFill>
          <a:ln w="12700">
            <a:solidFill>
              <a:srgbClr val="D97706"/>
            </a:solidFill>
            <a:prstDash val="solid"/>
          </a:ln>
        </p:spPr>
      </p:sp>
      <p:sp>
        <p:nvSpPr>
          <p:cNvPr id="32" name="Text 29"/>
          <p:cNvSpPr/>
          <p:nvPr/>
        </p:nvSpPr>
        <p:spPr>
          <a:xfrm>
            <a:off x="9427464" y="3246120"/>
            <a:ext cx="1965960" cy="1280160"/>
          </a:xfrm>
          <a:prstGeom prst="rect">
            <a:avLst/>
          </a:prstGeom>
          <a:noFill/>
          <a:ln/>
        </p:spPr>
        <p:txBody>
          <a:bodyPr wrap="square" rtlCol="0" anchor="ctr"/>
          <a:lstStyle/>
          <a:p>
            <a:pPr algn="ctr" indent="0" marL="0">
              <a:buNone/>
            </a:pPr>
            <a:r>
              <a:rPr lang="en-US" sz="1050" b="1" dirty="0">
                <a:solidFill>
                  <a:srgbClr val="D97706"/>
                </a:solidFill>
                <a:latin typeface="Arial" pitchFamily="34" charset="0"/>
                <a:ea typeface="Arial" pitchFamily="34" charset="-122"/>
                <a:cs typeface="Arial" pitchFamily="34" charset="-120"/>
              </a:rPr>
              <a:t>Vaglio asks for it, by name</a:t>
            </a:r>
            <a:endParaRPr lang="en-US" sz="1050" dirty="0"/>
          </a:p>
        </p:txBody>
      </p:sp>
      <p:sp>
        <p:nvSpPr>
          <p:cNvPr id="33" name="Text 30"/>
          <p:cNvSpPr/>
          <p:nvPr/>
        </p:nvSpPr>
        <p:spPr>
          <a:xfrm>
            <a:off x="6519672" y="4937760"/>
            <a:ext cx="4937760" cy="731520"/>
          </a:xfrm>
          <a:prstGeom prst="rect">
            <a:avLst/>
          </a:prstGeom>
          <a:noFill/>
          <a:ln/>
        </p:spPr>
        <p:txBody>
          <a:bodyPr wrap="square" rtlCol="0" anchor="t"/>
          <a:lstStyle/>
          <a:p>
            <a:pPr indent="0" marL="0">
              <a:buNone/>
            </a:pPr>
            <a:r>
              <a:rPr lang="en-US" sz="1000" dirty="0">
                <a:solidFill>
                  <a:srgbClr val="475569"/>
                </a:solidFill>
                <a:latin typeface="Arial" pitchFamily="34" charset="0"/>
                <a:ea typeface="Arial" pitchFamily="34" charset="-122"/>
                <a:cs typeface="Arial" pitchFamily="34" charset="-120"/>
              </a:rPr>
              <a:t>Nobody has said either way. A missing answer is not a “no”. If it could change the decision, Vaglio pends the request and asks the doctor for exactly that.</a:t>
            </a:r>
            <a:endParaRPr lang="en-US" sz="1000" dirty="0"/>
          </a:p>
        </p:txBody>
      </p:sp>
      <p:sp>
        <p:nvSpPr>
          <p:cNvPr id="34" name="Text 31"/>
          <p:cNvSpPr/>
          <p:nvPr/>
        </p:nvSpPr>
        <p:spPr>
          <a:xfrm>
            <a:off x="548640" y="5897880"/>
            <a:ext cx="11064240" cy="411480"/>
          </a:xfrm>
          <a:prstGeom prst="rect">
            <a:avLst/>
          </a:prstGeom>
          <a:noFill/>
          <a:ln/>
        </p:spPr>
        <p:txBody>
          <a:bodyPr wrap="square" rtlCol="0" anchor="ctr"/>
          <a:lstStyle/>
          <a:p>
            <a:pPr indent="0" marL="0">
              <a:buNone/>
            </a:pPr>
            <a:r>
              <a:rPr lang="en-US" sz="950" i="1" dirty="0">
                <a:solidFill>
                  <a:srgbClr val="475569"/>
                </a:solidFill>
                <a:latin typeface="Arial" pitchFamily="34" charset="0"/>
                <a:ea typeface="Arial" pitchFamily="34" charset="-122"/>
                <a:cs typeface="Arial" pitchFamily="34" charset="-120"/>
              </a:rPr>
              <a:t>Anything unclear, contradictory or unreadable is treated as “not addressed”: the one state that can never support a denial. A record that says both yes and no goes to a person.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THE ANSWERS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Three possible answers, each with a reason</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The doctor's system receives the answer in the standard electronic format, with its reason in words.</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5 / 18</a:t>
            </a:r>
            <a:endParaRPr lang="en-US" sz="800" dirty="0"/>
          </a:p>
        </p:txBody>
      </p:sp>
      <p:sp>
        <p:nvSpPr>
          <p:cNvPr id="11" name="Shape 8"/>
          <p:cNvSpPr/>
          <p:nvPr/>
        </p:nvSpPr>
        <p:spPr>
          <a:xfrm>
            <a:off x="548640" y="1691640"/>
            <a:ext cx="3566160" cy="3291840"/>
          </a:xfrm>
          <a:prstGeom prst="roundRect">
            <a:avLst>
              <a:gd name="adj" fmla="val 3889"/>
            </a:avLst>
          </a:prstGeom>
          <a:solidFill>
            <a:srgbClr val="FFFFFF"/>
          </a:solidFill>
          <a:ln w="19050">
            <a:solidFill>
              <a:srgbClr val="059669"/>
            </a:solidFill>
            <a:prstDash val="solid"/>
          </a:ln>
          <a:effectLst>
            <a:outerShdw sx="100000" sy="100000" kx="0" ky="0" algn="bl" rotWithShape="0" blurRad="76200" dist="25400" dir="5400000">
              <a:srgbClr val="0F172A">
                <a:alpha val="12000"/>
              </a:srgbClr>
            </a:outerShdw>
          </a:effectLst>
        </p:spPr>
      </p:sp>
      <p:sp>
        <p:nvSpPr>
          <p:cNvPr id="12" name="Shape 9"/>
          <p:cNvSpPr/>
          <p:nvPr/>
        </p:nvSpPr>
        <p:spPr>
          <a:xfrm>
            <a:off x="548640" y="1691640"/>
            <a:ext cx="3566160" cy="868680"/>
          </a:xfrm>
          <a:prstGeom prst="roundRect">
            <a:avLst>
              <a:gd name="adj" fmla="val 14737"/>
            </a:avLst>
          </a:prstGeom>
          <a:solidFill>
            <a:srgbClr val="D1FAE5"/>
          </a:solidFill>
          <a:ln w="19050">
            <a:solidFill>
              <a:srgbClr val="059669"/>
            </a:solidFill>
            <a:prstDash val="solid"/>
          </a:ln>
        </p:spPr>
      </p:sp>
      <p:sp>
        <p:nvSpPr>
          <p:cNvPr id="13" name="Shape 10"/>
          <p:cNvSpPr/>
          <p:nvPr/>
        </p:nvSpPr>
        <p:spPr>
          <a:xfrm>
            <a:off x="777240" y="1874520"/>
            <a:ext cx="512064" cy="512064"/>
          </a:xfrm>
          <a:prstGeom prst="ellipse">
            <a:avLst/>
          </a:prstGeom>
          <a:solidFill>
            <a:srgbClr val="059669"/>
          </a:solidFill>
          <a:ln w="12700">
            <a:solidFill>
              <a:srgbClr val="059669"/>
            </a:solidFill>
            <a:prstDash val="solid"/>
          </a:ln>
        </p:spPr>
      </p:sp>
      <p:sp>
        <p:nvSpPr>
          <p:cNvPr id="14" name="Text 11"/>
          <p:cNvSpPr/>
          <p:nvPr/>
        </p:nvSpPr>
        <p:spPr>
          <a:xfrm>
            <a:off x="777240" y="1874520"/>
            <a:ext cx="512064" cy="512064"/>
          </a:xfrm>
          <a:prstGeom prst="rect">
            <a:avLst/>
          </a:prstGeom>
          <a:noFill/>
          <a:ln/>
        </p:spPr>
        <p:txBody>
          <a:bodyPr wrap="square" rtlCol="0" anchor="ctr"/>
          <a:lstStyle/>
          <a:p>
            <a:pPr algn="ctr" indent="0" marL="0">
              <a:buNone/>
            </a:pPr>
            <a:r>
              <a:rPr lang="en-US" sz="1680" b="1" dirty="0">
                <a:solidFill>
                  <a:srgbClr val="FFFFFF"/>
                </a:solidFill>
                <a:latin typeface="Arial" pitchFamily="34" charset="0"/>
                <a:ea typeface="Arial" pitchFamily="34" charset="-122"/>
                <a:cs typeface="Arial" pitchFamily="34" charset="-120"/>
              </a:rPr>
              <a:t>✓</a:t>
            </a:r>
            <a:endParaRPr lang="en-US" sz="1680" dirty="0"/>
          </a:p>
        </p:txBody>
      </p:sp>
      <p:sp>
        <p:nvSpPr>
          <p:cNvPr id="15" name="Text 12"/>
          <p:cNvSpPr/>
          <p:nvPr/>
        </p:nvSpPr>
        <p:spPr>
          <a:xfrm>
            <a:off x="1417320" y="1783080"/>
            <a:ext cx="2606040" cy="685800"/>
          </a:xfrm>
          <a:prstGeom prst="rect">
            <a:avLst/>
          </a:prstGeom>
          <a:noFill/>
          <a:ln/>
        </p:spPr>
        <p:txBody>
          <a:bodyPr wrap="square" rtlCol="0" anchor="ctr"/>
          <a:lstStyle/>
          <a:p>
            <a:pPr indent="0" marL="0">
              <a:buNone/>
            </a:pPr>
            <a:r>
              <a:rPr lang="en-US" sz="1700" b="1" dirty="0">
                <a:solidFill>
                  <a:srgbClr val="059669"/>
                </a:solidFill>
                <a:latin typeface="Arial" pitchFamily="34" charset="0"/>
                <a:ea typeface="Arial" pitchFamily="34" charset="-122"/>
                <a:cs typeface="Arial" pitchFamily="34" charset="-120"/>
              </a:rPr>
              <a:t>Approve</a:t>
            </a:r>
            <a:endParaRPr lang="en-US" sz="1700" dirty="0"/>
          </a:p>
        </p:txBody>
      </p:sp>
      <p:sp>
        <p:nvSpPr>
          <p:cNvPr id="16" name="Text 13"/>
          <p:cNvSpPr/>
          <p:nvPr/>
        </p:nvSpPr>
        <p:spPr>
          <a:xfrm>
            <a:off x="777240" y="2697480"/>
            <a:ext cx="3154680" cy="1325880"/>
          </a:xfrm>
          <a:prstGeom prst="rect">
            <a:avLst/>
          </a:prstGeom>
          <a:noFill/>
          <a:ln/>
        </p:spPr>
        <p:txBody>
          <a:bodyPr wrap="square" rtlCol="0" anchor="t"/>
          <a:lstStyle/>
          <a:p>
            <a:pPr indent="0" marL="0">
              <a:buNone/>
            </a:pPr>
            <a:r>
              <a:rPr lang="en-US" sz="1150" dirty="0">
                <a:solidFill>
                  <a:srgbClr val="0F172A"/>
                </a:solidFill>
                <a:latin typeface="Arial" pitchFamily="34" charset="0"/>
                <a:ea typeface="Arial" pitchFamily="34" charset="-122"/>
                <a:cs typeface="Arial" pitchFamily="34" charset="-120"/>
              </a:rPr>
              <a:t>Every rule the plan requires is met, and each one points to where in the record it was found.</a:t>
            </a:r>
            <a:endParaRPr lang="en-US" sz="1150" dirty="0"/>
          </a:p>
        </p:txBody>
      </p:sp>
      <p:sp>
        <p:nvSpPr>
          <p:cNvPr id="17" name="Shape 14"/>
          <p:cNvSpPr/>
          <p:nvPr/>
        </p:nvSpPr>
        <p:spPr>
          <a:xfrm>
            <a:off x="777240" y="4069080"/>
            <a:ext cx="3108960" cy="0"/>
          </a:xfrm>
          <a:prstGeom prst="line">
            <a:avLst/>
          </a:prstGeom>
          <a:noFill/>
          <a:ln w="12700">
            <a:solidFill>
              <a:srgbClr val="CBD5E1"/>
            </a:solidFill>
            <a:prstDash val="dash"/>
          </a:ln>
        </p:spPr>
      </p:sp>
      <p:sp>
        <p:nvSpPr>
          <p:cNvPr id="18" name="Text 15"/>
          <p:cNvSpPr/>
          <p:nvPr/>
        </p:nvSpPr>
        <p:spPr>
          <a:xfrm>
            <a:off x="777240" y="4114800"/>
            <a:ext cx="3154680" cy="777240"/>
          </a:xfrm>
          <a:prstGeom prst="rect">
            <a:avLst/>
          </a:prstGeom>
          <a:noFill/>
          <a:ln/>
        </p:spPr>
        <p:txBody>
          <a:bodyPr wrap="square" rtlCol="0" anchor="t"/>
          <a:lstStyle/>
          <a:p>
            <a:pPr indent="0" marL="0">
              <a:buNone/>
            </a:pPr>
            <a:r>
              <a:rPr lang="en-US" sz="950" i="1" dirty="0">
                <a:solidFill>
                  <a:srgbClr val="475569"/>
                </a:solidFill>
                <a:latin typeface="Arial" pitchFamily="34" charset="0"/>
                <a:ea typeface="Arial" pitchFamily="34" charset="-122"/>
                <a:cs typeface="Arial" pitchFamily="34" charset="-120"/>
              </a:rPr>
              <a:t>Example: six weeks of physical therapy without improvement, answered “Yes” on the plan's questionnaire.</a:t>
            </a:r>
            <a:endParaRPr lang="en-US" sz="950" dirty="0"/>
          </a:p>
        </p:txBody>
      </p:sp>
      <p:sp>
        <p:nvSpPr>
          <p:cNvPr id="19" name="Shape 16"/>
          <p:cNvSpPr/>
          <p:nvPr/>
        </p:nvSpPr>
        <p:spPr>
          <a:xfrm>
            <a:off x="4297680" y="1691640"/>
            <a:ext cx="3566160" cy="3291840"/>
          </a:xfrm>
          <a:prstGeom prst="roundRect">
            <a:avLst>
              <a:gd name="adj" fmla="val 3889"/>
            </a:avLst>
          </a:prstGeom>
          <a:solidFill>
            <a:srgbClr val="FFFFFF"/>
          </a:solidFill>
          <a:ln w="19050">
            <a:solidFill>
              <a:srgbClr val="DC2626"/>
            </a:solidFill>
            <a:prstDash val="solid"/>
          </a:ln>
          <a:effectLst>
            <a:outerShdw sx="100000" sy="100000" kx="0" ky="0" algn="bl" rotWithShape="0" blurRad="76200" dist="25400" dir="5400000">
              <a:srgbClr val="0F172A">
                <a:alpha val="12000"/>
              </a:srgbClr>
            </a:outerShdw>
          </a:effectLst>
        </p:spPr>
      </p:sp>
      <p:sp>
        <p:nvSpPr>
          <p:cNvPr id="20" name="Shape 17"/>
          <p:cNvSpPr/>
          <p:nvPr/>
        </p:nvSpPr>
        <p:spPr>
          <a:xfrm>
            <a:off x="4297680" y="1691640"/>
            <a:ext cx="3566160" cy="868680"/>
          </a:xfrm>
          <a:prstGeom prst="roundRect">
            <a:avLst>
              <a:gd name="adj" fmla="val 14737"/>
            </a:avLst>
          </a:prstGeom>
          <a:solidFill>
            <a:srgbClr val="FEE2E2"/>
          </a:solidFill>
          <a:ln w="19050">
            <a:solidFill>
              <a:srgbClr val="DC2626"/>
            </a:solidFill>
            <a:prstDash val="solid"/>
          </a:ln>
        </p:spPr>
      </p:sp>
      <p:sp>
        <p:nvSpPr>
          <p:cNvPr id="21" name="Shape 18"/>
          <p:cNvSpPr/>
          <p:nvPr/>
        </p:nvSpPr>
        <p:spPr>
          <a:xfrm>
            <a:off x="4526280" y="1874520"/>
            <a:ext cx="512064" cy="512064"/>
          </a:xfrm>
          <a:prstGeom prst="ellipse">
            <a:avLst/>
          </a:prstGeom>
          <a:solidFill>
            <a:srgbClr val="DC2626"/>
          </a:solidFill>
          <a:ln w="12700">
            <a:solidFill>
              <a:srgbClr val="DC2626"/>
            </a:solidFill>
            <a:prstDash val="solid"/>
          </a:ln>
        </p:spPr>
      </p:sp>
      <p:sp>
        <p:nvSpPr>
          <p:cNvPr id="22" name="Text 19"/>
          <p:cNvSpPr/>
          <p:nvPr/>
        </p:nvSpPr>
        <p:spPr>
          <a:xfrm>
            <a:off x="4526280" y="1874520"/>
            <a:ext cx="512064" cy="512064"/>
          </a:xfrm>
          <a:prstGeom prst="rect">
            <a:avLst/>
          </a:prstGeom>
          <a:noFill/>
          <a:ln/>
        </p:spPr>
        <p:txBody>
          <a:bodyPr wrap="square" rtlCol="0" anchor="ctr"/>
          <a:lstStyle/>
          <a:p>
            <a:pPr algn="ctr" indent="0" marL="0">
              <a:buNone/>
            </a:pPr>
            <a:r>
              <a:rPr lang="en-US" sz="1904" b="1" dirty="0">
                <a:solidFill>
                  <a:srgbClr val="FFFFFF"/>
                </a:solidFill>
                <a:latin typeface="Arial" pitchFamily="34" charset="0"/>
                <a:ea typeface="Arial" pitchFamily="34" charset="-122"/>
                <a:cs typeface="Arial" pitchFamily="34" charset="-120"/>
              </a:rPr>
              <a:t>×</a:t>
            </a:r>
            <a:endParaRPr lang="en-US" sz="1904" dirty="0"/>
          </a:p>
        </p:txBody>
      </p:sp>
      <p:sp>
        <p:nvSpPr>
          <p:cNvPr id="23" name="Text 20"/>
          <p:cNvSpPr/>
          <p:nvPr/>
        </p:nvSpPr>
        <p:spPr>
          <a:xfrm>
            <a:off x="5166360" y="1783080"/>
            <a:ext cx="2606040" cy="685800"/>
          </a:xfrm>
          <a:prstGeom prst="rect">
            <a:avLst/>
          </a:prstGeom>
          <a:noFill/>
          <a:ln/>
        </p:spPr>
        <p:txBody>
          <a:bodyPr wrap="square" rtlCol="0" anchor="ctr"/>
          <a:lstStyle/>
          <a:p>
            <a:pPr indent="0" marL="0">
              <a:buNone/>
            </a:pPr>
            <a:r>
              <a:rPr lang="en-US" sz="1700" b="1" dirty="0">
                <a:solidFill>
                  <a:srgbClr val="DC2626"/>
                </a:solidFill>
                <a:latin typeface="Arial" pitchFamily="34" charset="0"/>
                <a:ea typeface="Arial" pitchFamily="34" charset="-122"/>
                <a:cs typeface="Arial" pitchFamily="34" charset="-120"/>
              </a:rPr>
              <a:t>Deny, with proof</a:t>
            </a:r>
            <a:endParaRPr lang="en-US" sz="1700" dirty="0"/>
          </a:p>
        </p:txBody>
      </p:sp>
      <p:sp>
        <p:nvSpPr>
          <p:cNvPr id="24" name="Text 21"/>
          <p:cNvSpPr/>
          <p:nvPr/>
        </p:nvSpPr>
        <p:spPr>
          <a:xfrm>
            <a:off x="4526280" y="2697480"/>
            <a:ext cx="3154680" cy="1325880"/>
          </a:xfrm>
          <a:prstGeom prst="rect">
            <a:avLst/>
          </a:prstGeom>
          <a:noFill/>
          <a:ln/>
        </p:spPr>
        <p:txBody>
          <a:bodyPr wrap="square" rtlCol="0" anchor="t"/>
          <a:lstStyle/>
          <a:p>
            <a:pPr indent="0" marL="0">
              <a:buNone/>
            </a:pPr>
            <a:r>
              <a:rPr lang="en-US" sz="1150" dirty="0">
                <a:solidFill>
                  <a:srgbClr val="0F172A"/>
                </a:solidFill>
                <a:latin typeface="Arial" pitchFamily="34" charset="0"/>
                <a:ea typeface="Arial" pitchFamily="34" charset="-122"/>
                <a:cs typeface="Arial" pitchFamily="34" charset="-120"/>
              </a:rPr>
              <a:t>Only when the record shows the patient does not meet a rule. The answer names the rule, quotes the policy word for word, and lists what in the record shows it.</a:t>
            </a:r>
            <a:endParaRPr lang="en-US" sz="1150" dirty="0"/>
          </a:p>
        </p:txBody>
      </p:sp>
      <p:sp>
        <p:nvSpPr>
          <p:cNvPr id="25" name="Shape 22"/>
          <p:cNvSpPr/>
          <p:nvPr/>
        </p:nvSpPr>
        <p:spPr>
          <a:xfrm>
            <a:off x="4526280" y="4069080"/>
            <a:ext cx="3108960" cy="0"/>
          </a:xfrm>
          <a:prstGeom prst="line">
            <a:avLst/>
          </a:prstGeom>
          <a:noFill/>
          <a:ln w="12700">
            <a:solidFill>
              <a:srgbClr val="CBD5E1"/>
            </a:solidFill>
            <a:prstDash val="dash"/>
          </a:ln>
        </p:spPr>
      </p:sp>
      <p:sp>
        <p:nvSpPr>
          <p:cNvPr id="26" name="Text 23"/>
          <p:cNvSpPr/>
          <p:nvPr/>
        </p:nvSpPr>
        <p:spPr>
          <a:xfrm>
            <a:off x="4526280" y="4114800"/>
            <a:ext cx="3154680" cy="777240"/>
          </a:xfrm>
          <a:prstGeom prst="rect">
            <a:avLst/>
          </a:prstGeom>
          <a:noFill/>
          <a:ln/>
        </p:spPr>
        <p:txBody>
          <a:bodyPr wrap="square" rtlCol="0" anchor="t"/>
          <a:lstStyle/>
          <a:p>
            <a:pPr indent="0" marL="0">
              <a:buNone/>
            </a:pPr>
            <a:r>
              <a:rPr lang="en-US" sz="950" i="1" dirty="0">
                <a:solidFill>
                  <a:srgbClr val="475569"/>
                </a:solidFill>
                <a:latin typeface="Arial" pitchFamily="34" charset="0"/>
                <a:ea typeface="Arial" pitchFamily="34" charset="-122"/>
                <a:cs typeface="Arial" pitchFamily="34" charset="-120"/>
              </a:rPr>
              <a:t>Example: a repeat MRI within six months, and the doctor answered that nothing has changed.</a:t>
            </a:r>
            <a:endParaRPr lang="en-US" sz="950" dirty="0"/>
          </a:p>
        </p:txBody>
      </p:sp>
      <p:sp>
        <p:nvSpPr>
          <p:cNvPr id="27" name="Shape 24"/>
          <p:cNvSpPr/>
          <p:nvPr/>
        </p:nvSpPr>
        <p:spPr>
          <a:xfrm>
            <a:off x="8046720" y="1691640"/>
            <a:ext cx="3566160" cy="3291840"/>
          </a:xfrm>
          <a:prstGeom prst="roundRect">
            <a:avLst>
              <a:gd name="adj" fmla="val 3889"/>
            </a:avLst>
          </a:prstGeom>
          <a:solidFill>
            <a:srgbClr val="FFFFFF"/>
          </a:solidFill>
          <a:ln w="19050">
            <a:solidFill>
              <a:srgbClr val="D97706"/>
            </a:solidFill>
            <a:prstDash val="solid"/>
          </a:ln>
          <a:effectLst>
            <a:outerShdw sx="100000" sy="100000" kx="0" ky="0" algn="bl" rotWithShape="0" blurRad="76200" dist="25400" dir="5400000">
              <a:srgbClr val="0F172A">
                <a:alpha val="12000"/>
              </a:srgbClr>
            </a:outerShdw>
          </a:effectLst>
        </p:spPr>
      </p:sp>
      <p:sp>
        <p:nvSpPr>
          <p:cNvPr id="28" name="Shape 25"/>
          <p:cNvSpPr/>
          <p:nvPr/>
        </p:nvSpPr>
        <p:spPr>
          <a:xfrm>
            <a:off x="8046720" y="1691640"/>
            <a:ext cx="3566160" cy="868680"/>
          </a:xfrm>
          <a:prstGeom prst="roundRect">
            <a:avLst>
              <a:gd name="adj" fmla="val 14737"/>
            </a:avLst>
          </a:prstGeom>
          <a:solidFill>
            <a:srgbClr val="FEF3C7"/>
          </a:solidFill>
          <a:ln w="19050">
            <a:solidFill>
              <a:srgbClr val="D97706"/>
            </a:solidFill>
            <a:prstDash val="solid"/>
          </a:ln>
        </p:spPr>
      </p:sp>
      <p:sp>
        <p:nvSpPr>
          <p:cNvPr id="29" name="Shape 26"/>
          <p:cNvSpPr/>
          <p:nvPr/>
        </p:nvSpPr>
        <p:spPr>
          <a:xfrm>
            <a:off x="8275320" y="1874520"/>
            <a:ext cx="512064" cy="512064"/>
          </a:xfrm>
          <a:prstGeom prst="ellipse">
            <a:avLst/>
          </a:prstGeom>
          <a:solidFill>
            <a:srgbClr val="D97706"/>
          </a:solidFill>
          <a:ln w="12700">
            <a:solidFill>
              <a:srgbClr val="D97706"/>
            </a:solidFill>
            <a:prstDash val="solid"/>
          </a:ln>
        </p:spPr>
      </p:sp>
      <p:sp>
        <p:nvSpPr>
          <p:cNvPr id="30" name="Text 27"/>
          <p:cNvSpPr/>
          <p:nvPr/>
        </p:nvSpPr>
        <p:spPr>
          <a:xfrm>
            <a:off x="8275320" y="1874520"/>
            <a:ext cx="512064" cy="512064"/>
          </a:xfrm>
          <a:prstGeom prst="rect">
            <a:avLst/>
          </a:prstGeom>
          <a:noFill/>
          <a:ln/>
        </p:spPr>
        <p:txBody>
          <a:bodyPr wrap="square" rtlCol="0" anchor="ctr"/>
          <a:lstStyle/>
          <a:p>
            <a:pPr algn="ctr" indent="0" marL="0">
              <a:buNone/>
            </a:pPr>
            <a:r>
              <a:rPr lang="en-US" sz="1680" b="1" dirty="0">
                <a:solidFill>
                  <a:srgbClr val="FFFFFF"/>
                </a:solidFill>
                <a:latin typeface="Arial" pitchFamily="34" charset="0"/>
                <a:ea typeface="Arial" pitchFamily="34" charset="-122"/>
                <a:cs typeface="Arial" pitchFamily="34" charset="-120"/>
              </a:rPr>
              <a:t>?</a:t>
            </a:r>
            <a:endParaRPr lang="en-US" sz="1680" dirty="0"/>
          </a:p>
        </p:txBody>
      </p:sp>
      <p:sp>
        <p:nvSpPr>
          <p:cNvPr id="31" name="Text 28"/>
          <p:cNvSpPr/>
          <p:nvPr/>
        </p:nvSpPr>
        <p:spPr>
          <a:xfrm>
            <a:off x="8915400" y="1783080"/>
            <a:ext cx="2606040" cy="685800"/>
          </a:xfrm>
          <a:prstGeom prst="rect">
            <a:avLst/>
          </a:prstGeom>
          <a:noFill/>
          <a:ln/>
        </p:spPr>
        <p:txBody>
          <a:bodyPr wrap="square" rtlCol="0" anchor="ctr"/>
          <a:lstStyle/>
          <a:p>
            <a:pPr indent="0" marL="0">
              <a:buNone/>
            </a:pPr>
            <a:r>
              <a:rPr lang="en-US" sz="1700" b="1" dirty="0">
                <a:solidFill>
                  <a:srgbClr val="D97706"/>
                </a:solidFill>
                <a:latin typeface="Arial" pitchFamily="34" charset="0"/>
                <a:ea typeface="Arial" pitchFamily="34" charset="-122"/>
                <a:cs typeface="Arial" pitchFamily="34" charset="-120"/>
              </a:rPr>
              <a:t>Pend: send this</a:t>
            </a:r>
            <a:endParaRPr lang="en-US" sz="1700" dirty="0"/>
          </a:p>
        </p:txBody>
      </p:sp>
      <p:sp>
        <p:nvSpPr>
          <p:cNvPr id="32" name="Text 29"/>
          <p:cNvSpPr/>
          <p:nvPr/>
        </p:nvSpPr>
        <p:spPr>
          <a:xfrm>
            <a:off x="8275320" y="2697480"/>
            <a:ext cx="3154680" cy="1325880"/>
          </a:xfrm>
          <a:prstGeom prst="rect">
            <a:avLst/>
          </a:prstGeom>
          <a:noFill/>
          <a:ln/>
        </p:spPr>
        <p:txBody>
          <a:bodyPr wrap="square" rtlCol="0" anchor="t"/>
          <a:lstStyle/>
          <a:p>
            <a:pPr indent="0" marL="0">
              <a:buNone/>
            </a:pPr>
            <a:r>
              <a:rPr lang="en-US" sz="1150" dirty="0">
                <a:solidFill>
                  <a:srgbClr val="0F172A"/>
                </a:solidFill>
                <a:latin typeface="Arial" pitchFamily="34" charset="0"/>
                <a:ea typeface="Arial" pitchFamily="34" charset="-122"/>
                <a:cs typeface="Arial" pitchFamily="34" charset="-120"/>
              </a:rPr>
              <a:t>Something that could change the answer is missing. Vaglio names exactly what is needed, and the documents that would show it, and asks the doctor's system for them.</a:t>
            </a:r>
            <a:endParaRPr lang="en-US" sz="1150" dirty="0"/>
          </a:p>
        </p:txBody>
      </p:sp>
      <p:sp>
        <p:nvSpPr>
          <p:cNvPr id="33" name="Shape 30"/>
          <p:cNvSpPr/>
          <p:nvPr/>
        </p:nvSpPr>
        <p:spPr>
          <a:xfrm>
            <a:off x="8275320" y="4069080"/>
            <a:ext cx="3108960" cy="0"/>
          </a:xfrm>
          <a:prstGeom prst="line">
            <a:avLst/>
          </a:prstGeom>
          <a:noFill/>
          <a:ln w="12700">
            <a:solidFill>
              <a:srgbClr val="CBD5E1"/>
            </a:solidFill>
            <a:prstDash val="dash"/>
          </a:ln>
        </p:spPr>
      </p:sp>
      <p:sp>
        <p:nvSpPr>
          <p:cNvPr id="34" name="Text 31"/>
          <p:cNvSpPr/>
          <p:nvPr/>
        </p:nvSpPr>
        <p:spPr>
          <a:xfrm>
            <a:off x="8275320" y="4114800"/>
            <a:ext cx="3154680" cy="777240"/>
          </a:xfrm>
          <a:prstGeom prst="rect">
            <a:avLst/>
          </a:prstGeom>
          <a:noFill/>
          <a:ln/>
        </p:spPr>
        <p:txBody>
          <a:bodyPr wrap="square" rtlCol="0" anchor="t"/>
          <a:lstStyle/>
          <a:p>
            <a:pPr indent="0" marL="0">
              <a:buNone/>
            </a:pPr>
            <a:r>
              <a:rPr lang="en-US" sz="950" i="1" dirty="0">
                <a:solidFill>
                  <a:srgbClr val="475569"/>
                </a:solidFill>
                <a:latin typeface="Arial" pitchFamily="34" charset="0"/>
                <a:ea typeface="Arial" pitchFamily="34" charset="-122"/>
                <a:cs typeface="Arial" pitchFamily="34" charset="-120"/>
              </a:rPr>
              <a:t>Example: whether there are red-flag symptoms was not answered.</a:t>
            </a:r>
            <a:endParaRPr lang="en-US" sz="950" dirty="0"/>
          </a:p>
        </p:txBody>
      </p:sp>
      <p:sp>
        <p:nvSpPr>
          <p:cNvPr id="35" name="Shape 32"/>
          <p:cNvSpPr/>
          <p:nvPr/>
        </p:nvSpPr>
        <p:spPr>
          <a:xfrm>
            <a:off x="548640" y="5212080"/>
            <a:ext cx="11091672" cy="868680"/>
          </a:xfrm>
          <a:prstGeom prst="roundRect">
            <a:avLst>
              <a:gd name="adj" fmla="val 12632"/>
            </a:avLst>
          </a:prstGeom>
          <a:solidFill>
            <a:srgbClr val="EDE9FE"/>
          </a:solidFill>
          <a:ln w="12700">
            <a:solidFill>
              <a:srgbClr val="7C3AED"/>
            </a:solidFill>
            <a:prstDash val="solid"/>
          </a:ln>
        </p:spPr>
      </p:sp>
      <p:sp>
        <p:nvSpPr>
          <p:cNvPr id="36" name="Text 33"/>
          <p:cNvSpPr/>
          <p:nvPr/>
        </p:nvSpPr>
        <p:spPr>
          <a:xfrm>
            <a:off x="777240" y="5230368"/>
            <a:ext cx="10698480" cy="822960"/>
          </a:xfrm>
          <a:prstGeom prst="rect">
            <a:avLst/>
          </a:prstGeom>
          <a:noFill/>
          <a:ln/>
        </p:spPr>
        <p:txBody>
          <a:bodyPr wrap="square" rtlCol="0" anchor="ctr"/>
          <a:lstStyle/>
          <a:p>
            <a:pPr indent="0" marL="0">
              <a:buNone/>
            </a:pPr>
            <a:r>
              <a:rPr lang="en-US" sz="1050" b="1" dirty="0">
                <a:solidFill>
                  <a:srgbClr val="7C3AED"/>
                </a:solidFill>
                <a:latin typeface="Arial" pitchFamily="34" charset="0"/>
                <a:ea typeface="Arial" pitchFamily="34" charset="-122"/>
                <a:cs typeface="Arial" pitchFamily="34" charset="-120"/>
              </a:rPr>
              <a:t>What would change it. </a:t>
            </a:r>
            <a:pPr indent="0" marL="0">
              <a:buNone/>
            </a:pPr>
            <a:r>
              <a:rPr lang="en-US" sz="1050" dirty="0">
                <a:solidFill>
                  <a:srgbClr val="0F172A"/>
                </a:solidFill>
                <a:latin typeface="Arial" pitchFamily="34" charset="0"/>
                <a:ea typeface="Arial" pitchFamily="34" charset="-122"/>
                <a:cs typeface="Arial" pitchFamily="34" charset="-120"/>
              </a:rPr>
              <a:t>Every pend and every denial also lists the smallest sets of evidence that would turn it into an approval, so the doctor knows exactly what to send. When the only route would need the record to be wrong, Vaglio says so instead of suggesting it.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HOW IT DECIDES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From request to answer, step by step</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All of this happens in a fraction of a second, on the plan's own computer.</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6 / 18</a:t>
            </a:r>
            <a:endParaRPr lang="en-US" sz="800" dirty="0"/>
          </a:p>
        </p:txBody>
      </p:sp>
      <p:sp>
        <p:nvSpPr>
          <p:cNvPr id="11" name="Shape 8"/>
          <p:cNvSpPr/>
          <p:nvPr/>
        </p:nvSpPr>
        <p:spPr>
          <a:xfrm>
            <a:off x="548640" y="1691640"/>
            <a:ext cx="2286000" cy="868680"/>
          </a:xfrm>
          <a:prstGeom prst="homePlate">
            <a:avLst/>
          </a:prstGeom>
          <a:solidFill>
            <a:srgbClr val="2563EB"/>
          </a:solidFill>
          <a:ln w="12700">
            <a:solidFill>
              <a:srgbClr val="2563EB"/>
            </a:solidFill>
            <a:prstDash val="solid"/>
          </a:ln>
        </p:spPr>
      </p:sp>
      <p:sp>
        <p:nvSpPr>
          <p:cNvPr id="12" name="Text 9"/>
          <p:cNvSpPr/>
          <p:nvPr/>
        </p:nvSpPr>
        <p:spPr>
          <a:xfrm>
            <a:off x="685800" y="1691640"/>
            <a:ext cx="1737360" cy="86868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1  The request arrives</a:t>
            </a:r>
            <a:endParaRPr lang="en-US" sz="1150" dirty="0"/>
          </a:p>
        </p:txBody>
      </p:sp>
      <p:sp>
        <p:nvSpPr>
          <p:cNvPr id="13" name="Shape 10"/>
          <p:cNvSpPr/>
          <p:nvPr/>
        </p:nvSpPr>
        <p:spPr>
          <a:xfrm>
            <a:off x="548640" y="2743200"/>
            <a:ext cx="2103120" cy="1783080"/>
          </a:xfrm>
          <a:prstGeom prst="roundRect">
            <a:avLst>
              <a:gd name="adj" fmla="val 6154"/>
            </a:avLst>
          </a:prstGeom>
          <a:solidFill>
            <a:srgbClr val="FFFFFF"/>
          </a:solidFill>
          <a:ln w="9525">
            <a:solidFill>
              <a:srgbClr val="2563EB"/>
            </a:solidFill>
            <a:prstDash val="solid"/>
          </a:ln>
          <a:effectLst>
            <a:outerShdw sx="100000" sy="100000" kx="0" ky="0" algn="bl" rotWithShape="0" blurRad="76200" dist="25400" dir="5400000">
              <a:srgbClr val="0F172A">
                <a:alpha val="12000"/>
              </a:srgbClr>
            </a:outerShdw>
          </a:effectLst>
        </p:spPr>
      </p:sp>
      <p:sp>
        <p:nvSpPr>
          <p:cNvPr id="14" name="Text 11"/>
          <p:cNvSpPr/>
          <p:nvPr/>
        </p:nvSpPr>
        <p:spPr>
          <a:xfrm>
            <a:off x="731520" y="2871216"/>
            <a:ext cx="1755648" cy="156362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The plan's PAS server (its electronic front desk, such as Perfuse) passes the doctor's request to Vaglio.</a:t>
            </a:r>
            <a:endParaRPr lang="en-US" sz="1050" dirty="0"/>
          </a:p>
        </p:txBody>
      </p:sp>
      <p:sp>
        <p:nvSpPr>
          <p:cNvPr id="15" name="Shape 12"/>
          <p:cNvSpPr/>
          <p:nvPr/>
        </p:nvSpPr>
        <p:spPr>
          <a:xfrm>
            <a:off x="2798064" y="1691640"/>
            <a:ext cx="2286000" cy="868680"/>
          </a:xfrm>
          <a:prstGeom prst="chevron">
            <a:avLst/>
          </a:prstGeom>
          <a:solidFill>
            <a:srgbClr val="0D9488"/>
          </a:solidFill>
          <a:ln w="12700">
            <a:solidFill>
              <a:srgbClr val="0D9488"/>
            </a:solidFill>
            <a:prstDash val="solid"/>
          </a:ln>
        </p:spPr>
      </p:sp>
      <p:sp>
        <p:nvSpPr>
          <p:cNvPr id="16" name="Text 13"/>
          <p:cNvSpPr/>
          <p:nvPr/>
        </p:nvSpPr>
        <p:spPr>
          <a:xfrm>
            <a:off x="3209544" y="1691640"/>
            <a:ext cx="1737360" cy="86868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2  The evidence is read</a:t>
            </a:r>
            <a:endParaRPr lang="en-US" sz="1150" dirty="0"/>
          </a:p>
        </p:txBody>
      </p:sp>
      <p:sp>
        <p:nvSpPr>
          <p:cNvPr id="17" name="Shape 14"/>
          <p:cNvSpPr/>
          <p:nvPr/>
        </p:nvSpPr>
        <p:spPr>
          <a:xfrm>
            <a:off x="2798064" y="2743200"/>
            <a:ext cx="2103120" cy="1783080"/>
          </a:xfrm>
          <a:prstGeom prst="roundRect">
            <a:avLst>
              <a:gd name="adj" fmla="val 6154"/>
            </a:avLst>
          </a:prstGeom>
          <a:solidFill>
            <a:srgbClr val="FFFFFF"/>
          </a:solidFill>
          <a:ln w="9525">
            <a:solidFill>
              <a:srgbClr val="0D9488"/>
            </a:solidFill>
            <a:prstDash val="solid"/>
          </a:ln>
          <a:effectLst>
            <a:outerShdw sx="100000" sy="100000" kx="0" ky="0" algn="bl" rotWithShape="0" blurRad="76200" dist="25400" dir="5400000">
              <a:srgbClr val="0F172A">
                <a:alpha val="12000"/>
              </a:srgbClr>
            </a:outerShdw>
          </a:effectLst>
        </p:spPr>
      </p:sp>
      <p:sp>
        <p:nvSpPr>
          <p:cNvPr id="18" name="Text 15"/>
          <p:cNvSpPr/>
          <p:nvPr/>
        </p:nvSpPr>
        <p:spPr>
          <a:xfrm>
            <a:off x="2980944" y="2871216"/>
            <a:ext cx="1755648" cy="156362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Answers to the plan's questions, diagnoses, past procedures, test results and medicines. Each finding keeps a pointer to where it came from.</a:t>
            </a:r>
            <a:endParaRPr lang="en-US" sz="1050" dirty="0"/>
          </a:p>
        </p:txBody>
      </p:sp>
      <p:sp>
        <p:nvSpPr>
          <p:cNvPr id="19" name="Shape 16"/>
          <p:cNvSpPr/>
          <p:nvPr/>
        </p:nvSpPr>
        <p:spPr>
          <a:xfrm>
            <a:off x="5047488" y="1691640"/>
            <a:ext cx="2286000" cy="868680"/>
          </a:xfrm>
          <a:prstGeom prst="chevron">
            <a:avLst/>
          </a:prstGeom>
          <a:solidFill>
            <a:srgbClr val="7C3AED"/>
          </a:solidFill>
          <a:ln w="12700">
            <a:solidFill>
              <a:srgbClr val="7C3AED"/>
            </a:solidFill>
            <a:prstDash val="solid"/>
          </a:ln>
        </p:spPr>
      </p:sp>
      <p:sp>
        <p:nvSpPr>
          <p:cNvPr id="20" name="Text 17"/>
          <p:cNvSpPr/>
          <p:nvPr/>
        </p:nvSpPr>
        <p:spPr>
          <a:xfrm>
            <a:off x="5458968" y="1691640"/>
            <a:ext cx="1737360" cy="86868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3  The policy is applied</a:t>
            </a:r>
            <a:endParaRPr lang="en-US" sz="1150" dirty="0"/>
          </a:p>
        </p:txBody>
      </p:sp>
      <p:sp>
        <p:nvSpPr>
          <p:cNvPr id="21" name="Shape 18"/>
          <p:cNvSpPr/>
          <p:nvPr/>
        </p:nvSpPr>
        <p:spPr>
          <a:xfrm>
            <a:off x="5047488" y="2743200"/>
            <a:ext cx="2103120" cy="1783080"/>
          </a:xfrm>
          <a:prstGeom prst="roundRect">
            <a:avLst>
              <a:gd name="adj" fmla="val 6154"/>
            </a:avLst>
          </a:prstGeom>
          <a:solidFill>
            <a:srgbClr val="FFFFFF"/>
          </a:solidFill>
          <a:ln w="9525">
            <a:solidFill>
              <a:srgbClr val="7C3AED"/>
            </a:solidFill>
            <a:prstDash val="solid"/>
          </a:ln>
          <a:effectLst>
            <a:outerShdw sx="100000" sy="100000" kx="0" ky="0" algn="bl" rotWithShape="0" blurRad="76200" dist="25400" dir="5400000">
              <a:srgbClr val="0F172A">
                <a:alpha val="12000"/>
              </a:srgbClr>
            </a:outerShdw>
          </a:effectLst>
        </p:spPr>
      </p:sp>
      <p:sp>
        <p:nvSpPr>
          <p:cNvPr id="22" name="Text 19"/>
          <p:cNvSpPr/>
          <p:nvPr/>
        </p:nvSpPr>
        <p:spPr>
          <a:xfrm>
            <a:off x="5230368" y="2871216"/>
            <a:ext cx="1755648" cy="156362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The plan's signed policy for that service: each rule says which evidence meets it and which evidence overrides it.</a:t>
            </a:r>
            <a:endParaRPr lang="en-US" sz="1050" dirty="0"/>
          </a:p>
        </p:txBody>
      </p:sp>
      <p:sp>
        <p:nvSpPr>
          <p:cNvPr id="23" name="Shape 20"/>
          <p:cNvSpPr/>
          <p:nvPr/>
        </p:nvSpPr>
        <p:spPr>
          <a:xfrm>
            <a:off x="7296912" y="1691640"/>
            <a:ext cx="2286000" cy="868680"/>
          </a:xfrm>
          <a:prstGeom prst="chevron">
            <a:avLst/>
          </a:prstGeom>
          <a:solidFill>
            <a:srgbClr val="C026D3"/>
          </a:solidFill>
          <a:ln w="12700">
            <a:solidFill>
              <a:srgbClr val="C026D3"/>
            </a:solidFill>
            <a:prstDash val="solid"/>
          </a:ln>
        </p:spPr>
      </p:sp>
      <p:sp>
        <p:nvSpPr>
          <p:cNvPr id="24" name="Text 21"/>
          <p:cNvSpPr/>
          <p:nvPr/>
        </p:nvSpPr>
        <p:spPr>
          <a:xfrm>
            <a:off x="7708392" y="1691640"/>
            <a:ext cx="1737360" cy="86868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4  A proof is built</a:t>
            </a:r>
            <a:endParaRPr lang="en-US" sz="1150" dirty="0"/>
          </a:p>
        </p:txBody>
      </p:sp>
      <p:sp>
        <p:nvSpPr>
          <p:cNvPr id="25" name="Shape 22"/>
          <p:cNvSpPr/>
          <p:nvPr/>
        </p:nvSpPr>
        <p:spPr>
          <a:xfrm>
            <a:off x="7296912" y="2743200"/>
            <a:ext cx="2103120" cy="1783080"/>
          </a:xfrm>
          <a:prstGeom prst="roundRect">
            <a:avLst>
              <a:gd name="adj" fmla="val 6154"/>
            </a:avLst>
          </a:prstGeom>
          <a:solidFill>
            <a:srgbClr val="FFFFFF"/>
          </a:solidFill>
          <a:ln w="9525">
            <a:solidFill>
              <a:srgbClr val="C026D3"/>
            </a:solidFill>
            <a:prstDash val="solid"/>
          </a:ln>
          <a:effectLst>
            <a:outerShdw sx="100000" sy="100000" kx="0" ky="0" algn="bl" rotWithShape="0" blurRad="76200" dist="25400" dir="5400000">
              <a:srgbClr val="0F172A">
                <a:alpha val="12000"/>
              </a:srgbClr>
            </a:outerShdw>
          </a:effectLst>
        </p:spPr>
      </p:sp>
      <p:sp>
        <p:nvSpPr>
          <p:cNvPr id="26" name="Text 23"/>
          <p:cNvSpPr/>
          <p:nvPr/>
        </p:nvSpPr>
        <p:spPr>
          <a:xfrm>
            <a:off x="7479792" y="2871216"/>
            <a:ext cx="1755648" cy="156362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The answer and every step behind it, each citing the rule it applies and the record it rests on. The one rule is enforced here.</a:t>
            </a:r>
            <a:endParaRPr lang="en-US" sz="1050" dirty="0"/>
          </a:p>
        </p:txBody>
      </p:sp>
      <p:sp>
        <p:nvSpPr>
          <p:cNvPr id="27" name="Shape 24"/>
          <p:cNvSpPr/>
          <p:nvPr/>
        </p:nvSpPr>
        <p:spPr>
          <a:xfrm>
            <a:off x="9546336" y="1691640"/>
            <a:ext cx="2286000" cy="868680"/>
          </a:xfrm>
          <a:prstGeom prst="chevron">
            <a:avLst/>
          </a:prstGeom>
          <a:solidFill>
            <a:srgbClr val="059669"/>
          </a:solidFill>
          <a:ln w="12700">
            <a:solidFill>
              <a:srgbClr val="059669"/>
            </a:solidFill>
            <a:prstDash val="solid"/>
          </a:ln>
        </p:spPr>
      </p:sp>
      <p:sp>
        <p:nvSpPr>
          <p:cNvPr id="28" name="Text 25"/>
          <p:cNvSpPr/>
          <p:nvPr/>
        </p:nvSpPr>
        <p:spPr>
          <a:xfrm>
            <a:off x="9957816" y="1691640"/>
            <a:ext cx="1737360" cy="868680"/>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5  It is recorded and sent</a:t>
            </a:r>
            <a:endParaRPr lang="en-US" sz="1150" dirty="0"/>
          </a:p>
        </p:txBody>
      </p:sp>
      <p:sp>
        <p:nvSpPr>
          <p:cNvPr id="29" name="Shape 26"/>
          <p:cNvSpPr/>
          <p:nvPr/>
        </p:nvSpPr>
        <p:spPr>
          <a:xfrm>
            <a:off x="9546336" y="2743200"/>
            <a:ext cx="2103120" cy="1783080"/>
          </a:xfrm>
          <a:prstGeom prst="roundRect">
            <a:avLst>
              <a:gd name="adj" fmla="val 6154"/>
            </a:avLst>
          </a:prstGeom>
          <a:solidFill>
            <a:srgbClr val="FFFFFF"/>
          </a:solidFill>
          <a:ln w="9525">
            <a:solidFill>
              <a:srgbClr val="059669"/>
            </a:solidFill>
            <a:prstDash val="solid"/>
          </a:ln>
          <a:effectLst>
            <a:outerShdw sx="100000" sy="100000" kx="0" ky="0" algn="bl" rotWithShape="0" blurRad="76200" dist="25400" dir="5400000">
              <a:srgbClr val="0F172A">
                <a:alpha val="12000"/>
              </a:srgbClr>
            </a:outerShdw>
          </a:effectLst>
        </p:spPr>
      </p:sp>
      <p:sp>
        <p:nvSpPr>
          <p:cNvPr id="30" name="Text 27"/>
          <p:cNvSpPr/>
          <p:nvPr/>
        </p:nvSpPr>
        <p:spPr>
          <a:xfrm>
            <a:off x="9729216" y="2871216"/>
            <a:ext cx="1755648" cy="1563624"/>
          </a:xfrm>
          <a:prstGeom prst="rect">
            <a:avLst/>
          </a:prstGeom>
          <a:noFill/>
          <a:ln/>
        </p:spPr>
        <p:txBody>
          <a:bodyPr wrap="square" rtlCol="0" anchor="t"/>
          <a:lstStyle/>
          <a:p>
            <a:pPr indent="0" marL="0">
              <a:spcAft>
                <a:spcPts val="300"/>
              </a:spcAft>
              <a:buNone/>
            </a:pPr>
            <a:r>
              <a:rPr lang="en-US" sz="1050" dirty="0">
                <a:solidFill>
                  <a:srgbClr val="475569"/>
                </a:solidFill>
                <a:latin typeface="Arial" pitchFamily="34" charset="0"/>
                <a:ea typeface="Arial" pitchFamily="34" charset="-122"/>
                <a:cs typeface="Arial" pitchFamily="34" charset="-120"/>
              </a:rPr>
              <a:t>Kept in a tamper-evident log, then sent back to the PAS server, which tells the doctor. A pended case waits for a reviewer.</a:t>
            </a:r>
            <a:endParaRPr lang="en-US" sz="1050" dirty="0"/>
          </a:p>
        </p:txBody>
      </p:sp>
      <p:sp>
        <p:nvSpPr>
          <p:cNvPr id="31" name="Text 28"/>
          <p:cNvSpPr/>
          <p:nvPr/>
        </p:nvSpPr>
        <p:spPr>
          <a:xfrm>
            <a:off x="548640" y="4754880"/>
            <a:ext cx="3657600" cy="274320"/>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What counts as evidence</a:t>
            </a:r>
            <a:endParaRPr lang="en-US" sz="1000" dirty="0"/>
          </a:p>
        </p:txBody>
      </p:sp>
      <p:sp>
        <p:nvSpPr>
          <p:cNvPr id="32" name="Shape 29"/>
          <p:cNvSpPr/>
          <p:nvPr/>
        </p:nvSpPr>
        <p:spPr>
          <a:xfrm>
            <a:off x="548640" y="5074920"/>
            <a:ext cx="1851660" cy="274320"/>
          </a:xfrm>
          <a:prstGeom prst="roundRect">
            <a:avLst>
              <a:gd name="adj" fmla="val 50000"/>
            </a:avLst>
          </a:prstGeom>
          <a:solidFill>
            <a:srgbClr val="FFFFFF"/>
          </a:solidFill>
          <a:ln w="12700">
            <a:solidFill>
              <a:srgbClr val="2563EB"/>
            </a:solidFill>
            <a:prstDash val="solid"/>
          </a:ln>
        </p:spPr>
      </p:sp>
      <p:sp>
        <p:nvSpPr>
          <p:cNvPr id="33" name="Text 30"/>
          <p:cNvSpPr/>
          <p:nvPr/>
        </p:nvSpPr>
        <p:spPr>
          <a:xfrm>
            <a:off x="548640" y="5074920"/>
            <a:ext cx="1851660" cy="274320"/>
          </a:xfrm>
          <a:prstGeom prst="rect">
            <a:avLst/>
          </a:prstGeom>
          <a:noFill/>
          <a:ln/>
        </p:spPr>
        <p:txBody>
          <a:bodyPr wrap="square" rtlCol="0" anchor="ctr"/>
          <a:lstStyle/>
          <a:p>
            <a:pPr algn="ctr" indent="0" marL="0">
              <a:buNone/>
            </a:pPr>
            <a:r>
              <a:rPr lang="en-US" sz="850" b="1" dirty="0">
                <a:solidFill>
                  <a:srgbClr val="2563EB"/>
                </a:solidFill>
                <a:latin typeface="Arial" pitchFamily="34" charset="0"/>
                <a:ea typeface="Arial" pitchFamily="34" charset="-122"/>
                <a:cs typeface="Arial" pitchFamily="34" charset="-120"/>
              </a:rPr>
              <a:t>Questionnaire answers</a:t>
            </a:r>
            <a:endParaRPr lang="en-US" sz="850" dirty="0"/>
          </a:p>
        </p:txBody>
      </p:sp>
      <p:sp>
        <p:nvSpPr>
          <p:cNvPr id="34" name="Shape 31"/>
          <p:cNvSpPr/>
          <p:nvPr/>
        </p:nvSpPr>
        <p:spPr>
          <a:xfrm>
            <a:off x="2510028" y="5074920"/>
            <a:ext cx="1028700" cy="274320"/>
          </a:xfrm>
          <a:prstGeom prst="roundRect">
            <a:avLst>
              <a:gd name="adj" fmla="val 50000"/>
            </a:avLst>
          </a:prstGeom>
          <a:solidFill>
            <a:srgbClr val="FFFFFF"/>
          </a:solidFill>
          <a:ln w="12700">
            <a:solidFill>
              <a:srgbClr val="0D9488"/>
            </a:solidFill>
            <a:prstDash val="solid"/>
          </a:ln>
        </p:spPr>
      </p:sp>
      <p:sp>
        <p:nvSpPr>
          <p:cNvPr id="35" name="Text 32"/>
          <p:cNvSpPr/>
          <p:nvPr/>
        </p:nvSpPr>
        <p:spPr>
          <a:xfrm>
            <a:off x="2510028" y="5074920"/>
            <a:ext cx="1028700" cy="274320"/>
          </a:xfrm>
          <a:prstGeom prst="rect">
            <a:avLst/>
          </a:prstGeom>
          <a:noFill/>
          <a:ln/>
        </p:spPr>
        <p:txBody>
          <a:bodyPr wrap="square" rtlCol="0" anchor="ctr"/>
          <a:lstStyle/>
          <a:p>
            <a:pPr algn="ctr" indent="0" marL="0">
              <a:buNone/>
            </a:pPr>
            <a:r>
              <a:rPr lang="en-US" sz="850" b="1" dirty="0">
                <a:solidFill>
                  <a:srgbClr val="0D9488"/>
                </a:solidFill>
                <a:latin typeface="Arial" pitchFamily="34" charset="0"/>
                <a:ea typeface="Arial" pitchFamily="34" charset="-122"/>
                <a:cs typeface="Arial" pitchFamily="34" charset="-120"/>
              </a:rPr>
              <a:t>Diagnoses</a:t>
            </a:r>
            <a:endParaRPr lang="en-US" sz="850" dirty="0"/>
          </a:p>
        </p:txBody>
      </p:sp>
      <p:sp>
        <p:nvSpPr>
          <p:cNvPr id="36" name="Shape 33"/>
          <p:cNvSpPr/>
          <p:nvPr/>
        </p:nvSpPr>
        <p:spPr>
          <a:xfrm>
            <a:off x="3648456" y="5074920"/>
            <a:ext cx="1920240" cy="274320"/>
          </a:xfrm>
          <a:prstGeom prst="roundRect">
            <a:avLst>
              <a:gd name="adj" fmla="val 50000"/>
            </a:avLst>
          </a:prstGeom>
          <a:solidFill>
            <a:srgbClr val="FFFFFF"/>
          </a:solidFill>
          <a:ln w="12700">
            <a:solidFill>
              <a:srgbClr val="7C3AED"/>
            </a:solidFill>
            <a:prstDash val="solid"/>
          </a:ln>
        </p:spPr>
      </p:sp>
      <p:sp>
        <p:nvSpPr>
          <p:cNvPr id="37" name="Text 34"/>
          <p:cNvSpPr/>
          <p:nvPr/>
        </p:nvSpPr>
        <p:spPr>
          <a:xfrm>
            <a:off x="3648456" y="5074920"/>
            <a:ext cx="1920240" cy="274320"/>
          </a:xfrm>
          <a:prstGeom prst="rect">
            <a:avLst/>
          </a:prstGeom>
          <a:noFill/>
          <a:ln/>
        </p:spPr>
        <p:txBody>
          <a:bodyPr wrap="square" rtlCol="0" anchor="ctr"/>
          <a:lstStyle/>
          <a:p>
            <a:pPr algn="ctr" indent="0" marL="0">
              <a:buNone/>
            </a:pPr>
            <a:r>
              <a:rPr lang="en-US" sz="850" b="1" dirty="0">
                <a:solidFill>
                  <a:srgbClr val="7C3AED"/>
                </a:solidFill>
                <a:latin typeface="Arial" pitchFamily="34" charset="0"/>
                <a:ea typeface="Arial" pitchFamily="34" charset="-122"/>
                <a:cs typeface="Arial" pitchFamily="34" charset="-120"/>
              </a:rPr>
              <a:t>Procedures, with dates</a:t>
            </a:r>
            <a:endParaRPr lang="en-US" sz="850" dirty="0"/>
          </a:p>
        </p:txBody>
      </p:sp>
      <p:sp>
        <p:nvSpPr>
          <p:cNvPr id="38" name="Shape 35"/>
          <p:cNvSpPr/>
          <p:nvPr/>
        </p:nvSpPr>
        <p:spPr>
          <a:xfrm>
            <a:off x="5678424" y="5074920"/>
            <a:ext cx="2057400" cy="274320"/>
          </a:xfrm>
          <a:prstGeom prst="roundRect">
            <a:avLst>
              <a:gd name="adj" fmla="val 50000"/>
            </a:avLst>
          </a:prstGeom>
          <a:solidFill>
            <a:srgbClr val="FFFFFF"/>
          </a:solidFill>
          <a:ln w="12700">
            <a:solidFill>
              <a:srgbClr val="C026D3"/>
            </a:solidFill>
            <a:prstDash val="solid"/>
          </a:ln>
        </p:spPr>
      </p:sp>
      <p:sp>
        <p:nvSpPr>
          <p:cNvPr id="39" name="Text 36"/>
          <p:cNvSpPr/>
          <p:nvPr/>
        </p:nvSpPr>
        <p:spPr>
          <a:xfrm>
            <a:off x="5678424" y="5074920"/>
            <a:ext cx="2057400" cy="274320"/>
          </a:xfrm>
          <a:prstGeom prst="rect">
            <a:avLst/>
          </a:prstGeom>
          <a:noFill/>
          <a:ln/>
        </p:spPr>
        <p:txBody>
          <a:bodyPr wrap="square" rtlCol="0" anchor="ctr"/>
          <a:lstStyle/>
          <a:p>
            <a:pPr algn="ctr" indent="0" marL="0">
              <a:buNone/>
            </a:pPr>
            <a:r>
              <a:rPr lang="en-US" sz="850" b="1" dirty="0">
                <a:solidFill>
                  <a:srgbClr val="C026D3"/>
                </a:solidFill>
                <a:latin typeface="Arial" pitchFamily="34" charset="0"/>
                <a:ea typeface="Arial" pitchFamily="34" charset="-122"/>
                <a:cs typeface="Arial" pitchFamily="34" charset="-120"/>
              </a:rPr>
              <a:t>Test results, with units</a:t>
            </a:r>
            <a:endParaRPr lang="en-US" sz="850" dirty="0"/>
          </a:p>
        </p:txBody>
      </p:sp>
      <p:sp>
        <p:nvSpPr>
          <p:cNvPr id="40" name="Shape 37"/>
          <p:cNvSpPr/>
          <p:nvPr/>
        </p:nvSpPr>
        <p:spPr>
          <a:xfrm>
            <a:off x="7845552" y="5074920"/>
            <a:ext cx="2263140" cy="274320"/>
          </a:xfrm>
          <a:prstGeom prst="roundRect">
            <a:avLst>
              <a:gd name="adj" fmla="val 50000"/>
            </a:avLst>
          </a:prstGeom>
          <a:solidFill>
            <a:srgbClr val="FFFFFF"/>
          </a:solidFill>
          <a:ln w="12700">
            <a:solidFill>
              <a:srgbClr val="059669"/>
            </a:solidFill>
            <a:prstDash val="solid"/>
          </a:ln>
        </p:spPr>
      </p:sp>
      <p:sp>
        <p:nvSpPr>
          <p:cNvPr id="41" name="Text 38"/>
          <p:cNvSpPr/>
          <p:nvPr/>
        </p:nvSpPr>
        <p:spPr>
          <a:xfrm>
            <a:off x="7845552" y="5074920"/>
            <a:ext cx="2263140" cy="274320"/>
          </a:xfrm>
          <a:prstGeom prst="rect">
            <a:avLst/>
          </a:prstGeom>
          <a:noFill/>
          <a:ln/>
        </p:spPr>
        <p:txBody>
          <a:bodyPr wrap="square" rtlCol="0" anchor="ctr"/>
          <a:lstStyle/>
          <a:p>
            <a:pPr algn="ctr" indent="0" marL="0">
              <a:buNone/>
            </a:pPr>
            <a:r>
              <a:rPr lang="en-US" sz="850" b="1" dirty="0">
                <a:solidFill>
                  <a:srgbClr val="059669"/>
                </a:solidFill>
                <a:latin typeface="Arial" pitchFamily="34" charset="0"/>
                <a:ea typeface="Arial" pitchFamily="34" charset="-122"/>
                <a:cs typeface="Arial" pitchFamily="34" charset="-120"/>
              </a:rPr>
              <a:t>Medicines and days supplied</a:t>
            </a:r>
            <a:endParaRPr lang="en-US" sz="850" dirty="0"/>
          </a:p>
        </p:txBody>
      </p:sp>
      <p:sp>
        <p:nvSpPr>
          <p:cNvPr id="42" name="Shape 39"/>
          <p:cNvSpPr/>
          <p:nvPr/>
        </p:nvSpPr>
        <p:spPr>
          <a:xfrm>
            <a:off x="10218420" y="5074920"/>
            <a:ext cx="1371600" cy="274320"/>
          </a:xfrm>
          <a:prstGeom prst="roundRect">
            <a:avLst>
              <a:gd name="adj" fmla="val 50000"/>
            </a:avLst>
          </a:prstGeom>
          <a:solidFill>
            <a:srgbClr val="FFFFFF"/>
          </a:solidFill>
          <a:ln w="12700">
            <a:solidFill>
              <a:srgbClr val="D97706"/>
            </a:solidFill>
            <a:prstDash val="solid"/>
          </a:ln>
        </p:spPr>
      </p:sp>
      <p:sp>
        <p:nvSpPr>
          <p:cNvPr id="43" name="Text 40"/>
          <p:cNvSpPr/>
          <p:nvPr/>
        </p:nvSpPr>
        <p:spPr>
          <a:xfrm>
            <a:off x="10218420" y="5074920"/>
            <a:ext cx="1371600" cy="274320"/>
          </a:xfrm>
          <a:prstGeom prst="rect">
            <a:avLst/>
          </a:prstGeom>
          <a:noFill/>
          <a:ln/>
        </p:spPr>
        <p:txBody>
          <a:bodyPr wrap="square" rtlCol="0" anchor="ctr"/>
          <a:lstStyle/>
          <a:p>
            <a:pPr algn="ctr" indent="0" marL="0">
              <a:buNone/>
            </a:pPr>
            <a:r>
              <a:rPr lang="en-US" sz="850" b="1" dirty="0">
                <a:solidFill>
                  <a:srgbClr val="D97706"/>
                </a:solidFill>
                <a:latin typeface="Arial" pitchFamily="34" charset="0"/>
                <a:ea typeface="Arial" pitchFamily="34" charset="-122"/>
                <a:cs typeface="Arial" pitchFamily="34" charset="-120"/>
              </a:rPr>
              <a:t>Attached notes</a:t>
            </a:r>
            <a:endParaRPr lang="en-US" sz="850" dirty="0"/>
          </a:p>
        </p:txBody>
      </p:sp>
      <p:sp>
        <p:nvSpPr>
          <p:cNvPr id="44" name="Text 41"/>
          <p:cNvSpPr/>
          <p:nvPr/>
        </p:nvSpPr>
        <p:spPr>
          <a:xfrm>
            <a:off x="548640" y="5577840"/>
            <a:ext cx="11064240" cy="411480"/>
          </a:xfrm>
          <a:prstGeom prst="rect">
            <a:avLst/>
          </a:prstGeom>
          <a:noFill/>
          <a:ln/>
        </p:spPr>
        <p:txBody>
          <a:bodyPr wrap="square" rtlCol="0" anchor="ctr"/>
          <a:lstStyle/>
          <a:p>
            <a:pPr indent="0" marL="0">
              <a:buNone/>
            </a:pPr>
            <a:r>
              <a:rPr lang="en-US" sz="950" i="1" dirty="0">
                <a:solidFill>
                  <a:srgbClr val="475569"/>
                </a:solidFill>
                <a:latin typeface="Arial" pitchFamily="34" charset="0"/>
                <a:ea typeface="Arial" pitchFamily="34" charset="-122"/>
                <a:cs typeface="Arial" pitchFamily="34" charset="-120"/>
              </a:rPr>
              <a:t>Only final results and completed procedures count: a test still being processed, or a diagnosis someone ruled out, is never read as present. Attached notes are read by a person, or by an AI model as proposals a person confirms.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EXAMPLE</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What a proof looks like</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A request for a repeat MRI of the lower back, from Vaglio's illustrative example policy (not a real plan's rules).</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7 / 18</a:t>
            </a:r>
            <a:endParaRPr lang="en-US" sz="800" dirty="0"/>
          </a:p>
        </p:txBody>
      </p:sp>
      <p:sp>
        <p:nvSpPr>
          <p:cNvPr id="11" name="Shape 8"/>
          <p:cNvSpPr/>
          <p:nvPr/>
        </p:nvSpPr>
        <p:spPr>
          <a:xfrm>
            <a:off x="548640" y="1645920"/>
            <a:ext cx="6949440" cy="822960"/>
          </a:xfrm>
          <a:prstGeom prst="roundRect">
            <a:avLst>
              <a:gd name="adj" fmla="val 11111"/>
            </a:avLst>
          </a:prstGeom>
          <a:solidFill>
            <a:srgbClr val="EDE9FE"/>
          </a:solidFill>
          <a:ln w="12700">
            <a:solidFill>
              <a:srgbClr val="7C3AED"/>
            </a:solidFill>
            <a:prstDash val="solid"/>
          </a:ln>
        </p:spPr>
      </p:sp>
      <p:sp>
        <p:nvSpPr>
          <p:cNvPr id="12" name="Text 9"/>
          <p:cNvSpPr/>
          <p:nvPr/>
        </p:nvSpPr>
        <p:spPr>
          <a:xfrm>
            <a:off x="731520" y="1664208"/>
            <a:ext cx="6675120" cy="786384"/>
          </a:xfrm>
          <a:prstGeom prst="rect">
            <a:avLst/>
          </a:prstGeom>
          <a:noFill/>
          <a:ln/>
        </p:spPr>
        <p:txBody>
          <a:bodyPr wrap="square" rtlCol="0" anchor="ctr"/>
          <a:lstStyle/>
          <a:p>
            <a:pPr indent="0" marL="0">
              <a:buNone/>
            </a:pPr>
            <a:r>
              <a:rPr lang="en-US" sz="950" b="1" i="1" dirty="0">
                <a:solidFill>
                  <a:srgbClr val="7C3AED"/>
                </a:solidFill>
                <a:latin typeface="Arial" pitchFamily="34" charset="0"/>
                <a:ea typeface="Arial" pitchFamily="34" charset="-122"/>
                <a:cs typeface="Arial" pitchFamily="34" charset="-120"/>
              </a:rPr>
              <a:t>The plan's rule, quoted exactly</a:t>
            </a:r>
            <a:endParaRPr lang="en-US" sz="1200" dirty="0"/>
          </a:p>
          <a:p>
            <a:pPr indent="0" marL="0">
              <a:buNone/>
            </a:pPr>
            <a:r>
              <a:rPr lang="en-US" sz="1200" i="1" dirty="0">
                <a:solidFill>
                  <a:srgbClr val="0F172A"/>
                </a:solidFill>
                <a:latin typeface="Arial" pitchFamily="34" charset="0"/>
                <a:ea typeface="Arial" pitchFamily="34" charset="-122"/>
                <a:cs typeface="Arial" pitchFamily="34" charset="-120"/>
              </a:rPr>
              <a:t>“A repeat MRI within six months of a prior study is not indicated unless the condition has changed.”</a:t>
            </a:r>
            <a:endParaRPr lang="en-US" sz="1200" dirty="0"/>
          </a:p>
        </p:txBody>
      </p:sp>
      <p:sp>
        <p:nvSpPr>
          <p:cNvPr id="13" name="Shape 10"/>
          <p:cNvSpPr/>
          <p:nvPr/>
        </p:nvSpPr>
        <p:spPr>
          <a:xfrm>
            <a:off x="914400" y="2487168"/>
            <a:ext cx="0" cy="256032"/>
          </a:xfrm>
          <a:prstGeom prst="line">
            <a:avLst/>
          </a:prstGeom>
          <a:noFill/>
          <a:ln w="12700">
            <a:solidFill>
              <a:srgbClr val="94A3B8"/>
            </a:solidFill>
            <a:prstDash val="solid"/>
            <a:tailEnd type="triangle"/>
          </a:ln>
        </p:spPr>
      </p:sp>
      <p:sp>
        <p:nvSpPr>
          <p:cNvPr id="14" name="Shape 11"/>
          <p:cNvSpPr/>
          <p:nvPr/>
        </p:nvSpPr>
        <p:spPr>
          <a:xfrm>
            <a:off x="1097280" y="2743200"/>
            <a:ext cx="6400800" cy="777240"/>
          </a:xfrm>
          <a:prstGeom prst="roundRect">
            <a:avLst>
              <a:gd name="adj" fmla="val 9412"/>
            </a:avLst>
          </a:prstGeom>
          <a:solidFill>
            <a:srgbClr val="FFFFFF"/>
          </a:solidFill>
          <a:ln w="12700">
            <a:solidFill>
              <a:srgbClr val="CBD5E1"/>
            </a:solidFill>
            <a:prstDash val="solid"/>
          </a:ln>
        </p:spPr>
      </p:sp>
      <p:sp>
        <p:nvSpPr>
          <p:cNvPr id="15" name="Shape 12"/>
          <p:cNvSpPr/>
          <p:nvPr/>
        </p:nvSpPr>
        <p:spPr>
          <a:xfrm>
            <a:off x="1097280" y="2743200"/>
            <a:ext cx="64008" cy="777240"/>
          </a:xfrm>
          <a:prstGeom prst="rect">
            <a:avLst/>
          </a:prstGeom>
          <a:solidFill>
            <a:srgbClr val="0F172A"/>
          </a:solidFill>
          <a:ln w="12700">
            <a:solidFill>
              <a:srgbClr val="0F172A"/>
            </a:solidFill>
            <a:prstDash val="solid"/>
          </a:ln>
        </p:spPr>
      </p:sp>
      <p:sp>
        <p:nvSpPr>
          <p:cNvPr id="16" name="Text 13"/>
          <p:cNvSpPr/>
          <p:nvPr/>
        </p:nvSpPr>
        <p:spPr>
          <a:xfrm>
            <a:off x="1280160" y="2743200"/>
            <a:ext cx="4480560" cy="777240"/>
          </a:xfrm>
          <a:prstGeom prst="rect">
            <a:avLst/>
          </a:prstGeom>
          <a:noFill/>
          <a:ln/>
        </p:spPr>
        <p:txBody>
          <a:bodyPr wrap="square" rtlCol="0" anchor="ctr"/>
          <a:lstStyle/>
          <a:p>
            <a:pPr indent="0" marL="0">
              <a:buNone/>
            </a:pPr>
            <a:r>
              <a:rPr lang="en-US" sz="1050" dirty="0">
                <a:solidFill>
                  <a:srgbClr val="0F172A"/>
                </a:solidFill>
                <a:latin typeface="Arial" pitchFamily="34" charset="0"/>
                <a:ea typeface="Arial" pitchFamily="34" charset="-122"/>
                <a:cs typeface="Arial" pitchFamily="34" charset="-120"/>
              </a:rPr>
              <a:t>Lumbar MRI in the last six months?</a:t>
            </a:r>
            <a:endParaRPr lang="en-US" sz="1050" dirty="0"/>
          </a:p>
          <a:p>
            <a:pPr indent="0" marL="0">
              <a:buNone/>
            </a:pPr>
            <a:r>
              <a:rPr lang="en-US" sz="850" i="1" dirty="0">
                <a:solidFill>
                  <a:srgbClr val="94A3B8"/>
                </a:solidFill>
                <a:latin typeface="Arial" pitchFamily="34" charset="0"/>
                <a:ea typeface="Arial" pitchFamily="34" charset="-122"/>
                <a:cs typeface="Arial" pitchFamily="34" charset="-120"/>
              </a:rPr>
              <a:t>source: questionnaire answer “prior-imaging-6mo”</a:t>
            </a:r>
            <a:endParaRPr lang="en-US" sz="1050" dirty="0"/>
          </a:p>
        </p:txBody>
      </p:sp>
      <p:sp>
        <p:nvSpPr>
          <p:cNvPr id="17" name="Text 14"/>
          <p:cNvSpPr/>
          <p:nvPr/>
        </p:nvSpPr>
        <p:spPr>
          <a:xfrm>
            <a:off x="5760720" y="2743200"/>
            <a:ext cx="1645920" cy="7772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“Yes”</a:t>
            </a:r>
            <a:endParaRPr lang="en-US" sz="1400" dirty="0"/>
          </a:p>
          <a:p>
            <a:pPr algn="ctr" indent="0" marL="0">
              <a:buNone/>
            </a:pPr>
            <a:r>
              <a:rPr lang="en-US" sz="850" dirty="0">
                <a:solidFill>
                  <a:srgbClr val="475569"/>
                </a:solidFill>
                <a:latin typeface="Arial" pitchFamily="34" charset="0"/>
                <a:ea typeface="Arial" pitchFamily="34" charset="-122"/>
                <a:cs typeface="Arial" pitchFamily="34" charset="-120"/>
              </a:rPr>
              <a:t>present</a:t>
            </a:r>
            <a:endParaRPr lang="en-US" sz="1400" dirty="0"/>
          </a:p>
        </p:txBody>
      </p:sp>
      <p:sp>
        <p:nvSpPr>
          <p:cNvPr id="18" name="Shape 15"/>
          <p:cNvSpPr/>
          <p:nvPr/>
        </p:nvSpPr>
        <p:spPr>
          <a:xfrm>
            <a:off x="7543800" y="3127248"/>
            <a:ext cx="685800" cy="667512"/>
          </a:xfrm>
          <a:prstGeom prst="line">
            <a:avLst/>
          </a:prstGeom>
          <a:noFill/>
          <a:ln w="12700">
            <a:solidFill>
              <a:srgbClr val="94A3B8"/>
            </a:solidFill>
            <a:prstDash val="solid"/>
            <a:tailEnd type="triangle"/>
          </a:ln>
        </p:spPr>
      </p:sp>
      <p:sp>
        <p:nvSpPr>
          <p:cNvPr id="19" name="Shape 16"/>
          <p:cNvSpPr/>
          <p:nvPr/>
        </p:nvSpPr>
        <p:spPr>
          <a:xfrm>
            <a:off x="914400" y="2487168"/>
            <a:ext cx="0" cy="1216152"/>
          </a:xfrm>
          <a:prstGeom prst="line">
            <a:avLst/>
          </a:prstGeom>
          <a:noFill/>
          <a:ln w="12700">
            <a:solidFill>
              <a:srgbClr val="94A3B8"/>
            </a:solidFill>
            <a:prstDash val="solid"/>
            <a:tailEnd type="triangle"/>
          </a:ln>
        </p:spPr>
      </p:sp>
      <p:sp>
        <p:nvSpPr>
          <p:cNvPr id="20" name="Shape 17"/>
          <p:cNvSpPr/>
          <p:nvPr/>
        </p:nvSpPr>
        <p:spPr>
          <a:xfrm>
            <a:off x="1097280" y="3703320"/>
            <a:ext cx="6400800" cy="777240"/>
          </a:xfrm>
          <a:prstGeom prst="roundRect">
            <a:avLst>
              <a:gd name="adj" fmla="val 9412"/>
            </a:avLst>
          </a:prstGeom>
          <a:solidFill>
            <a:srgbClr val="FFFFFF"/>
          </a:solidFill>
          <a:ln w="12700">
            <a:solidFill>
              <a:srgbClr val="CBD5E1"/>
            </a:solidFill>
            <a:prstDash val="solid"/>
          </a:ln>
        </p:spPr>
      </p:sp>
      <p:sp>
        <p:nvSpPr>
          <p:cNvPr id="21" name="Shape 18"/>
          <p:cNvSpPr/>
          <p:nvPr/>
        </p:nvSpPr>
        <p:spPr>
          <a:xfrm>
            <a:off x="1097280" y="3703320"/>
            <a:ext cx="64008" cy="777240"/>
          </a:xfrm>
          <a:prstGeom prst="rect">
            <a:avLst/>
          </a:prstGeom>
          <a:solidFill>
            <a:srgbClr val="DC2626"/>
          </a:solidFill>
          <a:ln w="12700">
            <a:solidFill>
              <a:srgbClr val="DC2626"/>
            </a:solidFill>
            <a:prstDash val="solid"/>
          </a:ln>
        </p:spPr>
      </p:sp>
      <p:sp>
        <p:nvSpPr>
          <p:cNvPr id="22" name="Text 19"/>
          <p:cNvSpPr/>
          <p:nvPr/>
        </p:nvSpPr>
        <p:spPr>
          <a:xfrm>
            <a:off x="1280160" y="3703320"/>
            <a:ext cx="4480560" cy="777240"/>
          </a:xfrm>
          <a:prstGeom prst="rect">
            <a:avLst/>
          </a:prstGeom>
          <a:noFill/>
          <a:ln/>
        </p:spPr>
        <p:txBody>
          <a:bodyPr wrap="square" rtlCol="0" anchor="ctr"/>
          <a:lstStyle/>
          <a:p>
            <a:pPr indent="0" marL="0">
              <a:buNone/>
            </a:pPr>
            <a:r>
              <a:rPr lang="en-US" sz="1050" dirty="0">
                <a:solidFill>
                  <a:srgbClr val="0F172A"/>
                </a:solidFill>
                <a:latin typeface="Arial" pitchFamily="34" charset="0"/>
                <a:ea typeface="Arial" pitchFamily="34" charset="-122"/>
                <a:cs typeface="Arial" pitchFamily="34" charset="-120"/>
              </a:rPr>
              <a:t>Symptoms new or worse since the prior study?</a:t>
            </a:r>
            <a:endParaRPr lang="en-US" sz="1050" dirty="0"/>
          </a:p>
          <a:p>
            <a:pPr indent="0" marL="0">
              <a:buNone/>
            </a:pPr>
            <a:r>
              <a:rPr lang="en-US" sz="850" i="1" dirty="0">
                <a:solidFill>
                  <a:srgbClr val="94A3B8"/>
                </a:solidFill>
                <a:latin typeface="Arial" pitchFamily="34" charset="0"/>
                <a:ea typeface="Arial" pitchFamily="34" charset="-122"/>
                <a:cs typeface="Arial" pitchFamily="34" charset="-120"/>
              </a:rPr>
              <a:t>source: questionnaire answer “new-or-worsening”</a:t>
            </a:r>
            <a:endParaRPr lang="en-US" sz="1050" dirty="0"/>
          </a:p>
        </p:txBody>
      </p:sp>
      <p:sp>
        <p:nvSpPr>
          <p:cNvPr id="23" name="Text 20"/>
          <p:cNvSpPr/>
          <p:nvPr/>
        </p:nvSpPr>
        <p:spPr>
          <a:xfrm>
            <a:off x="5760720" y="3703320"/>
            <a:ext cx="1645920" cy="777240"/>
          </a:xfrm>
          <a:prstGeom prst="rect">
            <a:avLst/>
          </a:prstGeom>
          <a:noFill/>
          <a:ln/>
        </p:spPr>
        <p:txBody>
          <a:bodyPr wrap="square" rtlCol="0" anchor="ctr"/>
          <a:lstStyle/>
          <a:p>
            <a:pPr algn="ctr" indent="0" marL="0">
              <a:buNone/>
            </a:pPr>
            <a:r>
              <a:rPr lang="en-US" sz="1400" b="1" dirty="0">
                <a:solidFill>
                  <a:srgbClr val="DC2626"/>
                </a:solidFill>
                <a:latin typeface="Arial" pitchFamily="34" charset="0"/>
                <a:ea typeface="Arial" pitchFamily="34" charset="-122"/>
                <a:cs typeface="Arial" pitchFamily="34" charset="-120"/>
              </a:rPr>
              <a:t>“No”</a:t>
            </a:r>
            <a:endParaRPr lang="en-US" sz="1400" dirty="0"/>
          </a:p>
          <a:p>
            <a:pPr algn="ctr" indent="0" marL="0">
              <a:buNone/>
            </a:pPr>
            <a:r>
              <a:rPr lang="en-US" sz="850" dirty="0">
                <a:solidFill>
                  <a:srgbClr val="475569"/>
                </a:solidFill>
                <a:latin typeface="Arial" pitchFamily="34" charset="0"/>
                <a:ea typeface="Arial" pitchFamily="34" charset="-122"/>
                <a:cs typeface="Arial" pitchFamily="34" charset="-120"/>
              </a:rPr>
              <a:t>documented absent</a:t>
            </a:r>
            <a:endParaRPr lang="en-US" sz="1400" dirty="0"/>
          </a:p>
        </p:txBody>
      </p:sp>
      <p:sp>
        <p:nvSpPr>
          <p:cNvPr id="24" name="Shape 21"/>
          <p:cNvSpPr/>
          <p:nvPr/>
        </p:nvSpPr>
        <p:spPr>
          <a:xfrm flipV="1">
            <a:off x="7543800" y="3794760"/>
            <a:ext cx="685800" cy="292608"/>
          </a:xfrm>
          <a:prstGeom prst="line">
            <a:avLst/>
          </a:prstGeom>
          <a:noFill/>
          <a:ln w="12700">
            <a:solidFill>
              <a:srgbClr val="94A3B8"/>
            </a:solidFill>
            <a:prstDash val="solid"/>
            <a:tailEnd type="triangle"/>
          </a:ln>
        </p:spPr>
      </p:sp>
      <p:sp>
        <p:nvSpPr>
          <p:cNvPr id="25" name="Shape 22"/>
          <p:cNvSpPr/>
          <p:nvPr/>
        </p:nvSpPr>
        <p:spPr>
          <a:xfrm>
            <a:off x="914400" y="2487168"/>
            <a:ext cx="0" cy="2176272"/>
          </a:xfrm>
          <a:prstGeom prst="line">
            <a:avLst/>
          </a:prstGeom>
          <a:noFill/>
          <a:ln w="12700">
            <a:solidFill>
              <a:srgbClr val="94A3B8"/>
            </a:solidFill>
            <a:prstDash val="solid"/>
            <a:tailEnd type="triangle"/>
          </a:ln>
        </p:spPr>
      </p:sp>
      <p:sp>
        <p:nvSpPr>
          <p:cNvPr id="26" name="Shape 23"/>
          <p:cNvSpPr/>
          <p:nvPr/>
        </p:nvSpPr>
        <p:spPr>
          <a:xfrm>
            <a:off x="1097280" y="4663440"/>
            <a:ext cx="6400800" cy="777240"/>
          </a:xfrm>
          <a:prstGeom prst="roundRect">
            <a:avLst>
              <a:gd name="adj" fmla="val 9412"/>
            </a:avLst>
          </a:prstGeom>
          <a:solidFill>
            <a:srgbClr val="FFFFFF"/>
          </a:solidFill>
          <a:ln w="12700">
            <a:solidFill>
              <a:srgbClr val="CBD5E1"/>
            </a:solidFill>
            <a:prstDash val="solid"/>
          </a:ln>
        </p:spPr>
      </p:sp>
      <p:sp>
        <p:nvSpPr>
          <p:cNvPr id="27" name="Shape 24"/>
          <p:cNvSpPr/>
          <p:nvPr/>
        </p:nvSpPr>
        <p:spPr>
          <a:xfrm>
            <a:off x="1097280" y="4663440"/>
            <a:ext cx="64008" cy="777240"/>
          </a:xfrm>
          <a:prstGeom prst="rect">
            <a:avLst/>
          </a:prstGeom>
          <a:solidFill>
            <a:srgbClr val="DC2626"/>
          </a:solidFill>
          <a:ln w="12700">
            <a:solidFill>
              <a:srgbClr val="DC2626"/>
            </a:solidFill>
            <a:prstDash val="solid"/>
          </a:ln>
        </p:spPr>
      </p:sp>
      <p:sp>
        <p:nvSpPr>
          <p:cNvPr id="28" name="Text 25"/>
          <p:cNvSpPr/>
          <p:nvPr/>
        </p:nvSpPr>
        <p:spPr>
          <a:xfrm>
            <a:off x="1280160" y="4663440"/>
            <a:ext cx="4480560" cy="777240"/>
          </a:xfrm>
          <a:prstGeom prst="rect">
            <a:avLst/>
          </a:prstGeom>
          <a:noFill/>
          <a:ln/>
        </p:spPr>
        <p:txBody>
          <a:bodyPr wrap="square" rtlCol="0" anchor="ctr"/>
          <a:lstStyle/>
          <a:p>
            <a:pPr indent="0" marL="0">
              <a:buNone/>
            </a:pPr>
            <a:r>
              <a:rPr lang="en-US" sz="1050" dirty="0">
                <a:solidFill>
                  <a:srgbClr val="0F172A"/>
                </a:solidFill>
                <a:latin typeface="Arial" pitchFamily="34" charset="0"/>
                <a:ea typeface="Arial" pitchFamily="34" charset="-122"/>
                <a:cs typeface="Arial" pitchFamily="34" charset="-120"/>
              </a:rPr>
              <a:t>A red-flag finding (suspected cauda equina, infection, fracture …)?</a:t>
            </a:r>
            <a:endParaRPr lang="en-US" sz="1050" dirty="0"/>
          </a:p>
          <a:p>
            <a:pPr indent="0" marL="0">
              <a:buNone/>
            </a:pPr>
            <a:r>
              <a:rPr lang="en-US" sz="850" i="1" dirty="0">
                <a:solidFill>
                  <a:srgbClr val="94A3B8"/>
                </a:solidFill>
                <a:latin typeface="Arial" pitchFamily="34" charset="0"/>
                <a:ea typeface="Arial" pitchFamily="34" charset="-122"/>
                <a:cs typeface="Arial" pitchFamily="34" charset="-120"/>
              </a:rPr>
              <a:t>source: questionnaire answer “red-flag”</a:t>
            </a:r>
            <a:endParaRPr lang="en-US" sz="1050" dirty="0"/>
          </a:p>
        </p:txBody>
      </p:sp>
      <p:sp>
        <p:nvSpPr>
          <p:cNvPr id="29" name="Text 26"/>
          <p:cNvSpPr/>
          <p:nvPr/>
        </p:nvSpPr>
        <p:spPr>
          <a:xfrm>
            <a:off x="5760720" y="4663440"/>
            <a:ext cx="1645920" cy="777240"/>
          </a:xfrm>
          <a:prstGeom prst="rect">
            <a:avLst/>
          </a:prstGeom>
          <a:noFill/>
          <a:ln/>
        </p:spPr>
        <p:txBody>
          <a:bodyPr wrap="square" rtlCol="0" anchor="ctr"/>
          <a:lstStyle/>
          <a:p>
            <a:pPr algn="ctr" indent="0" marL="0">
              <a:buNone/>
            </a:pPr>
            <a:r>
              <a:rPr lang="en-US" sz="1400" b="1" dirty="0">
                <a:solidFill>
                  <a:srgbClr val="DC2626"/>
                </a:solidFill>
                <a:latin typeface="Arial" pitchFamily="34" charset="0"/>
                <a:ea typeface="Arial" pitchFamily="34" charset="-122"/>
                <a:cs typeface="Arial" pitchFamily="34" charset="-120"/>
              </a:rPr>
              <a:t>“No”</a:t>
            </a:r>
            <a:endParaRPr lang="en-US" sz="1400" dirty="0"/>
          </a:p>
          <a:p>
            <a:pPr algn="ctr" indent="0" marL="0">
              <a:buNone/>
            </a:pPr>
            <a:r>
              <a:rPr lang="en-US" sz="850" dirty="0">
                <a:solidFill>
                  <a:srgbClr val="475569"/>
                </a:solidFill>
                <a:latin typeface="Arial" pitchFamily="34" charset="0"/>
                <a:ea typeface="Arial" pitchFamily="34" charset="-122"/>
                <a:cs typeface="Arial" pitchFamily="34" charset="-120"/>
              </a:rPr>
              <a:t>documented absent</a:t>
            </a:r>
            <a:endParaRPr lang="en-US" sz="1400" dirty="0"/>
          </a:p>
        </p:txBody>
      </p:sp>
      <p:sp>
        <p:nvSpPr>
          <p:cNvPr id="30" name="Shape 27"/>
          <p:cNvSpPr/>
          <p:nvPr/>
        </p:nvSpPr>
        <p:spPr>
          <a:xfrm flipV="1">
            <a:off x="7543800" y="3794760"/>
            <a:ext cx="685800" cy="1252728"/>
          </a:xfrm>
          <a:prstGeom prst="line">
            <a:avLst/>
          </a:prstGeom>
          <a:noFill/>
          <a:ln w="12700">
            <a:solidFill>
              <a:srgbClr val="94A3B8"/>
            </a:solidFill>
            <a:prstDash val="solid"/>
            <a:tailEnd type="triangle"/>
          </a:ln>
        </p:spPr>
      </p:sp>
      <p:sp>
        <p:nvSpPr>
          <p:cNvPr id="31" name="Shape 28"/>
          <p:cNvSpPr/>
          <p:nvPr/>
        </p:nvSpPr>
        <p:spPr>
          <a:xfrm>
            <a:off x="8275320" y="2971800"/>
            <a:ext cx="3364992" cy="1691640"/>
          </a:xfrm>
          <a:prstGeom prst="roundRect">
            <a:avLst>
              <a:gd name="adj" fmla="val 6486"/>
            </a:avLst>
          </a:prstGeom>
          <a:solidFill>
            <a:srgbClr val="FEE2E2"/>
          </a:solidFill>
          <a:ln w="19050">
            <a:solidFill>
              <a:srgbClr val="DC2626"/>
            </a:solidFill>
            <a:prstDash val="solid"/>
          </a:ln>
        </p:spPr>
      </p:sp>
      <p:sp>
        <p:nvSpPr>
          <p:cNvPr id="32" name="Shape 29"/>
          <p:cNvSpPr/>
          <p:nvPr/>
        </p:nvSpPr>
        <p:spPr>
          <a:xfrm>
            <a:off x="8458200" y="3127248"/>
            <a:ext cx="411480" cy="411480"/>
          </a:xfrm>
          <a:prstGeom prst="ellipse">
            <a:avLst/>
          </a:prstGeom>
          <a:solidFill>
            <a:srgbClr val="DC2626"/>
          </a:solidFill>
          <a:ln w="12700">
            <a:solidFill>
              <a:srgbClr val="DC2626"/>
            </a:solidFill>
            <a:prstDash val="solid"/>
          </a:ln>
        </p:spPr>
      </p:sp>
      <p:sp>
        <p:nvSpPr>
          <p:cNvPr id="33" name="Text 30"/>
          <p:cNvSpPr/>
          <p:nvPr/>
        </p:nvSpPr>
        <p:spPr>
          <a:xfrm>
            <a:off x="8458200" y="3127248"/>
            <a:ext cx="411480" cy="411480"/>
          </a:xfrm>
          <a:prstGeom prst="rect">
            <a:avLst/>
          </a:prstGeom>
          <a:noFill/>
          <a:ln/>
        </p:spPr>
        <p:txBody>
          <a:bodyPr wrap="square" rtlCol="0" anchor="ctr"/>
          <a:lstStyle/>
          <a:p>
            <a:pPr algn="ctr" indent="0" marL="0">
              <a:buNone/>
            </a:pPr>
            <a:r>
              <a:rPr lang="en-US" sz="1530" b="1" dirty="0">
                <a:solidFill>
                  <a:srgbClr val="FFFFFF"/>
                </a:solidFill>
                <a:latin typeface="Arial" pitchFamily="34" charset="0"/>
                <a:ea typeface="Arial" pitchFamily="34" charset="-122"/>
                <a:cs typeface="Arial" pitchFamily="34" charset="-120"/>
              </a:rPr>
              <a:t>×</a:t>
            </a:r>
            <a:endParaRPr lang="en-US" sz="1530" dirty="0"/>
          </a:p>
        </p:txBody>
      </p:sp>
      <p:sp>
        <p:nvSpPr>
          <p:cNvPr id="34" name="Text 31"/>
          <p:cNvSpPr/>
          <p:nvPr/>
        </p:nvSpPr>
        <p:spPr>
          <a:xfrm>
            <a:off x="8961120" y="3090672"/>
            <a:ext cx="2286000" cy="457200"/>
          </a:xfrm>
          <a:prstGeom prst="rect">
            <a:avLst/>
          </a:prstGeom>
          <a:noFill/>
          <a:ln/>
        </p:spPr>
        <p:txBody>
          <a:bodyPr wrap="square" rtlCol="0" anchor="ctr"/>
          <a:lstStyle/>
          <a:p>
            <a:pPr indent="0" marL="0">
              <a:buNone/>
            </a:pPr>
            <a:r>
              <a:rPr lang="en-US" sz="1600" b="1" dirty="0">
                <a:solidFill>
                  <a:srgbClr val="DC2626"/>
                </a:solidFill>
                <a:latin typeface="Arial" pitchFamily="34" charset="0"/>
                <a:ea typeface="Arial" pitchFamily="34" charset="-122"/>
                <a:cs typeface="Arial" pitchFamily="34" charset="-120"/>
              </a:rPr>
              <a:t>Deny</a:t>
            </a:r>
            <a:endParaRPr lang="en-US" sz="1600" dirty="0"/>
          </a:p>
        </p:txBody>
      </p:sp>
      <p:sp>
        <p:nvSpPr>
          <p:cNvPr id="35" name="Text 32"/>
          <p:cNvSpPr/>
          <p:nvPr/>
        </p:nvSpPr>
        <p:spPr>
          <a:xfrm>
            <a:off x="8458200" y="3611880"/>
            <a:ext cx="3063240" cy="1005840"/>
          </a:xfrm>
          <a:prstGeom prst="rect">
            <a:avLst/>
          </a:prstGeom>
          <a:noFill/>
          <a:ln/>
        </p:spPr>
        <p:txBody>
          <a:bodyPr wrap="square" rtlCol="0" anchor="t"/>
          <a:lstStyle/>
          <a:p>
            <a:pPr indent="0" marL="0">
              <a:buNone/>
            </a:pPr>
            <a:r>
              <a:rPr lang="en-US" sz="950" dirty="0">
                <a:solidFill>
                  <a:srgbClr val="0F172A"/>
                </a:solidFill>
                <a:latin typeface="Arial" pitchFamily="34" charset="0"/>
                <a:ea typeface="Arial" pitchFamily="34" charset="-122"/>
                <a:cs typeface="Arial" pitchFamily="34" charset="-120"/>
              </a:rPr>
              <a:t>A repeat study within six months with no change in the condition. Documented as absent: a red-flag finding; new or worsening symptoms.</a:t>
            </a:r>
            <a:endParaRPr lang="en-US" sz="950" dirty="0"/>
          </a:p>
        </p:txBody>
      </p:sp>
      <p:sp>
        <p:nvSpPr>
          <p:cNvPr id="36" name="Shape 33"/>
          <p:cNvSpPr/>
          <p:nvPr/>
        </p:nvSpPr>
        <p:spPr>
          <a:xfrm>
            <a:off x="8275320" y="4846320"/>
            <a:ext cx="3364992" cy="960120"/>
          </a:xfrm>
          <a:prstGeom prst="roundRect">
            <a:avLst>
              <a:gd name="adj" fmla="val 11429"/>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37" name="Shape 34"/>
          <p:cNvSpPr/>
          <p:nvPr/>
        </p:nvSpPr>
        <p:spPr>
          <a:xfrm>
            <a:off x="8385048" y="5010912"/>
            <a:ext cx="54864" cy="630936"/>
          </a:xfrm>
          <a:prstGeom prst="rect">
            <a:avLst/>
          </a:prstGeom>
          <a:solidFill>
            <a:srgbClr val="D97706"/>
          </a:solidFill>
          <a:ln w="12700">
            <a:solidFill>
              <a:srgbClr val="D97706"/>
            </a:solidFill>
            <a:prstDash val="solid"/>
          </a:ln>
        </p:spPr>
      </p:sp>
      <p:sp>
        <p:nvSpPr>
          <p:cNvPr id="38" name="Text 35"/>
          <p:cNvSpPr/>
          <p:nvPr/>
        </p:nvSpPr>
        <p:spPr>
          <a:xfrm>
            <a:off x="8549640" y="4974336"/>
            <a:ext cx="2926080" cy="74066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Had either question been left unanswered, the answer would have been a pend asking for it: never a denial.</a:t>
            </a:r>
            <a:endParaRPr lang="en-US" sz="950" dirty="0"/>
          </a:p>
        </p:txBody>
      </p:sp>
      <p:sp>
        <p:nvSpPr>
          <p:cNvPr id="39" name="Text 36"/>
          <p:cNvSpPr/>
          <p:nvPr/>
        </p:nvSpPr>
        <p:spPr>
          <a:xfrm>
            <a:off x="548640" y="5715000"/>
            <a:ext cx="7589520" cy="548640"/>
          </a:xfrm>
          <a:prstGeom prst="rect">
            <a:avLst/>
          </a:prstGeom>
          <a:noFill/>
          <a:ln/>
        </p:spPr>
        <p:txBody>
          <a:bodyPr wrap="square" rtlCol="0" anchor="ctr"/>
          <a:lstStyle/>
          <a:p>
            <a:pPr indent="0" marL="0">
              <a:buNone/>
            </a:pPr>
            <a:r>
              <a:rPr lang="en-US" sz="950" i="1" dirty="0">
                <a:solidFill>
                  <a:srgbClr val="475569"/>
                </a:solidFill>
                <a:latin typeface="Arial" pitchFamily="34" charset="0"/>
                <a:ea typeface="Arial" pitchFamily="34" charset="-122"/>
                <a:cs typeface="Arial" pitchFamily="34" charset="-120"/>
              </a:rPr>
              <a:t>Each step of the proof cites the rule it applies and where in the record its evidence was found, so the doctor, a reviewer or an auditor can check every link.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POLICIES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A plan's policy, written as plain rules</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Each policy is a short text file in a small, readable language. The plan's own sentences stay in it, word for word.</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8 / 18</a:t>
            </a:r>
            <a:endParaRPr lang="en-US" sz="800" dirty="0"/>
          </a:p>
        </p:txBody>
      </p:sp>
      <p:sp>
        <p:nvSpPr>
          <p:cNvPr id="11" name="Shape 8"/>
          <p:cNvSpPr/>
          <p:nvPr/>
        </p:nvSpPr>
        <p:spPr>
          <a:xfrm>
            <a:off x="548640" y="1645920"/>
            <a:ext cx="6766560" cy="4160520"/>
          </a:xfrm>
          <a:prstGeom prst="roundRect">
            <a:avLst>
              <a:gd name="adj" fmla="val 2198"/>
            </a:avLst>
          </a:prstGeom>
          <a:solidFill>
            <a:srgbClr val="0B1220"/>
          </a:solidFill>
          <a:ln w="12700">
            <a:solidFill>
              <a:srgbClr val="0B1220"/>
            </a:solidFill>
            <a:prstDash val="solid"/>
          </a:ln>
        </p:spPr>
      </p:sp>
      <p:sp>
        <p:nvSpPr>
          <p:cNvPr id="12" name="Text 9"/>
          <p:cNvSpPr/>
          <p:nvPr/>
        </p:nvSpPr>
        <p:spPr>
          <a:xfrm>
            <a:off x="731520" y="1783080"/>
            <a:ext cx="6492240" cy="3931920"/>
          </a:xfrm>
          <a:prstGeom prst="rect">
            <a:avLst/>
          </a:prstGeom>
          <a:noFill/>
          <a:ln/>
        </p:spPr>
        <p:txBody>
          <a:bodyPr wrap="square" rtlCol="0" anchor="t"/>
          <a:lstStyle/>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evidence </a:t>
            </a:r>
            <a:pPr indent="0" marL="0">
              <a:lnSpc>
                <a:spcPct val="125000"/>
              </a:lnSpc>
              <a:buNone/>
            </a:pPr>
            <a:r>
              <a:rPr lang="en-US" sz="1150" dirty="0">
                <a:solidFill>
                  <a:srgbClr val="F0ABFC"/>
                </a:solidFill>
                <a:latin typeface="Courier New" pitchFamily="34" charset="0"/>
                <a:ea typeface="Courier New" pitchFamily="34" charset="-122"/>
                <a:cs typeface="Courier New" pitchFamily="34" charset="-120"/>
              </a:rPr>
              <a:t>red_flag</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text </a:t>
            </a:r>
            <a:pPr indent="0" marL="0">
              <a:lnSpc>
                <a:spcPct val="125000"/>
              </a:lnSpc>
              <a:buNone/>
            </a:pPr>
            <a:r>
              <a:rPr lang="en-US" sz="1150" dirty="0">
                <a:solidFill>
                  <a:srgbClr val="E2E8F0"/>
                </a:solidFill>
                <a:latin typeface="Courier New" pitchFamily="34" charset="0"/>
                <a:ea typeface="Courier New" pitchFamily="34" charset="-122"/>
                <a:cs typeface="Courier New" pitchFamily="34" charset="-120"/>
              </a:rPr>
              <a:t>"A red-flag finding (suspected cauda equina, infection, fracture …)"</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clause </a:t>
            </a:r>
            <a:pPr indent="0" marL="0">
              <a:lnSpc>
                <a:spcPct val="125000"/>
              </a:lnSpc>
              <a:buNone/>
            </a:pPr>
            <a:r>
              <a:rPr lang="en-US" sz="1150" dirty="0">
                <a:solidFill>
                  <a:srgbClr val="6EE7B7"/>
                </a:solidFill>
                <a:latin typeface="Courier New" pitchFamily="34" charset="0"/>
                <a:ea typeface="Courier New" pitchFamily="34" charset="-122"/>
                <a:cs typeface="Courier New" pitchFamily="34" charset="-120"/>
              </a:rPr>
              <a:t>"MRI is indicated without a trial of conservative therapy when a</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a:t>
            </a:r>
            <a:pPr indent="0" marL="0">
              <a:lnSpc>
                <a:spcPct val="125000"/>
              </a:lnSpc>
              <a:buNone/>
            </a:pPr>
            <a:r>
              <a:rPr lang="en-US" sz="1150" dirty="0">
                <a:solidFill>
                  <a:srgbClr val="6EE7B7"/>
                </a:solidFill>
                <a:latin typeface="Courier New" pitchFamily="34" charset="0"/>
                <a:ea typeface="Courier New" pitchFamily="34" charset="-122"/>
                <a:cs typeface="Courier New" pitchFamily="34" charset="-120"/>
              </a:rPr>
              <a:t> red-flag condition is suspected."</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find question </a:t>
            </a:r>
            <a:pPr indent="0" marL="0">
              <a:lnSpc>
                <a:spcPct val="125000"/>
              </a:lnSpc>
              <a:buNone/>
            </a:pPr>
            <a:r>
              <a:rPr lang="en-US" sz="1150" dirty="0">
                <a:solidFill>
                  <a:srgbClr val="93C5FD"/>
                </a:solidFill>
                <a:latin typeface="Courier New" pitchFamily="34" charset="0"/>
                <a:ea typeface="Courier New" pitchFamily="34" charset="-122"/>
                <a:cs typeface="Courier New" pitchFamily="34" charset="-120"/>
              </a:rPr>
              <a:t>red-flag</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find condition icd10 </a:t>
            </a:r>
            <a:pPr indent="0" marL="0">
              <a:lnSpc>
                <a:spcPct val="125000"/>
              </a:lnSpc>
              <a:buNone/>
            </a:pPr>
            <a:r>
              <a:rPr lang="en-US" sz="1150" dirty="0">
                <a:solidFill>
                  <a:srgbClr val="93C5FD"/>
                </a:solidFill>
                <a:latin typeface="Courier New" pitchFamily="34" charset="0"/>
                <a:ea typeface="Courier New" pitchFamily="34" charset="-122"/>
                <a:cs typeface="Courier New" pitchFamily="34" charset="-120"/>
              </a:rPr>
              <a:t>G83.4 M46.26 C79.51 when confirmed provisional</a:t>
            </a:r>
            <a:endParaRPr lang="en-US" sz="1150" dirty="0"/>
          </a:p>
          <a:p>
            <a:pPr indent="0" marL="0">
              <a:lnSpc>
                <a:spcPct val="125000"/>
              </a:lnSpc>
              <a:buNone/>
            </a:pPr>
            <a:pPr indent="0" marL="0">
              <a:lnSpc>
                <a:spcPct val="125000"/>
              </a:lnSpc>
              <a:buNone/>
            </a:pP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criterion </a:t>
            </a:r>
            <a:pPr indent="0" marL="0">
              <a:lnSpc>
                <a:spcPct val="125000"/>
              </a:lnSpc>
              <a:buNone/>
            </a:pPr>
            <a:r>
              <a:rPr lang="en-US" sz="1150" dirty="0">
                <a:solidFill>
                  <a:srgbClr val="F0ABFC"/>
                </a:solidFill>
                <a:latin typeface="Courier New" pitchFamily="34" charset="0"/>
                <a:ea typeface="Courier New" pitchFamily="34" charset="-122"/>
                <a:cs typeface="Courier New" pitchFamily="34" charset="-120"/>
              </a:rPr>
              <a:t>duplicate_study</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text </a:t>
            </a:r>
            <a:pPr indent="0" marL="0">
              <a:lnSpc>
                <a:spcPct val="125000"/>
              </a:lnSpc>
              <a:buNone/>
            </a:pPr>
            <a:r>
              <a:rPr lang="en-US" sz="1150" dirty="0">
                <a:solidFill>
                  <a:srgbClr val="E2E8F0"/>
                </a:solidFill>
                <a:latin typeface="Courier New" pitchFamily="34" charset="0"/>
                <a:ea typeface="Courier New" pitchFamily="34" charset="-122"/>
                <a:cs typeface="Courier New" pitchFamily="34" charset="-120"/>
              </a:rPr>
              <a:t>"The request repeats a recent study with no change in the condition."</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defeated by </a:t>
            </a:r>
            <a:pPr indent="0" marL="0">
              <a:lnSpc>
                <a:spcPct val="125000"/>
              </a:lnSpc>
              <a:buNone/>
            </a:pPr>
            <a:r>
              <a:rPr lang="en-US" sz="1150" dirty="0">
                <a:solidFill>
                  <a:srgbClr val="FCA5A5"/>
                </a:solidFill>
                <a:latin typeface="Courier New" pitchFamily="34" charset="0"/>
                <a:ea typeface="Courier New" pitchFamily="34" charset="-122"/>
                <a:cs typeface="Courier New" pitchFamily="34" charset="-120"/>
              </a:rPr>
              <a:t>no_recent_imaging new_or_worsening_symptoms red_flag</a:t>
            </a:r>
            <a:endParaRPr lang="en-US" sz="1150" dirty="0"/>
          </a:p>
          <a:p>
            <a:pPr indent="0" marL="0">
              <a:lnSpc>
                <a:spcPct val="125000"/>
              </a:lnSpc>
              <a:buNone/>
            </a:pPr>
            <a:pPr indent="0" marL="0">
              <a:lnSpc>
                <a:spcPct val="125000"/>
              </a:lnSpc>
              <a:buNone/>
            </a:pP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decision </a:t>
            </a:r>
            <a:pPr indent="0" marL="0">
              <a:lnSpc>
                <a:spcPct val="125000"/>
              </a:lnSpc>
              <a:buNone/>
            </a:pPr>
            <a:r>
              <a:rPr lang="en-US" sz="1150" dirty="0">
                <a:solidFill>
                  <a:srgbClr val="F0ABFC"/>
                </a:solidFill>
                <a:latin typeface="Courier New" pitchFamily="34" charset="0"/>
                <a:ea typeface="Courier New" pitchFamily="34" charset="-122"/>
                <a:cs typeface="Courier New" pitchFamily="34" charset="-120"/>
              </a:rPr>
              <a:t>approve approves</a:t>
            </a:r>
            <a:endParaRPr lang="en-US" sz="1150" dirty="0"/>
          </a:p>
          <a:p>
            <a:pPr indent="0" marL="0">
              <a:lnSpc>
                <a:spcPct val="125000"/>
              </a:lnSpc>
              <a:buNone/>
            </a:pPr>
            <a:r>
              <a:rPr lang="en-US" sz="1150" dirty="0">
                <a:solidFill>
                  <a:srgbClr val="A5B4FC"/>
                </a:solidFill>
                <a:latin typeface="Courier New" pitchFamily="34" charset="0"/>
                <a:ea typeface="Courier New" pitchFamily="34" charset="-122"/>
                <a:cs typeface="Courier New" pitchFamily="34" charset="-120"/>
              </a:rPr>
              <a:t>  defeated by </a:t>
            </a:r>
            <a:pPr indent="0" marL="0">
              <a:lnSpc>
                <a:spcPct val="125000"/>
              </a:lnSpc>
              <a:buNone/>
            </a:pPr>
            <a:r>
              <a:rPr lang="en-US" sz="1150" dirty="0">
                <a:solidFill>
                  <a:srgbClr val="FCA5A5"/>
                </a:solidFill>
                <a:latin typeface="Courier New" pitchFamily="34" charset="0"/>
                <a:ea typeface="Courier New" pitchFamily="34" charset="-122"/>
                <a:cs typeface="Courier New" pitchFamily="34" charset="-120"/>
              </a:rPr>
              <a:t>indication_unestablished duplicate_study</a:t>
            </a:r>
            <a:endParaRPr lang="en-US" sz="1150" dirty="0"/>
          </a:p>
        </p:txBody>
      </p:sp>
      <p:sp>
        <p:nvSpPr>
          <p:cNvPr id="13" name="Shape 10"/>
          <p:cNvSpPr/>
          <p:nvPr/>
        </p:nvSpPr>
        <p:spPr>
          <a:xfrm>
            <a:off x="7543800" y="1645920"/>
            <a:ext cx="4096512" cy="950976"/>
          </a:xfrm>
          <a:prstGeom prst="roundRect">
            <a:avLst>
              <a:gd name="adj" fmla="val 11538"/>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4" name="Shape 11"/>
          <p:cNvSpPr/>
          <p:nvPr/>
        </p:nvSpPr>
        <p:spPr>
          <a:xfrm>
            <a:off x="7653528" y="1810512"/>
            <a:ext cx="54864" cy="621792"/>
          </a:xfrm>
          <a:prstGeom prst="rect">
            <a:avLst/>
          </a:prstGeom>
          <a:solidFill>
            <a:srgbClr val="7C3AED"/>
          </a:solidFill>
          <a:ln w="12700">
            <a:solidFill>
              <a:srgbClr val="7C3AED"/>
            </a:solidFill>
            <a:prstDash val="solid"/>
          </a:ln>
        </p:spPr>
      </p:sp>
      <p:sp>
        <p:nvSpPr>
          <p:cNvPr id="15" name="Text 12"/>
          <p:cNvSpPr/>
          <p:nvPr/>
        </p:nvSpPr>
        <p:spPr>
          <a:xfrm>
            <a:off x="7818120" y="1773936"/>
            <a:ext cx="3657600" cy="347472"/>
          </a:xfrm>
          <a:prstGeom prst="rect">
            <a:avLst/>
          </a:prstGeom>
          <a:noFill/>
          <a:ln/>
        </p:spPr>
        <p:txBody>
          <a:bodyPr wrap="square" rtlCol="0" anchor="t"/>
          <a:lstStyle/>
          <a:p>
            <a:pPr indent="0" marL="0">
              <a:buNone/>
            </a:pPr>
            <a:r>
              <a:rPr lang="en-US" sz="1150" b="1" dirty="0">
                <a:solidFill>
                  <a:srgbClr val="7C3AED"/>
                </a:solidFill>
                <a:latin typeface="Arial" pitchFamily="34" charset="0"/>
                <a:ea typeface="Arial" pitchFamily="34" charset="-122"/>
                <a:cs typeface="Arial" pitchFamily="34" charset="-120"/>
              </a:rPr>
              <a:t>evidence</a:t>
            </a:r>
            <a:endParaRPr lang="en-US" sz="1150" dirty="0"/>
          </a:p>
        </p:txBody>
      </p:sp>
      <p:sp>
        <p:nvSpPr>
          <p:cNvPr id="16" name="Text 13"/>
          <p:cNvSpPr/>
          <p:nvPr/>
        </p:nvSpPr>
        <p:spPr>
          <a:xfrm>
            <a:off x="7818120" y="2066544"/>
            <a:ext cx="3657600" cy="438912"/>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A fact about the patient, and every place in a request it may be found: a question's answer, a diagnosis code, a past procedure.</a:t>
            </a:r>
            <a:endParaRPr lang="en-US" sz="950" dirty="0"/>
          </a:p>
        </p:txBody>
      </p:sp>
      <p:sp>
        <p:nvSpPr>
          <p:cNvPr id="17" name="Shape 14"/>
          <p:cNvSpPr/>
          <p:nvPr/>
        </p:nvSpPr>
        <p:spPr>
          <a:xfrm>
            <a:off x="7543800" y="2706624"/>
            <a:ext cx="4096512" cy="950976"/>
          </a:xfrm>
          <a:prstGeom prst="roundRect">
            <a:avLst>
              <a:gd name="adj" fmla="val 11538"/>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8" name="Shape 15"/>
          <p:cNvSpPr/>
          <p:nvPr/>
        </p:nvSpPr>
        <p:spPr>
          <a:xfrm>
            <a:off x="7653528" y="2871216"/>
            <a:ext cx="54864" cy="621792"/>
          </a:xfrm>
          <a:prstGeom prst="rect">
            <a:avLst/>
          </a:prstGeom>
          <a:solidFill>
            <a:srgbClr val="059669"/>
          </a:solidFill>
          <a:ln w="12700">
            <a:solidFill>
              <a:srgbClr val="059669"/>
            </a:solidFill>
            <a:prstDash val="solid"/>
          </a:ln>
        </p:spPr>
      </p:sp>
      <p:sp>
        <p:nvSpPr>
          <p:cNvPr id="19" name="Text 16"/>
          <p:cNvSpPr/>
          <p:nvPr/>
        </p:nvSpPr>
        <p:spPr>
          <a:xfrm>
            <a:off x="7818120" y="2834640"/>
            <a:ext cx="3657600" cy="347472"/>
          </a:xfrm>
          <a:prstGeom prst="rect">
            <a:avLst/>
          </a:prstGeom>
          <a:noFill/>
          <a:ln/>
        </p:spPr>
        <p:txBody>
          <a:bodyPr wrap="square" rtlCol="0" anchor="t"/>
          <a:lstStyle/>
          <a:p>
            <a:pPr indent="0" marL="0">
              <a:buNone/>
            </a:pPr>
            <a:r>
              <a:rPr lang="en-US" sz="1150" b="1" dirty="0">
                <a:solidFill>
                  <a:srgbClr val="059669"/>
                </a:solidFill>
                <a:latin typeface="Arial" pitchFamily="34" charset="0"/>
                <a:ea typeface="Arial" pitchFamily="34" charset="-122"/>
                <a:cs typeface="Arial" pitchFamily="34" charset="-120"/>
              </a:rPr>
              <a:t>clause</a:t>
            </a:r>
            <a:endParaRPr lang="en-US" sz="1150" dirty="0"/>
          </a:p>
        </p:txBody>
      </p:sp>
      <p:sp>
        <p:nvSpPr>
          <p:cNvPr id="20" name="Text 17"/>
          <p:cNvSpPr/>
          <p:nvPr/>
        </p:nvSpPr>
        <p:spPr>
          <a:xfrm>
            <a:off x="7818120" y="3127248"/>
            <a:ext cx="3657600" cy="438912"/>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The sentence of the plan's policy that the rule encodes, quoted exactly. It is what the doctor is shown.</a:t>
            </a:r>
            <a:endParaRPr lang="en-US" sz="950" dirty="0"/>
          </a:p>
        </p:txBody>
      </p:sp>
      <p:sp>
        <p:nvSpPr>
          <p:cNvPr id="21" name="Shape 18"/>
          <p:cNvSpPr/>
          <p:nvPr/>
        </p:nvSpPr>
        <p:spPr>
          <a:xfrm>
            <a:off x="7543800" y="3767328"/>
            <a:ext cx="4096512" cy="950976"/>
          </a:xfrm>
          <a:prstGeom prst="roundRect">
            <a:avLst>
              <a:gd name="adj" fmla="val 11538"/>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2" name="Shape 19"/>
          <p:cNvSpPr/>
          <p:nvPr/>
        </p:nvSpPr>
        <p:spPr>
          <a:xfrm>
            <a:off x="7653528" y="3931920"/>
            <a:ext cx="54864" cy="621792"/>
          </a:xfrm>
          <a:prstGeom prst="rect">
            <a:avLst/>
          </a:prstGeom>
          <a:solidFill>
            <a:srgbClr val="2563EB"/>
          </a:solidFill>
          <a:ln w="12700">
            <a:solidFill>
              <a:srgbClr val="2563EB"/>
            </a:solidFill>
            <a:prstDash val="solid"/>
          </a:ln>
        </p:spPr>
      </p:sp>
      <p:sp>
        <p:nvSpPr>
          <p:cNvPr id="23" name="Text 20"/>
          <p:cNvSpPr/>
          <p:nvPr/>
        </p:nvSpPr>
        <p:spPr>
          <a:xfrm>
            <a:off x="7818120" y="3895344"/>
            <a:ext cx="3657600" cy="347472"/>
          </a:xfrm>
          <a:prstGeom prst="rect">
            <a:avLst/>
          </a:prstGeom>
          <a:noFill/>
          <a:ln/>
        </p:spPr>
        <p:txBody>
          <a:bodyPr wrap="square" rtlCol="0" anchor="t"/>
          <a:lstStyle/>
          <a:p>
            <a:pPr indent="0" marL="0">
              <a:buNone/>
            </a:pPr>
            <a:r>
              <a:rPr lang="en-US" sz="1150" b="1" dirty="0">
                <a:solidFill>
                  <a:srgbClr val="2563EB"/>
                </a:solidFill>
                <a:latin typeface="Arial" pitchFamily="34" charset="0"/>
                <a:ea typeface="Arial" pitchFamily="34" charset="-122"/>
                <a:cs typeface="Arial" pitchFamily="34" charset="-120"/>
              </a:rPr>
              <a:t>find …</a:t>
            </a:r>
            <a:endParaRPr lang="en-US" sz="1150" dirty="0"/>
          </a:p>
        </p:txBody>
      </p:sp>
      <p:sp>
        <p:nvSpPr>
          <p:cNvPr id="24" name="Text 21"/>
          <p:cNvSpPr/>
          <p:nvPr/>
        </p:nvSpPr>
        <p:spPr>
          <a:xfrm>
            <a:off x="7818120" y="4187952"/>
            <a:ext cx="3657600" cy="438912"/>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Where to look. Diagnoses count only with the statuses named; a ruled-out diagnosis never counts.</a:t>
            </a:r>
            <a:endParaRPr lang="en-US" sz="950" dirty="0"/>
          </a:p>
        </p:txBody>
      </p:sp>
      <p:sp>
        <p:nvSpPr>
          <p:cNvPr id="25" name="Shape 22"/>
          <p:cNvSpPr/>
          <p:nvPr/>
        </p:nvSpPr>
        <p:spPr>
          <a:xfrm>
            <a:off x="7543800" y="4828032"/>
            <a:ext cx="4096512" cy="950976"/>
          </a:xfrm>
          <a:prstGeom prst="roundRect">
            <a:avLst>
              <a:gd name="adj" fmla="val 11538"/>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6" name="Shape 23"/>
          <p:cNvSpPr/>
          <p:nvPr/>
        </p:nvSpPr>
        <p:spPr>
          <a:xfrm>
            <a:off x="7653528" y="4992624"/>
            <a:ext cx="54864" cy="621792"/>
          </a:xfrm>
          <a:prstGeom prst="rect">
            <a:avLst/>
          </a:prstGeom>
          <a:solidFill>
            <a:srgbClr val="DC2626"/>
          </a:solidFill>
          <a:ln w="12700">
            <a:solidFill>
              <a:srgbClr val="DC2626"/>
            </a:solidFill>
            <a:prstDash val="solid"/>
          </a:ln>
        </p:spPr>
      </p:sp>
      <p:sp>
        <p:nvSpPr>
          <p:cNvPr id="27" name="Text 24"/>
          <p:cNvSpPr/>
          <p:nvPr/>
        </p:nvSpPr>
        <p:spPr>
          <a:xfrm>
            <a:off x="7818120" y="4956048"/>
            <a:ext cx="3657600" cy="347472"/>
          </a:xfrm>
          <a:prstGeom prst="rect">
            <a:avLst/>
          </a:prstGeom>
          <a:noFill/>
          <a:ln/>
        </p:spPr>
        <p:txBody>
          <a:bodyPr wrap="square" rtlCol="0" anchor="t"/>
          <a:lstStyle/>
          <a:p>
            <a:pPr indent="0" marL="0">
              <a:buNone/>
            </a:pPr>
            <a:r>
              <a:rPr lang="en-US" sz="1150" b="1" dirty="0">
                <a:solidFill>
                  <a:srgbClr val="DC2626"/>
                </a:solidFill>
                <a:latin typeface="Arial" pitchFamily="34" charset="0"/>
                <a:ea typeface="Arial" pitchFamily="34" charset="-122"/>
                <a:cs typeface="Arial" pitchFamily="34" charset="-120"/>
              </a:rPr>
              <a:t>defeated by</a:t>
            </a:r>
            <a:endParaRPr lang="en-US" sz="1150" dirty="0"/>
          </a:p>
        </p:txBody>
      </p:sp>
      <p:sp>
        <p:nvSpPr>
          <p:cNvPr id="28" name="Text 25"/>
          <p:cNvSpPr/>
          <p:nvPr/>
        </p:nvSpPr>
        <p:spPr>
          <a:xfrm>
            <a:off x="7818120" y="5248656"/>
            <a:ext cx="3657600" cy="438912"/>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What overrides what. An approval holds unless something defeats it; the engine works out which holds.</a:t>
            </a:r>
            <a:endParaRPr lang="en-US" sz="950" dirty="0"/>
          </a:p>
        </p:txBody>
      </p:sp>
      <p:sp>
        <p:nvSpPr>
          <p:cNvPr id="29" name="Text 26"/>
          <p:cNvSpPr/>
          <p:nvPr/>
        </p:nvSpPr>
        <p:spPr>
          <a:xfrm>
            <a:off x="548640" y="5897880"/>
            <a:ext cx="11064240" cy="411480"/>
          </a:xfrm>
          <a:prstGeom prst="rect">
            <a:avLst/>
          </a:prstGeom>
          <a:noFill/>
          <a:ln/>
        </p:spPr>
        <p:txBody>
          <a:bodyPr wrap="square" rtlCol="0" anchor="ctr"/>
          <a:lstStyle/>
          <a:p>
            <a:pPr indent="0" marL="0">
              <a:buNone/>
            </a:pPr>
            <a:r>
              <a:rPr lang="en-US" sz="950" i="1" dirty="0">
                <a:solidFill>
                  <a:srgbClr val="475569"/>
                </a:solidFill>
                <a:latin typeface="Arial" pitchFamily="34" charset="0"/>
                <a:ea typeface="Arial" pitchFamily="34" charset="-122"/>
                <a:cs typeface="Arial" pitchFamily="34" charset="-120"/>
              </a:rPr>
              <a:t>Policies can be written by hand, in the console's editor, or drafted by an AI model from a published coverage document, behind strict checks. Either way, nothing decides until the plan's clinician signs it off.</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SAFETY CHECK</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Every policy is tested on every possible case before it is used</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Not just the examples its author thought of: every combination of evidence the policy can be given.</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9 / 18</a:t>
            </a:r>
            <a:endParaRPr lang="en-US" sz="800" dirty="0"/>
          </a:p>
        </p:txBody>
      </p:sp>
      <p:sp>
        <p:nvSpPr>
          <p:cNvPr id="11" name="Shape 8"/>
          <p:cNvSpPr/>
          <p:nvPr/>
        </p:nvSpPr>
        <p:spPr>
          <a:xfrm>
            <a:off x="548640"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 name="Shape 9"/>
          <p:cNvSpPr/>
          <p:nvPr/>
        </p:nvSpPr>
        <p:spPr>
          <a:xfrm>
            <a:off x="859536"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 name="Shape 10"/>
          <p:cNvSpPr/>
          <p:nvPr/>
        </p:nvSpPr>
        <p:spPr>
          <a:xfrm>
            <a:off x="1170432"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4" name="Shape 11"/>
          <p:cNvSpPr/>
          <p:nvPr/>
        </p:nvSpPr>
        <p:spPr>
          <a:xfrm>
            <a:off x="1481328"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5" name="Shape 12"/>
          <p:cNvSpPr/>
          <p:nvPr/>
        </p:nvSpPr>
        <p:spPr>
          <a:xfrm>
            <a:off x="1792224"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6" name="Shape 13"/>
          <p:cNvSpPr/>
          <p:nvPr/>
        </p:nvSpPr>
        <p:spPr>
          <a:xfrm>
            <a:off x="2103120"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7" name="Shape 14"/>
          <p:cNvSpPr/>
          <p:nvPr/>
        </p:nvSpPr>
        <p:spPr>
          <a:xfrm>
            <a:off x="2414016"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8" name="Shape 15"/>
          <p:cNvSpPr/>
          <p:nvPr/>
        </p:nvSpPr>
        <p:spPr>
          <a:xfrm>
            <a:off x="2724912"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9" name="Shape 16"/>
          <p:cNvSpPr/>
          <p:nvPr/>
        </p:nvSpPr>
        <p:spPr>
          <a:xfrm>
            <a:off x="3035808"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0" name="Shape 17"/>
          <p:cNvSpPr/>
          <p:nvPr/>
        </p:nvSpPr>
        <p:spPr>
          <a:xfrm>
            <a:off x="3346704"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1" name="Shape 18"/>
          <p:cNvSpPr/>
          <p:nvPr/>
        </p:nvSpPr>
        <p:spPr>
          <a:xfrm>
            <a:off x="3657600"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2" name="Shape 19"/>
          <p:cNvSpPr/>
          <p:nvPr/>
        </p:nvSpPr>
        <p:spPr>
          <a:xfrm>
            <a:off x="3968496"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3" name="Shape 20"/>
          <p:cNvSpPr/>
          <p:nvPr/>
        </p:nvSpPr>
        <p:spPr>
          <a:xfrm>
            <a:off x="4279392"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4" name="Shape 21"/>
          <p:cNvSpPr/>
          <p:nvPr/>
        </p:nvSpPr>
        <p:spPr>
          <a:xfrm>
            <a:off x="4590288"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5" name="Shape 22"/>
          <p:cNvSpPr/>
          <p:nvPr/>
        </p:nvSpPr>
        <p:spPr>
          <a:xfrm>
            <a:off x="4901184"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6" name="Shape 23"/>
          <p:cNvSpPr/>
          <p:nvPr/>
        </p:nvSpPr>
        <p:spPr>
          <a:xfrm>
            <a:off x="5212080" y="169164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7" name="Shape 24"/>
          <p:cNvSpPr/>
          <p:nvPr/>
        </p:nvSpPr>
        <p:spPr>
          <a:xfrm>
            <a:off x="548640"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8" name="Shape 25"/>
          <p:cNvSpPr/>
          <p:nvPr/>
        </p:nvSpPr>
        <p:spPr>
          <a:xfrm>
            <a:off x="859536"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29" name="Shape 26"/>
          <p:cNvSpPr/>
          <p:nvPr/>
        </p:nvSpPr>
        <p:spPr>
          <a:xfrm>
            <a:off x="1170432"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0" name="Shape 27"/>
          <p:cNvSpPr/>
          <p:nvPr/>
        </p:nvSpPr>
        <p:spPr>
          <a:xfrm>
            <a:off x="1481328"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1" name="Shape 28"/>
          <p:cNvSpPr/>
          <p:nvPr/>
        </p:nvSpPr>
        <p:spPr>
          <a:xfrm>
            <a:off x="1792224"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2" name="Shape 29"/>
          <p:cNvSpPr/>
          <p:nvPr/>
        </p:nvSpPr>
        <p:spPr>
          <a:xfrm>
            <a:off x="2103120"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3" name="Shape 30"/>
          <p:cNvSpPr/>
          <p:nvPr/>
        </p:nvSpPr>
        <p:spPr>
          <a:xfrm>
            <a:off x="2414016"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4" name="Shape 31"/>
          <p:cNvSpPr/>
          <p:nvPr/>
        </p:nvSpPr>
        <p:spPr>
          <a:xfrm>
            <a:off x="2724912"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5" name="Shape 32"/>
          <p:cNvSpPr/>
          <p:nvPr/>
        </p:nvSpPr>
        <p:spPr>
          <a:xfrm>
            <a:off x="3035808"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6" name="Shape 33"/>
          <p:cNvSpPr/>
          <p:nvPr/>
        </p:nvSpPr>
        <p:spPr>
          <a:xfrm>
            <a:off x="3346704"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7" name="Shape 34"/>
          <p:cNvSpPr/>
          <p:nvPr/>
        </p:nvSpPr>
        <p:spPr>
          <a:xfrm>
            <a:off x="3657600"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8" name="Shape 35"/>
          <p:cNvSpPr/>
          <p:nvPr/>
        </p:nvSpPr>
        <p:spPr>
          <a:xfrm>
            <a:off x="3968496"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39" name="Shape 36"/>
          <p:cNvSpPr/>
          <p:nvPr/>
        </p:nvSpPr>
        <p:spPr>
          <a:xfrm>
            <a:off x="4279392"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0" name="Shape 37"/>
          <p:cNvSpPr/>
          <p:nvPr/>
        </p:nvSpPr>
        <p:spPr>
          <a:xfrm>
            <a:off x="4590288"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1" name="Shape 38"/>
          <p:cNvSpPr/>
          <p:nvPr/>
        </p:nvSpPr>
        <p:spPr>
          <a:xfrm>
            <a:off x="4901184"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2" name="Shape 39"/>
          <p:cNvSpPr/>
          <p:nvPr/>
        </p:nvSpPr>
        <p:spPr>
          <a:xfrm>
            <a:off x="5212080" y="200253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3" name="Shape 40"/>
          <p:cNvSpPr/>
          <p:nvPr/>
        </p:nvSpPr>
        <p:spPr>
          <a:xfrm>
            <a:off x="548640"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4" name="Shape 41"/>
          <p:cNvSpPr/>
          <p:nvPr/>
        </p:nvSpPr>
        <p:spPr>
          <a:xfrm>
            <a:off x="859536"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5" name="Shape 42"/>
          <p:cNvSpPr/>
          <p:nvPr/>
        </p:nvSpPr>
        <p:spPr>
          <a:xfrm>
            <a:off x="1170432"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6" name="Shape 43"/>
          <p:cNvSpPr/>
          <p:nvPr/>
        </p:nvSpPr>
        <p:spPr>
          <a:xfrm>
            <a:off x="1481328"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7" name="Shape 44"/>
          <p:cNvSpPr/>
          <p:nvPr/>
        </p:nvSpPr>
        <p:spPr>
          <a:xfrm>
            <a:off x="1792224"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8" name="Shape 45"/>
          <p:cNvSpPr/>
          <p:nvPr/>
        </p:nvSpPr>
        <p:spPr>
          <a:xfrm>
            <a:off x="2103120"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49" name="Shape 46"/>
          <p:cNvSpPr/>
          <p:nvPr/>
        </p:nvSpPr>
        <p:spPr>
          <a:xfrm>
            <a:off x="2414016"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0" name="Shape 47"/>
          <p:cNvSpPr/>
          <p:nvPr/>
        </p:nvSpPr>
        <p:spPr>
          <a:xfrm>
            <a:off x="2724912"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1" name="Shape 48"/>
          <p:cNvSpPr/>
          <p:nvPr/>
        </p:nvSpPr>
        <p:spPr>
          <a:xfrm>
            <a:off x="3035808"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2" name="Shape 49"/>
          <p:cNvSpPr/>
          <p:nvPr/>
        </p:nvSpPr>
        <p:spPr>
          <a:xfrm>
            <a:off x="3346704"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3" name="Shape 50"/>
          <p:cNvSpPr/>
          <p:nvPr/>
        </p:nvSpPr>
        <p:spPr>
          <a:xfrm>
            <a:off x="3657600"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4" name="Shape 51"/>
          <p:cNvSpPr/>
          <p:nvPr/>
        </p:nvSpPr>
        <p:spPr>
          <a:xfrm>
            <a:off x="3968496"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5" name="Shape 52"/>
          <p:cNvSpPr/>
          <p:nvPr/>
        </p:nvSpPr>
        <p:spPr>
          <a:xfrm>
            <a:off x="4279392"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6" name="Shape 53"/>
          <p:cNvSpPr/>
          <p:nvPr/>
        </p:nvSpPr>
        <p:spPr>
          <a:xfrm>
            <a:off x="4590288"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7" name="Shape 54"/>
          <p:cNvSpPr/>
          <p:nvPr/>
        </p:nvSpPr>
        <p:spPr>
          <a:xfrm>
            <a:off x="4901184"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8" name="Shape 55"/>
          <p:cNvSpPr/>
          <p:nvPr/>
        </p:nvSpPr>
        <p:spPr>
          <a:xfrm>
            <a:off x="5212080" y="231343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59" name="Shape 56"/>
          <p:cNvSpPr/>
          <p:nvPr/>
        </p:nvSpPr>
        <p:spPr>
          <a:xfrm>
            <a:off x="548640"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0" name="Shape 57"/>
          <p:cNvSpPr/>
          <p:nvPr/>
        </p:nvSpPr>
        <p:spPr>
          <a:xfrm>
            <a:off x="859536"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1" name="Shape 58"/>
          <p:cNvSpPr/>
          <p:nvPr/>
        </p:nvSpPr>
        <p:spPr>
          <a:xfrm>
            <a:off x="1170432"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2" name="Shape 59"/>
          <p:cNvSpPr/>
          <p:nvPr/>
        </p:nvSpPr>
        <p:spPr>
          <a:xfrm>
            <a:off x="1481328"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3" name="Shape 60"/>
          <p:cNvSpPr/>
          <p:nvPr/>
        </p:nvSpPr>
        <p:spPr>
          <a:xfrm>
            <a:off x="1792224"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4" name="Shape 61"/>
          <p:cNvSpPr/>
          <p:nvPr/>
        </p:nvSpPr>
        <p:spPr>
          <a:xfrm>
            <a:off x="2103120" y="2624328"/>
            <a:ext cx="265176" cy="265176"/>
          </a:xfrm>
          <a:prstGeom prst="roundRect">
            <a:avLst>
              <a:gd name="adj" fmla="val 13793"/>
            </a:avLst>
          </a:prstGeom>
          <a:solidFill>
            <a:srgbClr val="059669"/>
          </a:solidFill>
          <a:ln w="12700">
            <a:solidFill>
              <a:srgbClr val="059669">
                <a:alpha val="70000"/>
              </a:srgbClr>
            </a:solidFill>
            <a:prstDash val="solid"/>
          </a:ln>
        </p:spPr>
      </p:sp>
      <p:sp>
        <p:nvSpPr>
          <p:cNvPr id="65" name="Shape 62"/>
          <p:cNvSpPr/>
          <p:nvPr/>
        </p:nvSpPr>
        <p:spPr>
          <a:xfrm>
            <a:off x="2414016"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6" name="Shape 63"/>
          <p:cNvSpPr/>
          <p:nvPr/>
        </p:nvSpPr>
        <p:spPr>
          <a:xfrm>
            <a:off x="2724912"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7" name="Shape 64"/>
          <p:cNvSpPr/>
          <p:nvPr/>
        </p:nvSpPr>
        <p:spPr>
          <a:xfrm>
            <a:off x="3035808"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8" name="Shape 65"/>
          <p:cNvSpPr/>
          <p:nvPr/>
        </p:nvSpPr>
        <p:spPr>
          <a:xfrm>
            <a:off x="3346704"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69" name="Shape 66"/>
          <p:cNvSpPr/>
          <p:nvPr/>
        </p:nvSpPr>
        <p:spPr>
          <a:xfrm>
            <a:off x="3657600"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0" name="Shape 67"/>
          <p:cNvSpPr/>
          <p:nvPr/>
        </p:nvSpPr>
        <p:spPr>
          <a:xfrm>
            <a:off x="3968496"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1" name="Shape 68"/>
          <p:cNvSpPr/>
          <p:nvPr/>
        </p:nvSpPr>
        <p:spPr>
          <a:xfrm>
            <a:off x="4279392"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2" name="Shape 69"/>
          <p:cNvSpPr/>
          <p:nvPr/>
        </p:nvSpPr>
        <p:spPr>
          <a:xfrm>
            <a:off x="4590288"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3" name="Shape 70"/>
          <p:cNvSpPr/>
          <p:nvPr/>
        </p:nvSpPr>
        <p:spPr>
          <a:xfrm>
            <a:off x="4901184"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4" name="Shape 71"/>
          <p:cNvSpPr/>
          <p:nvPr/>
        </p:nvSpPr>
        <p:spPr>
          <a:xfrm>
            <a:off x="5212080" y="2624328"/>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5" name="Shape 72"/>
          <p:cNvSpPr/>
          <p:nvPr/>
        </p:nvSpPr>
        <p:spPr>
          <a:xfrm>
            <a:off x="548640"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6" name="Shape 73"/>
          <p:cNvSpPr/>
          <p:nvPr/>
        </p:nvSpPr>
        <p:spPr>
          <a:xfrm>
            <a:off x="859536"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7" name="Shape 74"/>
          <p:cNvSpPr/>
          <p:nvPr/>
        </p:nvSpPr>
        <p:spPr>
          <a:xfrm>
            <a:off x="1170432"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8" name="Shape 75"/>
          <p:cNvSpPr/>
          <p:nvPr/>
        </p:nvSpPr>
        <p:spPr>
          <a:xfrm>
            <a:off x="1481328"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79" name="Shape 76"/>
          <p:cNvSpPr/>
          <p:nvPr/>
        </p:nvSpPr>
        <p:spPr>
          <a:xfrm>
            <a:off x="1792224"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0" name="Shape 77"/>
          <p:cNvSpPr/>
          <p:nvPr/>
        </p:nvSpPr>
        <p:spPr>
          <a:xfrm>
            <a:off x="2103120"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1" name="Shape 78"/>
          <p:cNvSpPr/>
          <p:nvPr/>
        </p:nvSpPr>
        <p:spPr>
          <a:xfrm>
            <a:off x="2414016"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2" name="Shape 79"/>
          <p:cNvSpPr/>
          <p:nvPr/>
        </p:nvSpPr>
        <p:spPr>
          <a:xfrm>
            <a:off x="2724912"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3" name="Shape 80"/>
          <p:cNvSpPr/>
          <p:nvPr/>
        </p:nvSpPr>
        <p:spPr>
          <a:xfrm>
            <a:off x="3035808"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4" name="Shape 81"/>
          <p:cNvSpPr/>
          <p:nvPr/>
        </p:nvSpPr>
        <p:spPr>
          <a:xfrm>
            <a:off x="3346704"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5" name="Shape 82"/>
          <p:cNvSpPr/>
          <p:nvPr/>
        </p:nvSpPr>
        <p:spPr>
          <a:xfrm>
            <a:off x="3657600"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6" name="Shape 83"/>
          <p:cNvSpPr/>
          <p:nvPr/>
        </p:nvSpPr>
        <p:spPr>
          <a:xfrm>
            <a:off x="3968496"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7" name="Shape 84"/>
          <p:cNvSpPr/>
          <p:nvPr/>
        </p:nvSpPr>
        <p:spPr>
          <a:xfrm>
            <a:off x="4279392"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8" name="Shape 85"/>
          <p:cNvSpPr/>
          <p:nvPr/>
        </p:nvSpPr>
        <p:spPr>
          <a:xfrm>
            <a:off x="4590288"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89" name="Shape 86"/>
          <p:cNvSpPr/>
          <p:nvPr/>
        </p:nvSpPr>
        <p:spPr>
          <a:xfrm>
            <a:off x="4901184"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0" name="Shape 87"/>
          <p:cNvSpPr/>
          <p:nvPr/>
        </p:nvSpPr>
        <p:spPr>
          <a:xfrm>
            <a:off x="5212080" y="2935224"/>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1" name="Shape 88"/>
          <p:cNvSpPr/>
          <p:nvPr/>
        </p:nvSpPr>
        <p:spPr>
          <a:xfrm>
            <a:off x="548640"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2" name="Shape 89"/>
          <p:cNvSpPr/>
          <p:nvPr/>
        </p:nvSpPr>
        <p:spPr>
          <a:xfrm>
            <a:off x="859536"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3" name="Shape 90"/>
          <p:cNvSpPr/>
          <p:nvPr/>
        </p:nvSpPr>
        <p:spPr>
          <a:xfrm>
            <a:off x="1170432"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4" name="Shape 91"/>
          <p:cNvSpPr/>
          <p:nvPr/>
        </p:nvSpPr>
        <p:spPr>
          <a:xfrm>
            <a:off x="1481328"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5" name="Shape 92"/>
          <p:cNvSpPr/>
          <p:nvPr/>
        </p:nvSpPr>
        <p:spPr>
          <a:xfrm>
            <a:off x="1792224"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6" name="Shape 93"/>
          <p:cNvSpPr/>
          <p:nvPr/>
        </p:nvSpPr>
        <p:spPr>
          <a:xfrm>
            <a:off x="2103120"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7" name="Shape 94"/>
          <p:cNvSpPr/>
          <p:nvPr/>
        </p:nvSpPr>
        <p:spPr>
          <a:xfrm>
            <a:off x="2414016"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8" name="Shape 95"/>
          <p:cNvSpPr/>
          <p:nvPr/>
        </p:nvSpPr>
        <p:spPr>
          <a:xfrm>
            <a:off x="2724912"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99" name="Shape 96"/>
          <p:cNvSpPr/>
          <p:nvPr/>
        </p:nvSpPr>
        <p:spPr>
          <a:xfrm>
            <a:off x="3035808"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0" name="Shape 97"/>
          <p:cNvSpPr/>
          <p:nvPr/>
        </p:nvSpPr>
        <p:spPr>
          <a:xfrm>
            <a:off x="3346704"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1" name="Shape 98"/>
          <p:cNvSpPr/>
          <p:nvPr/>
        </p:nvSpPr>
        <p:spPr>
          <a:xfrm>
            <a:off x="3657600"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2" name="Shape 99"/>
          <p:cNvSpPr/>
          <p:nvPr/>
        </p:nvSpPr>
        <p:spPr>
          <a:xfrm>
            <a:off x="3968496"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3" name="Shape 100"/>
          <p:cNvSpPr/>
          <p:nvPr/>
        </p:nvSpPr>
        <p:spPr>
          <a:xfrm>
            <a:off x="4279392"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4" name="Shape 101"/>
          <p:cNvSpPr/>
          <p:nvPr/>
        </p:nvSpPr>
        <p:spPr>
          <a:xfrm>
            <a:off x="4590288"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5" name="Shape 102"/>
          <p:cNvSpPr/>
          <p:nvPr/>
        </p:nvSpPr>
        <p:spPr>
          <a:xfrm>
            <a:off x="4901184"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6" name="Shape 103"/>
          <p:cNvSpPr/>
          <p:nvPr/>
        </p:nvSpPr>
        <p:spPr>
          <a:xfrm>
            <a:off x="5212080" y="3246120"/>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7" name="Shape 104"/>
          <p:cNvSpPr/>
          <p:nvPr/>
        </p:nvSpPr>
        <p:spPr>
          <a:xfrm>
            <a:off x="548640"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8" name="Shape 105"/>
          <p:cNvSpPr/>
          <p:nvPr/>
        </p:nvSpPr>
        <p:spPr>
          <a:xfrm>
            <a:off x="859536"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09" name="Shape 106"/>
          <p:cNvSpPr/>
          <p:nvPr/>
        </p:nvSpPr>
        <p:spPr>
          <a:xfrm>
            <a:off x="1170432"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0" name="Shape 107"/>
          <p:cNvSpPr/>
          <p:nvPr/>
        </p:nvSpPr>
        <p:spPr>
          <a:xfrm>
            <a:off x="1481328"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1" name="Shape 108"/>
          <p:cNvSpPr/>
          <p:nvPr/>
        </p:nvSpPr>
        <p:spPr>
          <a:xfrm>
            <a:off x="1792224"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2" name="Shape 109"/>
          <p:cNvSpPr/>
          <p:nvPr/>
        </p:nvSpPr>
        <p:spPr>
          <a:xfrm>
            <a:off x="2103120"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3" name="Shape 110"/>
          <p:cNvSpPr/>
          <p:nvPr/>
        </p:nvSpPr>
        <p:spPr>
          <a:xfrm>
            <a:off x="2414016"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4" name="Shape 111"/>
          <p:cNvSpPr/>
          <p:nvPr/>
        </p:nvSpPr>
        <p:spPr>
          <a:xfrm>
            <a:off x="2724912"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5" name="Shape 112"/>
          <p:cNvSpPr/>
          <p:nvPr/>
        </p:nvSpPr>
        <p:spPr>
          <a:xfrm>
            <a:off x="3035808"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6" name="Shape 113"/>
          <p:cNvSpPr/>
          <p:nvPr/>
        </p:nvSpPr>
        <p:spPr>
          <a:xfrm>
            <a:off x="3346704"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7" name="Shape 114"/>
          <p:cNvSpPr/>
          <p:nvPr/>
        </p:nvSpPr>
        <p:spPr>
          <a:xfrm>
            <a:off x="3657600"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8" name="Shape 115"/>
          <p:cNvSpPr/>
          <p:nvPr/>
        </p:nvSpPr>
        <p:spPr>
          <a:xfrm>
            <a:off x="3968496"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19" name="Shape 116"/>
          <p:cNvSpPr/>
          <p:nvPr/>
        </p:nvSpPr>
        <p:spPr>
          <a:xfrm>
            <a:off x="4279392"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0" name="Shape 117"/>
          <p:cNvSpPr/>
          <p:nvPr/>
        </p:nvSpPr>
        <p:spPr>
          <a:xfrm>
            <a:off x="4590288"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1" name="Shape 118"/>
          <p:cNvSpPr/>
          <p:nvPr/>
        </p:nvSpPr>
        <p:spPr>
          <a:xfrm>
            <a:off x="4901184"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2" name="Shape 119"/>
          <p:cNvSpPr/>
          <p:nvPr/>
        </p:nvSpPr>
        <p:spPr>
          <a:xfrm>
            <a:off x="5212080" y="3557016"/>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3" name="Shape 120"/>
          <p:cNvSpPr/>
          <p:nvPr/>
        </p:nvSpPr>
        <p:spPr>
          <a:xfrm>
            <a:off x="548640"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4" name="Shape 121"/>
          <p:cNvSpPr/>
          <p:nvPr/>
        </p:nvSpPr>
        <p:spPr>
          <a:xfrm>
            <a:off x="859536"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5" name="Shape 122"/>
          <p:cNvSpPr/>
          <p:nvPr/>
        </p:nvSpPr>
        <p:spPr>
          <a:xfrm>
            <a:off x="1170432"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6" name="Shape 123"/>
          <p:cNvSpPr/>
          <p:nvPr/>
        </p:nvSpPr>
        <p:spPr>
          <a:xfrm>
            <a:off x="1481328"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7" name="Shape 124"/>
          <p:cNvSpPr/>
          <p:nvPr/>
        </p:nvSpPr>
        <p:spPr>
          <a:xfrm>
            <a:off x="1792224"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8" name="Shape 125"/>
          <p:cNvSpPr/>
          <p:nvPr/>
        </p:nvSpPr>
        <p:spPr>
          <a:xfrm>
            <a:off x="2103120"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29" name="Shape 126"/>
          <p:cNvSpPr/>
          <p:nvPr/>
        </p:nvSpPr>
        <p:spPr>
          <a:xfrm>
            <a:off x="2414016"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0" name="Shape 127"/>
          <p:cNvSpPr/>
          <p:nvPr/>
        </p:nvSpPr>
        <p:spPr>
          <a:xfrm>
            <a:off x="2724912"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1" name="Shape 128"/>
          <p:cNvSpPr/>
          <p:nvPr/>
        </p:nvSpPr>
        <p:spPr>
          <a:xfrm>
            <a:off x="3035808"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2" name="Shape 129"/>
          <p:cNvSpPr/>
          <p:nvPr/>
        </p:nvSpPr>
        <p:spPr>
          <a:xfrm>
            <a:off x="3346704"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3" name="Shape 130"/>
          <p:cNvSpPr/>
          <p:nvPr/>
        </p:nvSpPr>
        <p:spPr>
          <a:xfrm>
            <a:off x="3657600"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4" name="Shape 131"/>
          <p:cNvSpPr/>
          <p:nvPr/>
        </p:nvSpPr>
        <p:spPr>
          <a:xfrm>
            <a:off x="3968496"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5" name="Shape 132"/>
          <p:cNvSpPr/>
          <p:nvPr/>
        </p:nvSpPr>
        <p:spPr>
          <a:xfrm>
            <a:off x="4279392"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6" name="Shape 133"/>
          <p:cNvSpPr/>
          <p:nvPr/>
        </p:nvSpPr>
        <p:spPr>
          <a:xfrm>
            <a:off x="4590288"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7" name="Shape 134"/>
          <p:cNvSpPr/>
          <p:nvPr/>
        </p:nvSpPr>
        <p:spPr>
          <a:xfrm>
            <a:off x="4901184"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8" name="Shape 135"/>
          <p:cNvSpPr/>
          <p:nvPr/>
        </p:nvSpPr>
        <p:spPr>
          <a:xfrm>
            <a:off x="5212080" y="3867912"/>
            <a:ext cx="265176" cy="265176"/>
          </a:xfrm>
          <a:prstGeom prst="roundRect">
            <a:avLst>
              <a:gd name="adj" fmla="val 13793"/>
            </a:avLst>
          </a:prstGeom>
          <a:solidFill>
            <a:srgbClr val="DC2626">
              <a:alpha val="45000"/>
            </a:srgbClr>
          </a:solidFill>
          <a:ln w="12700">
            <a:solidFill>
              <a:srgbClr val="DC2626">
                <a:alpha val="70000"/>
              </a:srgbClr>
            </a:solidFill>
            <a:prstDash val="solid"/>
          </a:ln>
        </p:spPr>
      </p:sp>
      <p:sp>
        <p:nvSpPr>
          <p:cNvPr id="139" name="Text 136"/>
          <p:cNvSpPr/>
          <p:nvPr/>
        </p:nvSpPr>
        <p:spPr>
          <a:xfrm>
            <a:off x="548640" y="4251960"/>
            <a:ext cx="4937760" cy="36576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The facet joint policy: </a:t>
            </a:r>
            <a:pPr indent="0" marL="0">
              <a:buNone/>
            </a:pPr>
            <a:r>
              <a:rPr lang="en-US" sz="1050" dirty="0">
                <a:solidFill>
                  <a:srgbClr val="475569"/>
                </a:solidFill>
                <a:latin typeface="Arial" pitchFamily="34" charset="0"/>
                <a:ea typeface="Arial" pitchFamily="34" charset="-122"/>
                <a:cs typeface="Arial" pitchFamily="34" charset="-120"/>
              </a:rPr>
              <a:t>128 combinations. </a:t>
            </a:r>
            <a:pPr indent="0" marL="0">
              <a:buNone/>
            </a:pPr>
            <a:r>
              <a:rPr lang="en-US" sz="1050" b="1" dirty="0">
                <a:solidFill>
                  <a:srgbClr val="059669"/>
                </a:solidFill>
                <a:latin typeface="Arial" pitchFamily="34" charset="0"/>
                <a:ea typeface="Arial" pitchFamily="34" charset="-122"/>
                <a:cs typeface="Arial" pitchFamily="34" charset="-120"/>
              </a:rPr>
              <a:t>1 </a:t>
            </a:r>
            <a:pPr indent="0" marL="0">
              <a:buNone/>
            </a:pPr>
            <a:r>
              <a:rPr lang="en-US" sz="1050" dirty="0">
                <a:solidFill>
                  <a:srgbClr val="475569"/>
                </a:solidFill>
                <a:latin typeface="Arial" pitchFamily="34" charset="0"/>
                <a:ea typeface="Arial" pitchFamily="34" charset="-122"/>
                <a:cs typeface="Arial" pitchFamily="34" charset="-120"/>
              </a:rPr>
              <a:t>approves; </a:t>
            </a:r>
            <a:pPr indent="0" marL="0">
              <a:buNone/>
            </a:pPr>
            <a:r>
              <a:rPr lang="en-US" sz="1050" b="1" dirty="0">
                <a:solidFill>
                  <a:srgbClr val="DC2626"/>
                </a:solidFill>
                <a:latin typeface="Arial" pitchFamily="34" charset="0"/>
                <a:ea typeface="Arial" pitchFamily="34" charset="-122"/>
                <a:cs typeface="Arial" pitchFamily="34" charset="-120"/>
              </a:rPr>
              <a:t>127 </a:t>
            </a:r>
            <a:pPr indent="0" marL="0">
              <a:buNone/>
            </a:pPr>
            <a:r>
              <a:rPr lang="en-US" sz="1050" dirty="0">
                <a:solidFill>
                  <a:srgbClr val="475569"/>
                </a:solidFill>
                <a:latin typeface="Arial" pitchFamily="34" charset="0"/>
                <a:ea typeface="Arial" pitchFamily="34" charset="-122"/>
                <a:cs typeface="Arial" pitchFamily="34" charset="-120"/>
              </a:rPr>
              <a:t>deny, each for a stated rule.</a:t>
            </a:r>
            <a:endParaRPr lang="en-US" sz="1050" dirty="0"/>
          </a:p>
        </p:txBody>
      </p:sp>
      <p:sp>
        <p:nvSpPr>
          <p:cNvPr id="140" name="Shape 137"/>
          <p:cNvSpPr/>
          <p:nvPr/>
        </p:nvSpPr>
        <p:spPr>
          <a:xfrm>
            <a:off x="548640" y="4709160"/>
            <a:ext cx="4937760" cy="1097280"/>
          </a:xfrm>
          <a:prstGeom prst="roundRect">
            <a:avLst>
              <a:gd name="adj" fmla="val 10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41" name="Shape 138"/>
          <p:cNvSpPr/>
          <p:nvPr/>
        </p:nvSpPr>
        <p:spPr>
          <a:xfrm>
            <a:off x="658368" y="4873752"/>
            <a:ext cx="54864" cy="768096"/>
          </a:xfrm>
          <a:prstGeom prst="rect">
            <a:avLst/>
          </a:prstGeom>
          <a:solidFill>
            <a:srgbClr val="D97706"/>
          </a:solidFill>
          <a:ln w="12700">
            <a:solidFill>
              <a:srgbClr val="D97706"/>
            </a:solidFill>
            <a:prstDash val="solid"/>
          </a:ln>
        </p:spPr>
      </p:sp>
      <p:sp>
        <p:nvSpPr>
          <p:cNvPr id="142" name="Text 139"/>
          <p:cNvSpPr/>
          <p:nvPr/>
        </p:nvSpPr>
        <p:spPr>
          <a:xfrm>
            <a:off x="822960" y="4837176"/>
            <a:ext cx="4498848" cy="87782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At decision time the absence rule applies on top: a denial whose rule rests on something the record does not address becomes a pend. The test proves the policy has no gaps; the rule keeps the patient safe from missing paperwork.</a:t>
            </a:r>
            <a:endParaRPr lang="en-US" sz="950" dirty="0"/>
          </a:p>
        </p:txBody>
      </p:sp>
      <p:sp>
        <p:nvSpPr>
          <p:cNvPr id="143" name="Shape 140"/>
          <p:cNvSpPr/>
          <p:nvPr/>
        </p:nvSpPr>
        <p:spPr>
          <a:xfrm>
            <a:off x="5897880" y="1755648"/>
            <a:ext cx="384048" cy="384048"/>
          </a:xfrm>
          <a:prstGeom prst="ellipse">
            <a:avLst/>
          </a:prstGeom>
          <a:solidFill>
            <a:srgbClr val="059669"/>
          </a:solidFill>
          <a:ln w="12700">
            <a:solidFill>
              <a:srgbClr val="059669"/>
            </a:solidFill>
            <a:prstDash val="solid"/>
          </a:ln>
        </p:spPr>
      </p:sp>
      <p:sp>
        <p:nvSpPr>
          <p:cNvPr id="144" name="Text 141"/>
          <p:cNvSpPr/>
          <p:nvPr/>
        </p:nvSpPr>
        <p:spPr>
          <a:xfrm>
            <a:off x="5897880" y="1755648"/>
            <a:ext cx="384048" cy="384048"/>
          </a:xfrm>
          <a:prstGeom prst="rect">
            <a:avLst/>
          </a:prstGeom>
          <a:noFill/>
          <a:ln/>
        </p:spPr>
        <p:txBody>
          <a:bodyPr wrap="square"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t>
            </a:r>
            <a:endParaRPr lang="en-US" sz="1260" dirty="0"/>
          </a:p>
        </p:txBody>
      </p:sp>
      <p:sp>
        <p:nvSpPr>
          <p:cNvPr id="145" name="Text 142"/>
          <p:cNvSpPr/>
          <p:nvPr/>
        </p:nvSpPr>
        <p:spPr>
          <a:xfrm>
            <a:off x="6400800" y="1645920"/>
            <a:ext cx="5212080" cy="7772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Every combination gets exactly one answer</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No case where the policy contradicts itself or leaves the engine with nothing to say.</a:t>
            </a:r>
            <a:endParaRPr lang="en-US" sz="950" dirty="0"/>
          </a:p>
        </p:txBody>
      </p:sp>
      <p:sp>
        <p:nvSpPr>
          <p:cNvPr id="146" name="Shape 143"/>
          <p:cNvSpPr/>
          <p:nvPr/>
        </p:nvSpPr>
        <p:spPr>
          <a:xfrm>
            <a:off x="5897880" y="2596896"/>
            <a:ext cx="384048" cy="384048"/>
          </a:xfrm>
          <a:prstGeom prst="ellipse">
            <a:avLst/>
          </a:prstGeom>
          <a:solidFill>
            <a:srgbClr val="2563EB"/>
          </a:solidFill>
          <a:ln w="12700">
            <a:solidFill>
              <a:srgbClr val="2563EB"/>
            </a:solidFill>
            <a:prstDash val="solid"/>
          </a:ln>
        </p:spPr>
      </p:sp>
      <p:sp>
        <p:nvSpPr>
          <p:cNvPr id="147" name="Text 144"/>
          <p:cNvSpPr/>
          <p:nvPr/>
        </p:nvSpPr>
        <p:spPr>
          <a:xfrm>
            <a:off x="5897880" y="2596896"/>
            <a:ext cx="384048" cy="384048"/>
          </a:xfrm>
          <a:prstGeom prst="rect">
            <a:avLst/>
          </a:prstGeom>
          <a:noFill/>
          <a:ln/>
        </p:spPr>
        <p:txBody>
          <a:bodyPr wrap="square"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t>
            </a:r>
            <a:endParaRPr lang="en-US" sz="1260" dirty="0"/>
          </a:p>
        </p:txBody>
      </p:sp>
      <p:sp>
        <p:nvSpPr>
          <p:cNvPr id="148" name="Text 145"/>
          <p:cNvSpPr/>
          <p:nvPr/>
        </p:nvSpPr>
        <p:spPr>
          <a:xfrm>
            <a:off x="6400800" y="2487168"/>
            <a:ext cx="5212080" cy="7772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Every decision can actually happen</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A rule that no combination ever reaches is a mistake, and is caught.</a:t>
            </a:r>
            <a:endParaRPr lang="en-US" sz="950" dirty="0"/>
          </a:p>
        </p:txBody>
      </p:sp>
      <p:sp>
        <p:nvSpPr>
          <p:cNvPr id="149" name="Shape 146"/>
          <p:cNvSpPr/>
          <p:nvPr/>
        </p:nvSpPr>
        <p:spPr>
          <a:xfrm>
            <a:off x="5897880" y="3438144"/>
            <a:ext cx="384048" cy="384048"/>
          </a:xfrm>
          <a:prstGeom prst="ellipse">
            <a:avLst/>
          </a:prstGeom>
          <a:solidFill>
            <a:srgbClr val="7C3AED"/>
          </a:solidFill>
          <a:ln w="12700">
            <a:solidFill>
              <a:srgbClr val="7C3AED"/>
            </a:solidFill>
            <a:prstDash val="solid"/>
          </a:ln>
        </p:spPr>
      </p:sp>
      <p:sp>
        <p:nvSpPr>
          <p:cNvPr id="150" name="Text 147"/>
          <p:cNvSpPr/>
          <p:nvPr/>
        </p:nvSpPr>
        <p:spPr>
          <a:xfrm>
            <a:off x="5897880" y="3438144"/>
            <a:ext cx="384048" cy="384048"/>
          </a:xfrm>
          <a:prstGeom prst="rect">
            <a:avLst/>
          </a:prstGeom>
          <a:noFill/>
          <a:ln/>
        </p:spPr>
        <p:txBody>
          <a:bodyPr wrap="square"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t>
            </a:r>
            <a:endParaRPr lang="en-US" sz="1260" dirty="0"/>
          </a:p>
        </p:txBody>
      </p:sp>
      <p:sp>
        <p:nvSpPr>
          <p:cNvPr id="151" name="Text 148"/>
          <p:cNvSpPr/>
          <p:nvPr/>
        </p:nvSpPr>
        <p:spPr>
          <a:xfrm>
            <a:off x="6400800" y="3328416"/>
            <a:ext cx="5212080" cy="7772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Quotes are exact</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Each rule's sentence must appear word for word in the source document. A misquote is refused.</a:t>
            </a:r>
            <a:endParaRPr lang="en-US" sz="950" dirty="0"/>
          </a:p>
        </p:txBody>
      </p:sp>
      <p:sp>
        <p:nvSpPr>
          <p:cNvPr id="152" name="Shape 149"/>
          <p:cNvSpPr/>
          <p:nvPr/>
        </p:nvSpPr>
        <p:spPr>
          <a:xfrm>
            <a:off x="5897880" y="4279392"/>
            <a:ext cx="384048" cy="384048"/>
          </a:xfrm>
          <a:prstGeom prst="ellipse">
            <a:avLst/>
          </a:prstGeom>
          <a:solidFill>
            <a:srgbClr val="0D9488"/>
          </a:solidFill>
          <a:ln w="12700">
            <a:solidFill>
              <a:srgbClr val="0D9488"/>
            </a:solidFill>
            <a:prstDash val="solid"/>
          </a:ln>
        </p:spPr>
      </p:sp>
      <p:sp>
        <p:nvSpPr>
          <p:cNvPr id="153" name="Text 150"/>
          <p:cNvSpPr/>
          <p:nvPr/>
        </p:nvSpPr>
        <p:spPr>
          <a:xfrm>
            <a:off x="5897880" y="4279392"/>
            <a:ext cx="384048" cy="384048"/>
          </a:xfrm>
          <a:prstGeom prst="rect">
            <a:avLst/>
          </a:prstGeom>
          <a:noFill/>
          <a:ln/>
        </p:spPr>
        <p:txBody>
          <a:bodyPr wrap="square"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t>
            </a:r>
            <a:endParaRPr lang="en-US" sz="1260" dirty="0"/>
          </a:p>
        </p:txBody>
      </p:sp>
      <p:sp>
        <p:nvSpPr>
          <p:cNvPr id="154" name="Text 151"/>
          <p:cNvSpPr/>
          <p:nvPr/>
        </p:nvSpPr>
        <p:spPr>
          <a:xfrm>
            <a:off x="6400800" y="4169664"/>
            <a:ext cx="5212080" cy="7772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Codes are real</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Every billing and diagnosis code must appear in the source document.</a:t>
            </a:r>
            <a:endParaRPr lang="en-US" sz="950" dirty="0"/>
          </a:p>
        </p:txBody>
      </p:sp>
      <p:sp>
        <p:nvSpPr>
          <p:cNvPr id="155" name="Shape 152"/>
          <p:cNvSpPr/>
          <p:nvPr/>
        </p:nvSpPr>
        <p:spPr>
          <a:xfrm>
            <a:off x="5897880" y="5120640"/>
            <a:ext cx="384048" cy="384048"/>
          </a:xfrm>
          <a:prstGeom prst="ellipse">
            <a:avLst/>
          </a:prstGeom>
          <a:solidFill>
            <a:srgbClr val="C026D3"/>
          </a:solidFill>
          <a:ln w="12700">
            <a:solidFill>
              <a:srgbClr val="C026D3"/>
            </a:solidFill>
            <a:prstDash val="solid"/>
          </a:ln>
        </p:spPr>
      </p:sp>
      <p:sp>
        <p:nvSpPr>
          <p:cNvPr id="156" name="Text 153"/>
          <p:cNvSpPr/>
          <p:nvPr/>
        </p:nvSpPr>
        <p:spPr>
          <a:xfrm>
            <a:off x="5897880" y="5120640"/>
            <a:ext cx="384048" cy="384048"/>
          </a:xfrm>
          <a:prstGeom prst="rect">
            <a:avLst/>
          </a:prstGeom>
          <a:noFill/>
          <a:ln/>
        </p:spPr>
        <p:txBody>
          <a:bodyPr wrap="square" rtlCol="0" anchor="ctr"/>
          <a:lstStyle/>
          <a:p>
            <a:pPr algn="ctr" indent="0" marL="0">
              <a:buNone/>
            </a:pPr>
            <a:r>
              <a:rPr lang="en-US" sz="1260" b="1" dirty="0">
                <a:solidFill>
                  <a:srgbClr val="FFFFFF"/>
                </a:solidFill>
                <a:latin typeface="Arial" pitchFamily="34" charset="0"/>
                <a:ea typeface="Arial" pitchFamily="34" charset="-122"/>
                <a:cs typeface="Arial" pitchFamily="34" charset="-120"/>
              </a:rPr>
              <a:t>✓</a:t>
            </a:r>
            <a:endParaRPr lang="en-US" sz="1260" dirty="0"/>
          </a:p>
        </p:txBody>
      </p:sp>
      <p:sp>
        <p:nvSpPr>
          <p:cNvPr id="157" name="Text 154"/>
          <p:cNvSpPr/>
          <p:nvPr/>
        </p:nvSpPr>
        <p:spPr>
          <a:xfrm>
            <a:off x="6400800" y="5010912"/>
            <a:ext cx="5212080" cy="77724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A person signs it off</a:t>
            </a:r>
            <a:endParaRPr lang="en-US" sz="950" dirty="0"/>
          </a:p>
          <a:p>
            <a:pPr indent="0" marL="0">
              <a:buNone/>
            </a:pPr>
            <a:r>
              <a:rPr lang="en-US" sz="950" dirty="0">
                <a:solidFill>
                  <a:srgbClr val="475569"/>
                </a:solidFill>
                <a:latin typeface="Arial" pitchFamily="34" charset="0"/>
                <a:ea typeface="Arial" pitchFamily="34" charset="-122"/>
                <a:cs typeface="Arial" pitchFamily="34" charset="-120"/>
              </a:rPr>
              <a:t>Until a clinician signs it, the server refuses to decide anything with it.</a:t>
            </a:r>
            <a:endParaRPr lang="en-US" sz="950" dirty="0"/>
          </a:p>
        </p:txBody>
      </p:sp>
      <p:sp>
        <p:nvSpPr>
          <p:cNvPr id="158" name="Text 155"/>
          <p:cNvSpPr/>
          <p:nvPr/>
        </p:nvSpPr>
        <p:spPr>
          <a:xfrm>
            <a:off x="5897880" y="5897880"/>
            <a:ext cx="5760720" cy="411480"/>
          </a:xfrm>
          <a:prstGeom prst="rect">
            <a:avLst/>
          </a:prstGeom>
          <a:noFill/>
          <a:ln/>
        </p:spPr>
        <p:txBody>
          <a:bodyPr wrap="square" rtlCol="0" anchor="ctr"/>
          <a:lstStyle/>
          <a:p>
            <a:pPr indent="0" marL="0">
              <a:buNone/>
            </a:pPr>
            <a:r>
              <a:rPr lang="en-US" sz="950" i="1" dirty="0">
                <a:solidFill>
                  <a:srgbClr val="475569"/>
                </a:solidFill>
                <a:latin typeface="Arial" pitchFamily="34" charset="0"/>
                <a:ea typeface="Arial" pitchFamily="34" charset="-122"/>
                <a:cs typeface="Arial" pitchFamily="34" charset="-120"/>
              </a:rPr>
              <a:t>The largest library policy, lumbar MRI from a Washington State guideline, is tested on all 32,768 combinations.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POLICY LIBRARY</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Ready-made policies, from public coverage rules</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Each one is drafted from a published document, kept beside it, and quoted word for word.</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10 / 18</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9052560" cy="914400"/>
        </p:xfrm>
        <a:graphic>
          <a:graphicData uri="http://schemas.openxmlformats.org/drawingml/2006/table">
            <a:tbl>
              <a:tblPr/>
              <a:tblGrid>
                <a:gridCol w="2651760"/>
                <a:gridCol w="2743200"/>
                <a:gridCol w="2651760"/>
                <a:gridCol w="1005840"/>
              </a:tblGrid>
              <a:tr h="38404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Policy</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7C3AED"/>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What it covers</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7C3AED"/>
                    </a:solidFill>
                  </a:tcPr>
                </a:tc>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Based on</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7C3AED"/>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Cases tested</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7C3AED"/>
                    </a:solidFill>
                  </a:tcPr>
                </a:tc>
              </a:tr>
              <a:tr h="384048">
                <a:tc>
                  <a:txBody>
                    <a:bodyPr/>
                    <a:lstStyle/>
                    <a:p>
                      <a:pPr algn="l" indent="0" marL="0">
                        <a:buNone/>
                      </a:pPr>
                      <a:r>
                        <a:rPr lang="en-US" sz="1000" b="1" dirty="0">
                          <a:solidFill>
                            <a:srgbClr val="0F172A"/>
                          </a:solidFill>
                          <a:latin typeface="Arial" pitchFamily="34" charset="0"/>
                          <a:ea typeface="Arial" pitchFamily="34" charset="-122"/>
                          <a:cs typeface="Arial" pitchFamily="34" charset="-120"/>
                        </a:rPr>
                        <a:t>CPAP for sleep apnea</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Breathing machine (E0601)</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Medicare LCD L33718</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7C3AED"/>
                          </a:solidFill>
                          <a:latin typeface="Arial" pitchFamily="34" charset="0"/>
                          <a:ea typeface="Arial" pitchFamily="34" charset="-122"/>
                          <a:cs typeface="Arial" pitchFamily="34" charset="-120"/>
                        </a:rPr>
                        <a:t>64</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F172A"/>
                          </a:solidFill>
                          <a:latin typeface="Arial" pitchFamily="34" charset="0"/>
                          <a:ea typeface="Arial" pitchFamily="34" charset="-122"/>
                          <a:cs typeface="Arial" pitchFamily="34" charset="-120"/>
                        </a:rPr>
                        <a:t>Total knee replacement</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Surgery (27447)</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Medicare LCD L36575</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000" dirty="0">
                          <a:solidFill>
                            <a:srgbClr val="7C3AED"/>
                          </a:solidFill>
                          <a:latin typeface="Arial" pitchFamily="34" charset="0"/>
                          <a:ea typeface="Arial" pitchFamily="34" charset="-122"/>
                          <a:cs typeface="Arial" pitchFamily="34" charset="-120"/>
                        </a:rPr>
                        <a:t>16,384</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84048">
                <a:tc>
                  <a:txBody>
                    <a:bodyPr/>
                    <a:lstStyle/>
                    <a:p>
                      <a:pPr algn="l" indent="0" marL="0">
                        <a:buNone/>
                      </a:pPr>
                      <a:r>
                        <a:rPr lang="en-US" sz="1000" b="1" dirty="0">
                          <a:solidFill>
                            <a:srgbClr val="0F172A"/>
                          </a:solidFill>
                          <a:latin typeface="Arial" pitchFamily="34" charset="0"/>
                          <a:ea typeface="Arial" pitchFamily="34" charset="-122"/>
                          <a:cs typeface="Arial" pitchFamily="34" charset="-120"/>
                        </a:rPr>
                        <a:t>Facet joint nerve ablation</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Spine pain procedure (64633-64636)</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Medicare LCD L38773</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7C3AED"/>
                          </a:solidFill>
                          <a:latin typeface="Arial" pitchFamily="34" charset="0"/>
                          <a:ea typeface="Arial" pitchFamily="34" charset="-122"/>
                          <a:cs typeface="Arial" pitchFamily="34" charset="-120"/>
                        </a:rPr>
                        <a:t>128</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F172A"/>
                          </a:solidFill>
                          <a:latin typeface="Arial" pitchFamily="34" charset="0"/>
                          <a:ea typeface="Arial" pitchFamily="34" charset="-122"/>
                          <a:cs typeface="Arial" pitchFamily="34" charset="-120"/>
                        </a:rPr>
                        <a:t>Heart CT angiography</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Cardiac imaging (75574)</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Medicare LCD L35121</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000" dirty="0">
                          <a:solidFill>
                            <a:srgbClr val="7C3AED"/>
                          </a:solidFill>
                          <a:latin typeface="Arial" pitchFamily="34" charset="0"/>
                          <a:ea typeface="Arial" pitchFamily="34" charset="-122"/>
                          <a:cs typeface="Arial" pitchFamily="34" charset="-120"/>
                        </a:rPr>
                        <a:t>256</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84048">
                <a:tc>
                  <a:txBody>
                    <a:bodyPr/>
                    <a:lstStyle/>
                    <a:p>
                      <a:pPr algn="l" indent="0" marL="0">
                        <a:buNone/>
                      </a:pPr>
                      <a:r>
                        <a:rPr lang="en-US" sz="1000" b="1" dirty="0">
                          <a:solidFill>
                            <a:srgbClr val="0F172A"/>
                          </a:solidFill>
                          <a:latin typeface="Arial" pitchFamily="34" charset="0"/>
                          <a:ea typeface="Arial" pitchFamily="34" charset="-122"/>
                          <a:cs typeface="Arial" pitchFamily="34" charset="-120"/>
                        </a:rPr>
                        <a:t>Lower back MRI</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Spine imaging (72148, 72149, 72158)</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Washington State L&amp;I guideline</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7C3AED"/>
                          </a:solidFill>
                          <a:latin typeface="Arial" pitchFamily="34" charset="0"/>
                          <a:ea typeface="Arial" pitchFamily="34" charset="-122"/>
                          <a:cs typeface="Arial" pitchFamily="34" charset="-120"/>
                        </a:rPr>
                        <a:t>32,768</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84048">
                <a:tc>
                  <a:txBody>
                    <a:bodyPr/>
                    <a:lstStyle/>
                    <a:p>
                      <a:pPr algn="l" indent="0" marL="0">
                        <a:buNone/>
                      </a:pPr>
                      <a:r>
                        <a:rPr lang="en-US" sz="1000" b="1" dirty="0">
                          <a:solidFill>
                            <a:srgbClr val="0F172A"/>
                          </a:solidFill>
                          <a:latin typeface="Arial" pitchFamily="34" charset="0"/>
                          <a:ea typeface="Arial" pitchFamily="34" charset="-122"/>
                          <a:cs typeface="Arial" pitchFamily="34" charset="-120"/>
                        </a:rPr>
                        <a:t>Weight-loss surgery</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Bariatric surgery</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Medicare NCD 100.1</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c>
                  <a:txBody>
                    <a:bodyPr/>
                    <a:lstStyle/>
                    <a:p>
                      <a:pPr algn="r" indent="0" marL="0">
                        <a:buNone/>
                      </a:pPr>
                      <a:r>
                        <a:rPr lang="en-US" sz="1000" dirty="0">
                          <a:solidFill>
                            <a:srgbClr val="7C3AED"/>
                          </a:solidFill>
                          <a:latin typeface="Arial" pitchFamily="34" charset="0"/>
                          <a:ea typeface="Arial" pitchFamily="34" charset="-122"/>
                          <a:cs typeface="Arial" pitchFamily="34" charset="-120"/>
                        </a:rPr>
                        <a:t>8</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1F5F9"/>
                    </a:solidFill>
                  </a:tcPr>
                </a:tc>
              </a:tr>
              <a:tr h="384048">
                <a:tc>
                  <a:txBody>
                    <a:bodyPr/>
                    <a:lstStyle/>
                    <a:p>
                      <a:pPr algn="l" indent="0" marL="0">
                        <a:buNone/>
                      </a:pPr>
                      <a:r>
                        <a:rPr lang="en-US" sz="1000" b="1" dirty="0">
                          <a:solidFill>
                            <a:srgbClr val="0F172A"/>
                          </a:solidFill>
                          <a:latin typeface="Arial" pitchFamily="34" charset="0"/>
                          <a:ea typeface="Arial" pitchFamily="34" charset="-122"/>
                          <a:cs typeface="Arial" pitchFamily="34" charset="-120"/>
                        </a:rPr>
                        <a:t>Adalimumab (Humira) for RA</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Specialty drug, with step therapy</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1000" dirty="0">
                          <a:solidFill>
                            <a:srgbClr val="0F172A"/>
                          </a:solidFill>
                          <a:latin typeface="Arial" pitchFamily="34" charset="0"/>
                          <a:ea typeface="Arial" pitchFamily="34" charset="-122"/>
                          <a:cs typeface="Arial" pitchFamily="34" charset="-120"/>
                        </a:rPr>
                        <a:t>Utah Medicaid criteria</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000" dirty="0">
                          <a:solidFill>
                            <a:srgbClr val="7C3AED"/>
                          </a:solidFill>
                          <a:latin typeface="Arial" pitchFamily="34" charset="0"/>
                          <a:ea typeface="Arial" pitchFamily="34" charset="-122"/>
                          <a:cs typeface="Arial" pitchFamily="34" charset="-120"/>
                        </a:rPr>
                        <a:t>4,096</a:t>
                      </a:r>
                      <a:endParaRPr lang="en-US" sz="1000" dirty="0">
                        <a:latin typeface="Arial" charset="0"/>
                        <a:ea typeface="Arial" charset="0"/>
                        <a:cs typeface="Arial" charset="0"/>
                      </a:endParaRPr>
                    </a:p>
                  </a:txBody>
                  <a:tcPr marL="91440" marR="91440" marT="36576" marB="36576"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12" name="Shape 8"/>
          <p:cNvSpPr/>
          <p:nvPr/>
        </p:nvSpPr>
        <p:spPr>
          <a:xfrm>
            <a:off x="9829800" y="1645920"/>
            <a:ext cx="1810512" cy="3063240"/>
          </a:xfrm>
          <a:prstGeom prst="roundRect">
            <a:avLst>
              <a:gd name="adj" fmla="val 6061"/>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3" name="Shape 9"/>
          <p:cNvSpPr/>
          <p:nvPr/>
        </p:nvSpPr>
        <p:spPr>
          <a:xfrm>
            <a:off x="9939528" y="1810512"/>
            <a:ext cx="54864" cy="2734056"/>
          </a:xfrm>
          <a:prstGeom prst="rect">
            <a:avLst/>
          </a:prstGeom>
          <a:solidFill>
            <a:srgbClr val="7C3AED"/>
          </a:solidFill>
          <a:ln w="12700">
            <a:solidFill>
              <a:srgbClr val="7C3AED"/>
            </a:solidFill>
            <a:prstDash val="solid"/>
          </a:ln>
        </p:spPr>
      </p:sp>
      <p:sp>
        <p:nvSpPr>
          <p:cNvPr id="14" name="Text 10"/>
          <p:cNvSpPr/>
          <p:nvPr/>
        </p:nvSpPr>
        <p:spPr>
          <a:xfrm>
            <a:off x="10104120" y="1773936"/>
            <a:ext cx="1371600" cy="347472"/>
          </a:xfrm>
          <a:prstGeom prst="rect">
            <a:avLst/>
          </a:prstGeom>
          <a:noFill/>
          <a:ln/>
        </p:spPr>
        <p:txBody>
          <a:bodyPr wrap="square" rtlCol="0" anchor="t"/>
          <a:lstStyle/>
          <a:p>
            <a:pPr indent="0" marL="0">
              <a:buNone/>
            </a:pPr>
            <a:r>
              <a:rPr lang="en-US" sz="1150" b="1" dirty="0">
                <a:solidFill>
                  <a:srgbClr val="0F172A"/>
                </a:solidFill>
                <a:latin typeface="Arial" pitchFamily="34" charset="0"/>
                <a:ea typeface="Arial" pitchFamily="34" charset="-122"/>
                <a:cs typeface="Arial" pitchFamily="34" charset="-120"/>
              </a:rPr>
              <a:t>Kinds</a:t>
            </a:r>
            <a:endParaRPr lang="en-US" sz="1150" dirty="0"/>
          </a:p>
        </p:txBody>
      </p:sp>
      <p:sp>
        <p:nvSpPr>
          <p:cNvPr id="15" name="Text 11"/>
          <p:cNvSpPr/>
          <p:nvPr/>
        </p:nvSpPr>
        <p:spPr>
          <a:xfrm>
            <a:off x="10104120" y="2139696"/>
            <a:ext cx="1371600" cy="2478024"/>
          </a:xfrm>
          <a:prstGeom prst="rect">
            <a:avLst/>
          </a:prstGeom>
          <a:noFill/>
          <a:ln/>
        </p:spPr>
        <p:txBody>
          <a:bodyPr wrap="square" rtlCol="0" anchor="t"/>
          <a:lstStyle/>
          <a:p>
            <a:pPr indent="0" marL="0">
              <a:spcAft>
                <a:spcPts val="300"/>
              </a:spcAft>
              <a:buNone/>
            </a:pPr>
            <a:r>
              <a:rPr lang="en-US" sz="1050" b="1" dirty="0">
                <a:solidFill>
                  <a:srgbClr val="0D9488"/>
                </a:solidFill>
                <a:latin typeface="Arial" pitchFamily="34" charset="0"/>
                <a:ea typeface="Arial" pitchFamily="34" charset="-122"/>
                <a:cs typeface="Arial" pitchFamily="34" charset="-120"/>
              </a:rPr>
              <a:t>Equipment</a:t>
            </a:r>
            <a:endParaRPr lang="en-US" sz="1050" dirty="0"/>
          </a:p>
          <a:p>
            <a:pPr indent="0" marL="0">
              <a:spcAft>
                <a:spcPts val="300"/>
              </a:spcAft>
              <a:buNone/>
            </a:pPr>
            <a:r>
              <a:rPr lang="en-US" sz="1050" b="1" dirty="0">
                <a:solidFill>
                  <a:srgbClr val="DC2626"/>
                </a:solidFill>
                <a:latin typeface="Arial" pitchFamily="34" charset="0"/>
                <a:ea typeface="Arial" pitchFamily="34" charset="-122"/>
                <a:cs typeface="Arial" pitchFamily="34" charset="-120"/>
              </a:rPr>
              <a:t>Surgery</a:t>
            </a:r>
            <a:endParaRPr lang="en-US" sz="1050" dirty="0"/>
          </a:p>
          <a:p>
            <a:pPr indent="0" marL="0">
              <a:spcAft>
                <a:spcPts val="300"/>
              </a:spcAft>
              <a:buNone/>
            </a:pPr>
            <a:r>
              <a:rPr lang="en-US" sz="1050" b="1" dirty="0">
                <a:solidFill>
                  <a:srgbClr val="7C3AED"/>
                </a:solidFill>
                <a:latin typeface="Arial" pitchFamily="34" charset="0"/>
                <a:ea typeface="Arial" pitchFamily="34" charset="-122"/>
                <a:cs typeface="Arial" pitchFamily="34" charset="-120"/>
              </a:rPr>
              <a:t>Spine procedures</a:t>
            </a:r>
            <a:endParaRPr lang="en-US" sz="1050" dirty="0"/>
          </a:p>
          <a:p>
            <a:pPr indent="0" marL="0">
              <a:spcAft>
                <a:spcPts val="300"/>
              </a:spcAft>
              <a:buNone/>
            </a:pPr>
            <a:r>
              <a:rPr lang="en-US" sz="1050" b="1" dirty="0">
                <a:solidFill>
                  <a:srgbClr val="2563EB"/>
                </a:solidFill>
                <a:latin typeface="Arial" pitchFamily="34" charset="0"/>
                <a:ea typeface="Arial" pitchFamily="34" charset="-122"/>
                <a:cs typeface="Arial" pitchFamily="34" charset="-120"/>
              </a:rPr>
              <a:t>Imaging</a:t>
            </a:r>
            <a:endParaRPr lang="en-US" sz="1050" dirty="0"/>
          </a:p>
          <a:p>
            <a:pPr indent="0" marL="0">
              <a:spcAft>
                <a:spcPts val="300"/>
              </a:spcAft>
              <a:buNone/>
            </a:pPr>
            <a:r>
              <a:rPr lang="en-US" sz="1050" b="1" dirty="0">
                <a:solidFill>
                  <a:srgbClr val="059669"/>
                </a:solidFill>
                <a:latin typeface="Arial" pitchFamily="34" charset="0"/>
                <a:ea typeface="Arial" pitchFamily="34" charset="-122"/>
                <a:cs typeface="Arial" pitchFamily="34" charset="-120"/>
              </a:rPr>
              <a:t>Specialty drugs</a:t>
            </a:r>
            <a:endParaRPr lang="en-US" sz="1050" dirty="0"/>
          </a:p>
        </p:txBody>
      </p:sp>
      <p:sp>
        <p:nvSpPr>
          <p:cNvPr id="16" name="Shape 12"/>
          <p:cNvSpPr/>
          <p:nvPr/>
        </p:nvSpPr>
        <p:spPr>
          <a:xfrm>
            <a:off x="548640" y="4892040"/>
            <a:ext cx="5486400" cy="914400"/>
          </a:xfrm>
          <a:prstGeom prst="roundRect">
            <a:avLst>
              <a:gd name="adj" fmla="val 12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7" name="Shape 13"/>
          <p:cNvSpPr/>
          <p:nvPr/>
        </p:nvSpPr>
        <p:spPr>
          <a:xfrm>
            <a:off x="658368" y="5056632"/>
            <a:ext cx="54864" cy="585216"/>
          </a:xfrm>
          <a:prstGeom prst="rect">
            <a:avLst/>
          </a:prstGeom>
          <a:solidFill>
            <a:srgbClr val="2563EB"/>
          </a:solidFill>
          <a:ln w="12700">
            <a:solidFill>
              <a:srgbClr val="2563EB"/>
            </a:solidFill>
            <a:prstDash val="solid"/>
          </a:ln>
        </p:spPr>
      </p:sp>
      <p:sp>
        <p:nvSpPr>
          <p:cNvPr id="18" name="Text 14"/>
          <p:cNvSpPr/>
          <p:nvPr/>
        </p:nvSpPr>
        <p:spPr>
          <a:xfrm>
            <a:off x="822960" y="5020056"/>
            <a:ext cx="5047488" cy="69494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An industry list of 66 standard services (from AHIP and BCBSA) would be the natural next set, but it is not public. The library is built from documents anyone can read instead.</a:t>
            </a:r>
            <a:endParaRPr lang="en-US" sz="950" dirty="0"/>
          </a:p>
        </p:txBody>
      </p:sp>
      <p:sp>
        <p:nvSpPr>
          <p:cNvPr id="19" name="Shape 15"/>
          <p:cNvSpPr/>
          <p:nvPr/>
        </p:nvSpPr>
        <p:spPr>
          <a:xfrm>
            <a:off x="6172200" y="4892040"/>
            <a:ext cx="5468112" cy="914400"/>
          </a:xfrm>
          <a:prstGeom prst="roundRect">
            <a:avLst>
              <a:gd name="adj" fmla="val 12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0" name="Shape 16"/>
          <p:cNvSpPr/>
          <p:nvPr/>
        </p:nvSpPr>
        <p:spPr>
          <a:xfrm>
            <a:off x="6281928" y="5056632"/>
            <a:ext cx="54864" cy="585216"/>
          </a:xfrm>
          <a:prstGeom prst="rect">
            <a:avLst/>
          </a:prstGeom>
          <a:solidFill>
            <a:srgbClr val="D97706"/>
          </a:solidFill>
          <a:ln w="12700">
            <a:solidFill>
              <a:srgbClr val="D97706"/>
            </a:solidFill>
            <a:prstDash val="solid"/>
          </a:ln>
        </p:spPr>
      </p:sp>
      <p:sp>
        <p:nvSpPr>
          <p:cNvPr id="21" name="Text 17"/>
          <p:cNvSpPr/>
          <p:nvPr/>
        </p:nvSpPr>
        <p:spPr>
          <a:xfrm>
            <a:off x="6446520" y="5020056"/>
            <a:ext cx="5029200" cy="69494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Every library policy ships as a draft. The plan's own medical director reviews each one against its source and signs it off before it decides anything.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HUMAN REVIEW</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People stay in charge</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Vaglio decides what the rules settle. People decide everything else, and their decisions are recorded.</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11 / 18</a:t>
            </a:r>
            <a:endParaRPr lang="en-US" sz="800" dirty="0"/>
          </a:p>
        </p:txBody>
      </p:sp>
      <p:sp>
        <p:nvSpPr>
          <p:cNvPr id="11" name="Shape 8"/>
          <p:cNvSpPr/>
          <p:nvPr/>
        </p:nvSpPr>
        <p:spPr>
          <a:xfrm>
            <a:off x="758952" y="1755648"/>
            <a:ext cx="237744" cy="237744"/>
          </a:xfrm>
          <a:prstGeom prst="ellipse">
            <a:avLst/>
          </a:prstGeom>
          <a:solidFill>
            <a:srgbClr val="2563EB"/>
          </a:solidFill>
          <a:ln w="12700">
            <a:solidFill>
              <a:srgbClr val="2563EB"/>
            </a:solidFill>
            <a:prstDash val="solid"/>
          </a:ln>
        </p:spPr>
      </p:sp>
      <p:sp>
        <p:nvSpPr>
          <p:cNvPr id="12" name="Shape 9"/>
          <p:cNvSpPr/>
          <p:nvPr/>
        </p:nvSpPr>
        <p:spPr>
          <a:xfrm>
            <a:off x="640080" y="2011680"/>
            <a:ext cx="475488" cy="457200"/>
          </a:xfrm>
          <a:prstGeom prst="chord">
            <a:avLst>
              <a:gd name="adj1" fmla="val 10800000"/>
              <a:gd name="adj2" fmla="val 0"/>
            </a:avLst>
          </a:prstGeom>
          <a:solidFill>
            <a:srgbClr val="2563EB"/>
          </a:solidFill>
          <a:ln w="12700">
            <a:solidFill>
              <a:srgbClr val="2563EB"/>
            </a:solidFill>
            <a:prstDash val="solid"/>
          </a:ln>
        </p:spPr>
      </p:sp>
      <p:sp>
        <p:nvSpPr>
          <p:cNvPr id="13" name="Shape 10"/>
          <p:cNvSpPr/>
          <p:nvPr/>
        </p:nvSpPr>
        <p:spPr>
          <a:xfrm>
            <a:off x="1280160" y="1645920"/>
            <a:ext cx="5120640" cy="960120"/>
          </a:xfrm>
          <a:prstGeom prst="roundRect">
            <a:avLst>
              <a:gd name="adj" fmla="val 11429"/>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4" name="Text 11"/>
          <p:cNvSpPr/>
          <p:nvPr/>
        </p:nvSpPr>
        <p:spPr>
          <a:xfrm>
            <a:off x="1463040" y="1773936"/>
            <a:ext cx="4773168" cy="347472"/>
          </a:xfrm>
          <a:prstGeom prst="rect">
            <a:avLst/>
          </a:prstGeom>
          <a:noFill/>
          <a:ln/>
        </p:spPr>
        <p:txBody>
          <a:bodyPr wrap="square" rtlCol="0" anchor="t"/>
          <a:lstStyle/>
          <a:p>
            <a:pPr indent="0" marL="0">
              <a:buNone/>
            </a:pPr>
            <a:r>
              <a:rPr lang="en-US" sz="1200" b="1" dirty="0">
                <a:solidFill>
                  <a:srgbClr val="2563EB"/>
                </a:solidFill>
                <a:latin typeface="Arial" pitchFamily="34" charset="0"/>
                <a:ea typeface="Arial" pitchFamily="34" charset="-122"/>
                <a:cs typeface="Arial" pitchFamily="34" charset="-120"/>
              </a:rPr>
              <a:t>Reviewers</a:t>
            </a:r>
            <a:endParaRPr lang="en-US" sz="1200" dirty="0"/>
          </a:p>
        </p:txBody>
      </p:sp>
      <p:sp>
        <p:nvSpPr>
          <p:cNvPr id="15" name="Text 12"/>
          <p:cNvSpPr/>
          <p:nvPr/>
        </p:nvSpPr>
        <p:spPr>
          <a:xfrm>
            <a:off x="1463040" y="2066544"/>
            <a:ext cx="4773168" cy="448056"/>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Work the queue of pended cases in the console: the request, the evidence found, what is missing, the due date. Their decision and reason go back to the doctor.</a:t>
            </a:r>
            <a:endParaRPr lang="en-US" sz="950" dirty="0"/>
          </a:p>
        </p:txBody>
      </p:sp>
      <p:sp>
        <p:nvSpPr>
          <p:cNvPr id="16" name="Shape 13"/>
          <p:cNvSpPr/>
          <p:nvPr/>
        </p:nvSpPr>
        <p:spPr>
          <a:xfrm>
            <a:off x="758952" y="2834640"/>
            <a:ext cx="237744" cy="237744"/>
          </a:xfrm>
          <a:prstGeom prst="ellipse">
            <a:avLst/>
          </a:prstGeom>
          <a:solidFill>
            <a:srgbClr val="7C3AED"/>
          </a:solidFill>
          <a:ln w="12700">
            <a:solidFill>
              <a:srgbClr val="7C3AED"/>
            </a:solidFill>
            <a:prstDash val="solid"/>
          </a:ln>
        </p:spPr>
      </p:sp>
      <p:sp>
        <p:nvSpPr>
          <p:cNvPr id="17" name="Shape 14"/>
          <p:cNvSpPr/>
          <p:nvPr/>
        </p:nvSpPr>
        <p:spPr>
          <a:xfrm>
            <a:off x="640080" y="3090672"/>
            <a:ext cx="475488" cy="457200"/>
          </a:xfrm>
          <a:prstGeom prst="chord">
            <a:avLst>
              <a:gd name="adj1" fmla="val 10800000"/>
              <a:gd name="adj2" fmla="val 0"/>
            </a:avLst>
          </a:prstGeom>
          <a:solidFill>
            <a:srgbClr val="7C3AED"/>
          </a:solidFill>
          <a:ln w="12700">
            <a:solidFill>
              <a:srgbClr val="7C3AED"/>
            </a:solidFill>
            <a:prstDash val="solid"/>
          </a:ln>
        </p:spPr>
      </p:sp>
      <p:sp>
        <p:nvSpPr>
          <p:cNvPr id="18" name="Shape 15"/>
          <p:cNvSpPr/>
          <p:nvPr/>
        </p:nvSpPr>
        <p:spPr>
          <a:xfrm>
            <a:off x="1280160" y="2724912"/>
            <a:ext cx="5120640" cy="960120"/>
          </a:xfrm>
          <a:prstGeom prst="roundRect">
            <a:avLst>
              <a:gd name="adj" fmla="val 11429"/>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9" name="Text 16"/>
          <p:cNvSpPr/>
          <p:nvPr/>
        </p:nvSpPr>
        <p:spPr>
          <a:xfrm>
            <a:off x="1463040" y="2852928"/>
            <a:ext cx="4773168" cy="347472"/>
          </a:xfrm>
          <a:prstGeom prst="rect">
            <a:avLst/>
          </a:prstGeom>
          <a:noFill/>
          <a:ln/>
        </p:spPr>
        <p:txBody>
          <a:bodyPr wrap="square" rtlCol="0" anchor="t"/>
          <a:lstStyle/>
          <a:p>
            <a:pPr indent="0" marL="0">
              <a:buNone/>
            </a:pPr>
            <a:r>
              <a:rPr lang="en-US" sz="1200" b="1" dirty="0">
                <a:solidFill>
                  <a:srgbClr val="7C3AED"/>
                </a:solidFill>
                <a:latin typeface="Arial" pitchFamily="34" charset="0"/>
                <a:ea typeface="Arial" pitchFamily="34" charset="-122"/>
                <a:cs typeface="Arial" pitchFamily="34" charset="-120"/>
              </a:rPr>
              <a:t>Clinicians</a:t>
            </a:r>
            <a:endParaRPr lang="en-US" sz="1200" dirty="0"/>
          </a:p>
        </p:txBody>
      </p:sp>
      <p:sp>
        <p:nvSpPr>
          <p:cNvPr id="20" name="Text 17"/>
          <p:cNvSpPr/>
          <p:nvPr/>
        </p:nvSpPr>
        <p:spPr>
          <a:xfrm>
            <a:off x="1463040" y="3145536"/>
            <a:ext cx="4773168" cy="448056"/>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Sign policies off. The signature is their account's name and credential, never typed in; the server checks they are recorded as a clinician.</a:t>
            </a:r>
            <a:endParaRPr lang="en-US" sz="950" dirty="0"/>
          </a:p>
        </p:txBody>
      </p:sp>
      <p:sp>
        <p:nvSpPr>
          <p:cNvPr id="21" name="Shape 18"/>
          <p:cNvSpPr/>
          <p:nvPr/>
        </p:nvSpPr>
        <p:spPr>
          <a:xfrm>
            <a:off x="758952" y="3913632"/>
            <a:ext cx="237744" cy="237744"/>
          </a:xfrm>
          <a:prstGeom prst="ellipse">
            <a:avLst/>
          </a:prstGeom>
          <a:solidFill>
            <a:srgbClr val="DC2626"/>
          </a:solidFill>
          <a:ln w="12700">
            <a:solidFill>
              <a:srgbClr val="DC2626"/>
            </a:solidFill>
            <a:prstDash val="solid"/>
          </a:ln>
        </p:spPr>
      </p:sp>
      <p:sp>
        <p:nvSpPr>
          <p:cNvPr id="22" name="Shape 19"/>
          <p:cNvSpPr/>
          <p:nvPr/>
        </p:nvSpPr>
        <p:spPr>
          <a:xfrm>
            <a:off x="640080" y="4169664"/>
            <a:ext cx="475488" cy="457200"/>
          </a:xfrm>
          <a:prstGeom prst="chord">
            <a:avLst>
              <a:gd name="adj1" fmla="val 10800000"/>
              <a:gd name="adj2" fmla="val 0"/>
            </a:avLst>
          </a:prstGeom>
          <a:solidFill>
            <a:srgbClr val="DC2626"/>
          </a:solidFill>
          <a:ln w="12700">
            <a:solidFill>
              <a:srgbClr val="DC2626"/>
            </a:solidFill>
            <a:prstDash val="solid"/>
          </a:ln>
        </p:spPr>
      </p:sp>
      <p:sp>
        <p:nvSpPr>
          <p:cNvPr id="23" name="Shape 20"/>
          <p:cNvSpPr/>
          <p:nvPr/>
        </p:nvSpPr>
        <p:spPr>
          <a:xfrm>
            <a:off x="1280160" y="3803904"/>
            <a:ext cx="5120640" cy="960120"/>
          </a:xfrm>
          <a:prstGeom prst="roundRect">
            <a:avLst>
              <a:gd name="adj" fmla="val 11429"/>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4" name="Text 21"/>
          <p:cNvSpPr/>
          <p:nvPr/>
        </p:nvSpPr>
        <p:spPr>
          <a:xfrm>
            <a:off x="1463040" y="3931920"/>
            <a:ext cx="4773168" cy="347472"/>
          </a:xfrm>
          <a:prstGeom prst="rect">
            <a:avLst/>
          </a:prstGeom>
          <a:noFill/>
          <a:ln/>
        </p:spPr>
        <p:txBody>
          <a:bodyPr wrap="square" rtlCol="0" anchor="t"/>
          <a:lstStyle/>
          <a:p>
            <a:pPr indent="0" marL="0">
              <a:buNone/>
            </a:pPr>
            <a:r>
              <a:rPr lang="en-US" sz="1200" b="1" dirty="0">
                <a:solidFill>
                  <a:srgbClr val="DC2626"/>
                </a:solidFill>
                <a:latin typeface="Arial" pitchFamily="34" charset="0"/>
                <a:ea typeface="Arial" pitchFamily="34" charset="-122"/>
                <a:cs typeface="Arial" pitchFamily="34" charset="-120"/>
              </a:rPr>
              <a:t>Clinician-only denials</a:t>
            </a:r>
            <a:endParaRPr lang="en-US" sz="1200" dirty="0"/>
          </a:p>
        </p:txBody>
      </p:sp>
      <p:sp>
        <p:nvSpPr>
          <p:cNvPr id="25" name="Text 22"/>
          <p:cNvSpPr/>
          <p:nvPr/>
        </p:nvSpPr>
        <p:spPr>
          <a:xfrm>
            <a:off x="1463040" y="4224528"/>
            <a:ext cx="4773168" cy="448056"/>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An option for states such as California (SB 1120): the engine never denies on its own; it proposes the denial, and only a clinician may make it.</a:t>
            </a:r>
            <a:endParaRPr lang="en-US" sz="950" dirty="0"/>
          </a:p>
        </p:txBody>
      </p:sp>
      <p:sp>
        <p:nvSpPr>
          <p:cNvPr id="26" name="Shape 23"/>
          <p:cNvSpPr/>
          <p:nvPr/>
        </p:nvSpPr>
        <p:spPr>
          <a:xfrm>
            <a:off x="758952" y="4992624"/>
            <a:ext cx="237744" cy="237744"/>
          </a:xfrm>
          <a:prstGeom prst="ellipse">
            <a:avLst/>
          </a:prstGeom>
          <a:solidFill>
            <a:srgbClr val="D97706"/>
          </a:solidFill>
          <a:ln w="12700">
            <a:solidFill>
              <a:srgbClr val="D97706"/>
            </a:solidFill>
            <a:prstDash val="solid"/>
          </a:ln>
        </p:spPr>
      </p:sp>
      <p:sp>
        <p:nvSpPr>
          <p:cNvPr id="27" name="Shape 24"/>
          <p:cNvSpPr/>
          <p:nvPr/>
        </p:nvSpPr>
        <p:spPr>
          <a:xfrm>
            <a:off x="640080" y="5248656"/>
            <a:ext cx="475488" cy="457200"/>
          </a:xfrm>
          <a:prstGeom prst="chord">
            <a:avLst>
              <a:gd name="adj1" fmla="val 10800000"/>
              <a:gd name="adj2" fmla="val 0"/>
            </a:avLst>
          </a:prstGeom>
          <a:solidFill>
            <a:srgbClr val="D97706"/>
          </a:solidFill>
          <a:ln w="12700">
            <a:solidFill>
              <a:srgbClr val="D97706"/>
            </a:solidFill>
            <a:prstDash val="solid"/>
          </a:ln>
        </p:spPr>
      </p:sp>
      <p:sp>
        <p:nvSpPr>
          <p:cNvPr id="28" name="Shape 25"/>
          <p:cNvSpPr/>
          <p:nvPr/>
        </p:nvSpPr>
        <p:spPr>
          <a:xfrm>
            <a:off x="1280160" y="4882896"/>
            <a:ext cx="5120640" cy="960120"/>
          </a:xfrm>
          <a:prstGeom prst="roundRect">
            <a:avLst>
              <a:gd name="adj" fmla="val 11429"/>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9" name="Text 26"/>
          <p:cNvSpPr/>
          <p:nvPr/>
        </p:nvSpPr>
        <p:spPr>
          <a:xfrm>
            <a:off x="1463040" y="5010912"/>
            <a:ext cx="4773168" cy="347472"/>
          </a:xfrm>
          <a:prstGeom prst="rect">
            <a:avLst/>
          </a:prstGeom>
          <a:noFill/>
          <a:ln/>
        </p:spPr>
        <p:txBody>
          <a:bodyPr wrap="square" rtlCol="0" anchor="t"/>
          <a:lstStyle/>
          <a:p>
            <a:pPr indent="0" marL="0">
              <a:buNone/>
            </a:pPr>
            <a:r>
              <a:rPr lang="en-US" sz="1200" b="1" dirty="0">
                <a:solidFill>
                  <a:srgbClr val="D97706"/>
                </a:solidFill>
                <a:latin typeface="Arial" pitchFamily="34" charset="0"/>
                <a:ea typeface="Arial" pitchFamily="34" charset="-122"/>
                <a:cs typeface="Arial" pitchFamily="34" charset="-120"/>
              </a:rPr>
              <a:t>Appeals and overrides</a:t>
            </a:r>
            <a:endParaRPr lang="en-US" sz="1200" dirty="0"/>
          </a:p>
        </p:txBody>
      </p:sp>
      <p:sp>
        <p:nvSpPr>
          <p:cNvPr id="30" name="Text 27"/>
          <p:cNvSpPr/>
          <p:nvPr/>
        </p:nvSpPr>
        <p:spPr>
          <a:xfrm>
            <a:off x="1463040" y="5303520"/>
            <a:ext cx="4773168" cy="448056"/>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Every time a person overrides the engine, or an appeal overturns a denial, it is counted by rule, by provider and by state, to show which rules need work.</a:t>
            </a:r>
            <a:endParaRPr lang="en-US" sz="950" dirty="0"/>
          </a:p>
        </p:txBody>
      </p:sp>
      <p:pic>
        <p:nvPicPr>
          <p:cNvPr id="31" name="Image 1" descr="The Vaglio console showing a pended case and the reviewer decision form">    </p:cNvPr>
          <p:cNvPicPr>
            <a:picLocks noChangeAspect="1"/>
          </p:cNvPicPr>
          <p:nvPr/>
        </p:nvPicPr>
        <p:blipFill>
          <a:blip r:embed="rId3"/>
          <a:stretch>
            <a:fillRect/>
          </a:stretch>
        </p:blipFill>
        <p:spPr>
          <a:xfrm>
            <a:off x="6675120" y="1645920"/>
            <a:ext cx="4965192" cy="3337560"/>
          </a:xfrm>
          <a:prstGeom prst="rect">
            <a:avLst/>
          </a:prstGeom>
        </p:spPr>
      </p:pic>
      <p:sp>
        <p:nvSpPr>
          <p:cNvPr id="32" name="Shape 28"/>
          <p:cNvSpPr/>
          <p:nvPr/>
        </p:nvSpPr>
        <p:spPr>
          <a:xfrm>
            <a:off x="6675120" y="1645920"/>
            <a:ext cx="4965192" cy="3337560"/>
          </a:xfrm>
          <a:prstGeom prst="rect">
            <a:avLst/>
          </a:prstGeom>
          <a:solidFill>
            <a:srgbClr val="FFFFFF">
              <a:alpha val="0"/>
            </a:srgbClr>
          </a:solidFill>
          <a:ln w="12700">
            <a:solidFill>
              <a:srgbClr val="CBD5E1"/>
            </a:solidFill>
            <a:prstDash val="solid"/>
          </a:ln>
        </p:spPr>
      </p:sp>
      <p:sp>
        <p:nvSpPr>
          <p:cNvPr id="33" name="Text 29"/>
          <p:cNvSpPr/>
          <p:nvPr/>
        </p:nvSpPr>
        <p:spPr>
          <a:xfrm>
            <a:off x="6675120" y="5029200"/>
            <a:ext cx="4965192" cy="411480"/>
          </a:xfrm>
          <a:prstGeom prst="rect">
            <a:avLst/>
          </a:prstGeom>
          <a:noFill/>
          <a:ln/>
        </p:spPr>
        <p:txBody>
          <a:bodyPr wrap="square" rtlCol="0" anchor="ctr"/>
          <a:lstStyle/>
          <a:p>
            <a:pPr indent="0" marL="0">
              <a:buNone/>
            </a:pPr>
            <a:r>
              <a:rPr lang="en-US" sz="900" i="1" dirty="0">
                <a:solidFill>
                  <a:srgbClr val="475569"/>
                </a:solidFill>
                <a:latin typeface="Arial" pitchFamily="34" charset="0"/>
                <a:ea typeface="Arial" pitchFamily="34" charset="-122"/>
                <a:cs typeface="Arial" pitchFamily="34" charset="-120"/>
              </a:rPr>
              <a:t>The console: a pended case, what is missing, the due date, and the reviewer's decision form.</a:t>
            </a:r>
            <a:endParaRPr lang="en-US" sz="900" dirty="0"/>
          </a:p>
        </p:txBody>
      </p:sp>
      <p:sp>
        <p:nvSpPr>
          <p:cNvPr id="34" name="Text 30"/>
          <p:cNvSpPr/>
          <p:nvPr/>
        </p:nvSpPr>
        <p:spPr>
          <a:xfrm>
            <a:off x="548640" y="5897880"/>
            <a:ext cx="11064240" cy="411480"/>
          </a:xfrm>
          <a:prstGeom prst="rect">
            <a:avLst/>
          </a:prstGeom>
          <a:noFill/>
          <a:ln/>
        </p:spPr>
        <p:txBody>
          <a:bodyPr wrap="square" rtlCol="0" anchor="ctr"/>
          <a:lstStyle/>
          <a:p>
            <a:pPr indent="0" marL="0">
              <a:buNone/>
            </a:pPr>
            <a:r>
              <a:rPr lang="en-US" sz="950" i="1" dirty="0">
                <a:solidFill>
                  <a:srgbClr val="475569"/>
                </a:solidFill>
                <a:latin typeface="Arial" pitchFamily="34" charset="0"/>
                <a:ea typeface="Arial" pitchFamily="34" charset="-122"/>
                <a:cs typeface="Arial" pitchFamily="34" charset="-120"/>
              </a:rPr>
              <a:t>Narrower access for each person: some may only write drafts, read the audit log or record appeals, or see only one policy's cases. Sign-in can use the plan's own single sign-on.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DOCUMENTS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Asking for records, and reading them</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When a fact is only in a doctor's note, Vaglio asks for the note the standard way, and helps a reviewer read it.</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12 / 18</a:t>
            </a:r>
            <a:endParaRPr lang="en-US" sz="800" dirty="0"/>
          </a:p>
        </p:txBody>
      </p:sp>
      <p:sp>
        <p:nvSpPr>
          <p:cNvPr id="11" name="Shape 8"/>
          <p:cNvSpPr/>
          <p:nvPr/>
        </p:nvSpPr>
        <p:spPr>
          <a:xfrm>
            <a:off x="1188720" y="1691640"/>
            <a:ext cx="457200" cy="457200"/>
          </a:xfrm>
          <a:prstGeom prst="ellipse">
            <a:avLst/>
          </a:prstGeom>
          <a:solidFill>
            <a:srgbClr val="D97706"/>
          </a:solidFill>
          <a:ln w="19050">
            <a:solidFill>
              <a:srgbClr val="FFFFFF"/>
            </a:solidFill>
            <a:prstDash val="solid"/>
          </a:ln>
        </p:spPr>
      </p:sp>
      <p:sp>
        <p:nvSpPr>
          <p:cNvPr id="12" name="Text 9"/>
          <p:cNvSpPr/>
          <p:nvPr/>
        </p:nvSpPr>
        <p:spPr>
          <a:xfrm>
            <a:off x="1188720" y="1691640"/>
            <a:ext cx="45720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Shape 10"/>
          <p:cNvSpPr/>
          <p:nvPr/>
        </p:nvSpPr>
        <p:spPr>
          <a:xfrm>
            <a:off x="1691640" y="1920240"/>
            <a:ext cx="1371600" cy="0"/>
          </a:xfrm>
          <a:prstGeom prst="line">
            <a:avLst/>
          </a:prstGeom>
          <a:noFill/>
          <a:ln w="19050">
            <a:solidFill>
              <a:srgbClr val="CBD5E1"/>
            </a:solidFill>
            <a:prstDash val="solid"/>
            <a:tailEnd type="triangle"/>
          </a:ln>
        </p:spPr>
      </p:sp>
      <p:sp>
        <p:nvSpPr>
          <p:cNvPr id="14" name="Shape 11"/>
          <p:cNvSpPr/>
          <p:nvPr/>
        </p:nvSpPr>
        <p:spPr>
          <a:xfrm>
            <a:off x="548640" y="2286000"/>
            <a:ext cx="1737360" cy="1783080"/>
          </a:xfrm>
          <a:prstGeom prst="roundRect">
            <a:avLst>
              <a:gd name="adj" fmla="val 6316"/>
            </a:avLst>
          </a:prstGeom>
          <a:solidFill>
            <a:srgbClr val="FFFFFF"/>
          </a:solidFill>
          <a:ln w="9525">
            <a:solidFill>
              <a:srgbClr val="D97706"/>
            </a:solidFill>
            <a:prstDash val="solid"/>
          </a:ln>
          <a:effectLst>
            <a:outerShdw sx="100000" sy="100000" kx="0" ky="0" algn="bl" rotWithShape="0" blurRad="76200" dist="25400" dir="5400000">
              <a:srgbClr val="0F172A">
                <a:alpha val="12000"/>
              </a:srgbClr>
            </a:outerShdw>
          </a:effectLst>
        </p:spPr>
      </p:sp>
      <p:sp>
        <p:nvSpPr>
          <p:cNvPr id="15" name="Text 12"/>
          <p:cNvSpPr/>
          <p:nvPr/>
        </p:nvSpPr>
        <p:spPr>
          <a:xfrm>
            <a:off x="731520" y="2414016"/>
            <a:ext cx="1389888" cy="347472"/>
          </a:xfrm>
          <a:prstGeom prst="rect">
            <a:avLst/>
          </a:prstGeom>
          <a:noFill/>
          <a:ln/>
        </p:spPr>
        <p:txBody>
          <a:bodyPr wrap="square" rtlCol="0" anchor="t"/>
          <a:lstStyle/>
          <a:p>
            <a:pPr indent="0" marL="0">
              <a:buNone/>
            </a:pPr>
            <a:r>
              <a:rPr lang="en-US" sz="1100" b="1" dirty="0">
                <a:solidFill>
                  <a:srgbClr val="D97706"/>
                </a:solidFill>
                <a:latin typeface="Arial" pitchFamily="34" charset="0"/>
                <a:ea typeface="Arial" pitchFamily="34" charset="-122"/>
                <a:cs typeface="Arial" pitchFamily="34" charset="-120"/>
              </a:rPr>
              <a:t>Vaglio pends</a:t>
            </a:r>
            <a:endParaRPr lang="en-US" sz="1100" dirty="0"/>
          </a:p>
        </p:txBody>
      </p:sp>
      <p:sp>
        <p:nvSpPr>
          <p:cNvPr id="16" name="Text 13"/>
          <p:cNvSpPr/>
          <p:nvPr/>
        </p:nvSpPr>
        <p:spPr>
          <a:xfrm>
            <a:off x="731520" y="2871216"/>
            <a:ext cx="1389888" cy="110642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and names the documents that would show what is missing, by their standard codes.</a:t>
            </a:r>
            <a:endParaRPr lang="en-US" sz="950" dirty="0"/>
          </a:p>
        </p:txBody>
      </p:sp>
      <p:sp>
        <p:nvSpPr>
          <p:cNvPr id="17" name="Shape 14"/>
          <p:cNvSpPr/>
          <p:nvPr/>
        </p:nvSpPr>
        <p:spPr>
          <a:xfrm>
            <a:off x="3072384" y="1691640"/>
            <a:ext cx="457200" cy="457200"/>
          </a:xfrm>
          <a:prstGeom prst="ellipse">
            <a:avLst/>
          </a:prstGeom>
          <a:solidFill>
            <a:srgbClr val="2563EB"/>
          </a:solidFill>
          <a:ln w="19050">
            <a:solidFill>
              <a:srgbClr val="FFFFFF"/>
            </a:solidFill>
            <a:prstDash val="solid"/>
          </a:ln>
        </p:spPr>
      </p:sp>
      <p:sp>
        <p:nvSpPr>
          <p:cNvPr id="18" name="Text 15"/>
          <p:cNvSpPr/>
          <p:nvPr/>
        </p:nvSpPr>
        <p:spPr>
          <a:xfrm>
            <a:off x="3072384" y="1691640"/>
            <a:ext cx="45720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9" name="Shape 16"/>
          <p:cNvSpPr/>
          <p:nvPr/>
        </p:nvSpPr>
        <p:spPr>
          <a:xfrm>
            <a:off x="3575304" y="1920240"/>
            <a:ext cx="1371600" cy="0"/>
          </a:xfrm>
          <a:prstGeom prst="line">
            <a:avLst/>
          </a:prstGeom>
          <a:noFill/>
          <a:ln w="19050">
            <a:solidFill>
              <a:srgbClr val="CBD5E1"/>
            </a:solidFill>
            <a:prstDash val="solid"/>
            <a:tailEnd type="triangle"/>
          </a:ln>
        </p:spPr>
      </p:sp>
      <p:sp>
        <p:nvSpPr>
          <p:cNvPr id="20" name="Shape 17"/>
          <p:cNvSpPr/>
          <p:nvPr/>
        </p:nvSpPr>
        <p:spPr>
          <a:xfrm>
            <a:off x="2432304" y="2286000"/>
            <a:ext cx="1737360" cy="1783080"/>
          </a:xfrm>
          <a:prstGeom prst="roundRect">
            <a:avLst>
              <a:gd name="adj" fmla="val 6316"/>
            </a:avLst>
          </a:prstGeom>
          <a:solidFill>
            <a:srgbClr val="FFFFFF"/>
          </a:solidFill>
          <a:ln w="9525">
            <a:solidFill>
              <a:srgbClr val="2563EB"/>
            </a:solidFill>
            <a:prstDash val="solid"/>
          </a:ln>
          <a:effectLst>
            <a:outerShdw sx="100000" sy="100000" kx="0" ky="0" algn="bl" rotWithShape="0" blurRad="76200" dist="25400" dir="5400000">
              <a:srgbClr val="0F172A">
                <a:alpha val="12000"/>
              </a:srgbClr>
            </a:outerShdw>
          </a:effectLst>
        </p:spPr>
      </p:sp>
      <p:sp>
        <p:nvSpPr>
          <p:cNvPr id="21" name="Text 18"/>
          <p:cNvSpPr/>
          <p:nvPr/>
        </p:nvSpPr>
        <p:spPr>
          <a:xfrm>
            <a:off x="2615184" y="2414016"/>
            <a:ext cx="1389888" cy="347472"/>
          </a:xfrm>
          <a:prstGeom prst="rect">
            <a:avLst/>
          </a:prstGeom>
          <a:noFill/>
          <a:ln/>
        </p:spPr>
        <p:txBody>
          <a:bodyPr wrap="square" rtlCol="0" anchor="t"/>
          <a:lstStyle/>
          <a:p>
            <a:pPr indent="0" marL="0">
              <a:buNone/>
            </a:pPr>
            <a:r>
              <a:rPr lang="en-US" sz="1100" b="1" dirty="0">
                <a:solidFill>
                  <a:srgbClr val="2563EB"/>
                </a:solidFill>
                <a:latin typeface="Arial" pitchFamily="34" charset="0"/>
                <a:ea typeface="Arial" pitchFamily="34" charset="-122"/>
                <a:cs typeface="Arial" pitchFamily="34" charset="-120"/>
              </a:rPr>
              <a:t>The PAS server asks</a:t>
            </a:r>
            <a:endParaRPr lang="en-US" sz="1100" dirty="0"/>
          </a:p>
        </p:txBody>
      </p:sp>
      <p:sp>
        <p:nvSpPr>
          <p:cNvPr id="22" name="Text 19"/>
          <p:cNvSpPr/>
          <p:nvPr/>
        </p:nvSpPr>
        <p:spPr>
          <a:xfrm>
            <a:off x="2615184" y="2871216"/>
            <a:ext cx="1389888" cy="110642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the doctor's system for them (the Da Vinci CDex standard).</a:t>
            </a:r>
            <a:endParaRPr lang="en-US" sz="950" dirty="0"/>
          </a:p>
        </p:txBody>
      </p:sp>
      <p:sp>
        <p:nvSpPr>
          <p:cNvPr id="23" name="Shape 20"/>
          <p:cNvSpPr/>
          <p:nvPr/>
        </p:nvSpPr>
        <p:spPr>
          <a:xfrm>
            <a:off x="4956048" y="1691640"/>
            <a:ext cx="457200" cy="457200"/>
          </a:xfrm>
          <a:prstGeom prst="ellipse">
            <a:avLst/>
          </a:prstGeom>
          <a:solidFill>
            <a:srgbClr val="0D9488"/>
          </a:solidFill>
          <a:ln w="19050">
            <a:solidFill>
              <a:srgbClr val="FFFFFF"/>
            </a:solidFill>
            <a:prstDash val="solid"/>
          </a:ln>
        </p:spPr>
      </p:sp>
      <p:sp>
        <p:nvSpPr>
          <p:cNvPr id="24" name="Text 21"/>
          <p:cNvSpPr/>
          <p:nvPr/>
        </p:nvSpPr>
        <p:spPr>
          <a:xfrm>
            <a:off x="4956048" y="1691640"/>
            <a:ext cx="45720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5" name="Shape 22"/>
          <p:cNvSpPr/>
          <p:nvPr/>
        </p:nvSpPr>
        <p:spPr>
          <a:xfrm>
            <a:off x="5458968" y="1920240"/>
            <a:ext cx="1371600" cy="0"/>
          </a:xfrm>
          <a:prstGeom prst="line">
            <a:avLst/>
          </a:prstGeom>
          <a:noFill/>
          <a:ln w="19050">
            <a:solidFill>
              <a:srgbClr val="CBD5E1"/>
            </a:solidFill>
            <a:prstDash val="solid"/>
            <a:tailEnd type="triangle"/>
          </a:ln>
        </p:spPr>
      </p:sp>
      <p:sp>
        <p:nvSpPr>
          <p:cNvPr id="26" name="Shape 23"/>
          <p:cNvSpPr/>
          <p:nvPr/>
        </p:nvSpPr>
        <p:spPr>
          <a:xfrm>
            <a:off x="4315968" y="2286000"/>
            <a:ext cx="1737360" cy="1783080"/>
          </a:xfrm>
          <a:prstGeom prst="roundRect">
            <a:avLst>
              <a:gd name="adj" fmla="val 6316"/>
            </a:avLst>
          </a:prstGeom>
          <a:solidFill>
            <a:srgbClr val="FFFFFF"/>
          </a:solidFill>
          <a:ln w="9525">
            <a:solidFill>
              <a:srgbClr val="0D9488"/>
            </a:solidFill>
            <a:prstDash val="solid"/>
          </a:ln>
          <a:effectLst>
            <a:outerShdw sx="100000" sy="100000" kx="0" ky="0" algn="bl" rotWithShape="0" blurRad="76200" dist="25400" dir="5400000">
              <a:srgbClr val="0F172A">
                <a:alpha val="12000"/>
              </a:srgbClr>
            </a:outerShdw>
          </a:effectLst>
        </p:spPr>
      </p:sp>
      <p:sp>
        <p:nvSpPr>
          <p:cNvPr id="27" name="Text 24"/>
          <p:cNvSpPr/>
          <p:nvPr/>
        </p:nvSpPr>
        <p:spPr>
          <a:xfrm>
            <a:off x="4498848" y="2414016"/>
            <a:ext cx="1389888" cy="347472"/>
          </a:xfrm>
          <a:prstGeom prst="rect">
            <a:avLst/>
          </a:prstGeom>
          <a:noFill/>
          <a:ln/>
        </p:spPr>
        <p:txBody>
          <a:bodyPr wrap="square" rtlCol="0" anchor="t"/>
          <a:lstStyle/>
          <a:p>
            <a:pPr indent="0" marL="0">
              <a:buNone/>
            </a:pPr>
            <a:r>
              <a:rPr lang="en-US" sz="1100" b="1" dirty="0">
                <a:solidFill>
                  <a:srgbClr val="0D9488"/>
                </a:solidFill>
                <a:latin typeface="Arial" pitchFamily="34" charset="0"/>
                <a:ea typeface="Arial" pitchFamily="34" charset="-122"/>
                <a:cs typeface="Arial" pitchFamily="34" charset="-120"/>
              </a:rPr>
              <a:t>The doctor sends</a:t>
            </a:r>
            <a:endParaRPr lang="en-US" sz="1100" dirty="0"/>
          </a:p>
        </p:txBody>
      </p:sp>
      <p:sp>
        <p:nvSpPr>
          <p:cNvPr id="28" name="Text 25"/>
          <p:cNvSpPr/>
          <p:nvPr/>
        </p:nvSpPr>
        <p:spPr>
          <a:xfrm>
            <a:off x="4498848" y="2871216"/>
            <a:ext cx="1389888" cy="110642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the note, a PDF or a scan. Vaglio fetches it into the case.</a:t>
            </a:r>
            <a:endParaRPr lang="en-US" sz="950" dirty="0"/>
          </a:p>
        </p:txBody>
      </p:sp>
      <p:sp>
        <p:nvSpPr>
          <p:cNvPr id="29" name="Shape 26"/>
          <p:cNvSpPr/>
          <p:nvPr/>
        </p:nvSpPr>
        <p:spPr>
          <a:xfrm>
            <a:off x="6839712" y="1691640"/>
            <a:ext cx="457200" cy="457200"/>
          </a:xfrm>
          <a:prstGeom prst="ellipse">
            <a:avLst/>
          </a:prstGeom>
          <a:solidFill>
            <a:srgbClr val="7C3AED"/>
          </a:solidFill>
          <a:ln w="19050">
            <a:solidFill>
              <a:srgbClr val="FFFFFF"/>
            </a:solidFill>
            <a:prstDash val="solid"/>
          </a:ln>
        </p:spPr>
      </p:sp>
      <p:sp>
        <p:nvSpPr>
          <p:cNvPr id="30" name="Text 27"/>
          <p:cNvSpPr/>
          <p:nvPr/>
        </p:nvSpPr>
        <p:spPr>
          <a:xfrm>
            <a:off x="6839712" y="1691640"/>
            <a:ext cx="45720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1" name="Shape 28"/>
          <p:cNvSpPr/>
          <p:nvPr/>
        </p:nvSpPr>
        <p:spPr>
          <a:xfrm>
            <a:off x="7342632" y="1920240"/>
            <a:ext cx="1371600" cy="0"/>
          </a:xfrm>
          <a:prstGeom prst="line">
            <a:avLst/>
          </a:prstGeom>
          <a:noFill/>
          <a:ln w="19050">
            <a:solidFill>
              <a:srgbClr val="CBD5E1"/>
            </a:solidFill>
            <a:prstDash val="solid"/>
            <a:tailEnd type="triangle"/>
          </a:ln>
        </p:spPr>
      </p:sp>
      <p:sp>
        <p:nvSpPr>
          <p:cNvPr id="32" name="Shape 29"/>
          <p:cNvSpPr/>
          <p:nvPr/>
        </p:nvSpPr>
        <p:spPr>
          <a:xfrm>
            <a:off x="6199632" y="2286000"/>
            <a:ext cx="1737360" cy="1783080"/>
          </a:xfrm>
          <a:prstGeom prst="roundRect">
            <a:avLst>
              <a:gd name="adj" fmla="val 6316"/>
            </a:avLst>
          </a:prstGeom>
          <a:solidFill>
            <a:srgbClr val="FFFFFF"/>
          </a:solidFill>
          <a:ln w="9525">
            <a:solidFill>
              <a:srgbClr val="7C3AED"/>
            </a:solidFill>
            <a:prstDash val="solid"/>
          </a:ln>
          <a:effectLst>
            <a:outerShdw sx="100000" sy="100000" kx="0" ky="0" algn="bl" rotWithShape="0" blurRad="76200" dist="25400" dir="5400000">
              <a:srgbClr val="0F172A">
                <a:alpha val="12000"/>
              </a:srgbClr>
            </a:outerShdw>
          </a:effectLst>
        </p:spPr>
      </p:sp>
      <p:sp>
        <p:nvSpPr>
          <p:cNvPr id="33" name="Text 30"/>
          <p:cNvSpPr/>
          <p:nvPr/>
        </p:nvSpPr>
        <p:spPr>
          <a:xfrm>
            <a:off x="6382512" y="2414016"/>
            <a:ext cx="1389888" cy="347472"/>
          </a:xfrm>
          <a:prstGeom prst="rect">
            <a:avLst/>
          </a:prstGeom>
          <a:noFill/>
          <a:ln/>
        </p:spPr>
        <p:txBody>
          <a:bodyPr wrap="square" rtlCol="0" anchor="t"/>
          <a:lstStyle/>
          <a:p>
            <a:pPr indent="0" marL="0">
              <a:buNone/>
            </a:pPr>
            <a:r>
              <a:rPr lang="en-US" sz="1100" b="1" dirty="0">
                <a:solidFill>
                  <a:srgbClr val="7C3AED"/>
                </a:solidFill>
                <a:latin typeface="Arial" pitchFamily="34" charset="0"/>
                <a:ea typeface="Arial" pitchFamily="34" charset="-122"/>
                <a:cs typeface="Arial" pitchFamily="34" charset="-120"/>
              </a:rPr>
              <a:t>Text is made</a:t>
            </a:r>
            <a:endParaRPr lang="en-US" sz="1100" dirty="0"/>
          </a:p>
        </p:txBody>
      </p:sp>
      <p:sp>
        <p:nvSpPr>
          <p:cNvPr id="34" name="Text 31"/>
          <p:cNvSpPr/>
          <p:nvPr/>
        </p:nvSpPr>
        <p:spPr>
          <a:xfrm>
            <a:off x="6382512" y="2871216"/>
            <a:ext cx="1389888" cy="110642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by programs on the plan's own computer (PDF text, or OCR for scans).</a:t>
            </a:r>
            <a:endParaRPr lang="en-US" sz="950" dirty="0"/>
          </a:p>
        </p:txBody>
      </p:sp>
      <p:sp>
        <p:nvSpPr>
          <p:cNvPr id="35" name="Shape 32"/>
          <p:cNvSpPr/>
          <p:nvPr/>
        </p:nvSpPr>
        <p:spPr>
          <a:xfrm>
            <a:off x="8723376" y="1691640"/>
            <a:ext cx="457200" cy="457200"/>
          </a:xfrm>
          <a:prstGeom prst="ellipse">
            <a:avLst/>
          </a:prstGeom>
          <a:solidFill>
            <a:srgbClr val="C026D3"/>
          </a:solidFill>
          <a:ln w="19050">
            <a:solidFill>
              <a:srgbClr val="FFFFFF"/>
            </a:solidFill>
            <a:prstDash val="solid"/>
          </a:ln>
        </p:spPr>
      </p:sp>
      <p:sp>
        <p:nvSpPr>
          <p:cNvPr id="36" name="Text 33"/>
          <p:cNvSpPr/>
          <p:nvPr/>
        </p:nvSpPr>
        <p:spPr>
          <a:xfrm>
            <a:off x="8723376" y="1691640"/>
            <a:ext cx="45720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7" name="Shape 34"/>
          <p:cNvSpPr/>
          <p:nvPr/>
        </p:nvSpPr>
        <p:spPr>
          <a:xfrm>
            <a:off x="9226296" y="1920240"/>
            <a:ext cx="1371600" cy="0"/>
          </a:xfrm>
          <a:prstGeom prst="line">
            <a:avLst/>
          </a:prstGeom>
          <a:noFill/>
          <a:ln w="19050">
            <a:solidFill>
              <a:srgbClr val="CBD5E1"/>
            </a:solidFill>
            <a:prstDash val="solid"/>
            <a:tailEnd type="triangle"/>
          </a:ln>
        </p:spPr>
      </p:sp>
      <p:sp>
        <p:nvSpPr>
          <p:cNvPr id="38" name="Shape 35"/>
          <p:cNvSpPr/>
          <p:nvPr/>
        </p:nvSpPr>
        <p:spPr>
          <a:xfrm>
            <a:off x="8083296" y="2286000"/>
            <a:ext cx="1737360" cy="1783080"/>
          </a:xfrm>
          <a:prstGeom prst="roundRect">
            <a:avLst>
              <a:gd name="adj" fmla="val 6316"/>
            </a:avLst>
          </a:prstGeom>
          <a:solidFill>
            <a:srgbClr val="FFFFFF"/>
          </a:solidFill>
          <a:ln w="9525">
            <a:solidFill>
              <a:srgbClr val="C026D3"/>
            </a:solidFill>
            <a:prstDash val="solid"/>
          </a:ln>
          <a:effectLst>
            <a:outerShdw sx="100000" sy="100000" kx="0" ky="0" algn="bl" rotWithShape="0" blurRad="76200" dist="25400" dir="5400000">
              <a:srgbClr val="0F172A">
                <a:alpha val="12000"/>
              </a:srgbClr>
            </a:outerShdw>
          </a:effectLst>
        </p:spPr>
      </p:sp>
      <p:sp>
        <p:nvSpPr>
          <p:cNvPr id="39" name="Text 36"/>
          <p:cNvSpPr/>
          <p:nvPr/>
        </p:nvSpPr>
        <p:spPr>
          <a:xfrm>
            <a:off x="8266176" y="2414016"/>
            <a:ext cx="1389888" cy="347472"/>
          </a:xfrm>
          <a:prstGeom prst="rect">
            <a:avLst/>
          </a:prstGeom>
          <a:noFill/>
          <a:ln/>
        </p:spPr>
        <p:txBody>
          <a:bodyPr wrap="square" rtlCol="0" anchor="t"/>
          <a:lstStyle/>
          <a:p>
            <a:pPr indent="0" marL="0">
              <a:buNone/>
            </a:pPr>
            <a:r>
              <a:rPr lang="en-US" sz="1100" b="1" dirty="0">
                <a:solidFill>
                  <a:srgbClr val="C026D3"/>
                </a:solidFill>
                <a:latin typeface="Arial" pitchFamily="34" charset="0"/>
                <a:ea typeface="Arial" pitchFamily="34" charset="-122"/>
                <a:cs typeface="Arial" pitchFamily="34" charset="-120"/>
              </a:rPr>
              <a:t>AI proposes</a:t>
            </a:r>
            <a:endParaRPr lang="en-US" sz="1100" dirty="0"/>
          </a:p>
        </p:txBody>
      </p:sp>
      <p:sp>
        <p:nvSpPr>
          <p:cNvPr id="40" name="Text 37"/>
          <p:cNvSpPr/>
          <p:nvPr/>
        </p:nvSpPr>
        <p:spPr>
          <a:xfrm>
            <a:off x="8266176" y="2871216"/>
            <a:ext cx="1389888" cy="110642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findings, each with an exact quote from the document.</a:t>
            </a:r>
            <a:endParaRPr lang="en-US" sz="950" dirty="0"/>
          </a:p>
        </p:txBody>
      </p:sp>
      <p:sp>
        <p:nvSpPr>
          <p:cNvPr id="41" name="Shape 38"/>
          <p:cNvSpPr/>
          <p:nvPr/>
        </p:nvSpPr>
        <p:spPr>
          <a:xfrm>
            <a:off x="10607040" y="1691640"/>
            <a:ext cx="457200" cy="457200"/>
          </a:xfrm>
          <a:prstGeom prst="ellipse">
            <a:avLst/>
          </a:prstGeom>
          <a:solidFill>
            <a:srgbClr val="059669"/>
          </a:solidFill>
          <a:ln w="19050">
            <a:solidFill>
              <a:srgbClr val="FFFFFF"/>
            </a:solidFill>
            <a:prstDash val="solid"/>
          </a:ln>
        </p:spPr>
      </p:sp>
      <p:sp>
        <p:nvSpPr>
          <p:cNvPr id="42" name="Text 39"/>
          <p:cNvSpPr/>
          <p:nvPr/>
        </p:nvSpPr>
        <p:spPr>
          <a:xfrm>
            <a:off x="10607040" y="1691640"/>
            <a:ext cx="457200" cy="4572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3" name="Shape 40"/>
          <p:cNvSpPr/>
          <p:nvPr/>
        </p:nvSpPr>
        <p:spPr>
          <a:xfrm>
            <a:off x="9966960" y="2286000"/>
            <a:ext cx="1737360" cy="1783080"/>
          </a:xfrm>
          <a:prstGeom prst="roundRect">
            <a:avLst>
              <a:gd name="adj" fmla="val 6316"/>
            </a:avLst>
          </a:prstGeom>
          <a:solidFill>
            <a:srgbClr val="FFFFFF"/>
          </a:solidFill>
          <a:ln w="9525">
            <a:solidFill>
              <a:srgbClr val="059669"/>
            </a:solidFill>
            <a:prstDash val="solid"/>
          </a:ln>
          <a:effectLst>
            <a:outerShdw sx="100000" sy="100000" kx="0" ky="0" algn="bl" rotWithShape="0" blurRad="76200" dist="25400" dir="5400000">
              <a:srgbClr val="0F172A">
                <a:alpha val="12000"/>
              </a:srgbClr>
            </a:outerShdw>
          </a:effectLst>
        </p:spPr>
      </p:sp>
      <p:sp>
        <p:nvSpPr>
          <p:cNvPr id="44" name="Text 41"/>
          <p:cNvSpPr/>
          <p:nvPr/>
        </p:nvSpPr>
        <p:spPr>
          <a:xfrm>
            <a:off x="10149840" y="2414016"/>
            <a:ext cx="1389888" cy="347472"/>
          </a:xfrm>
          <a:prstGeom prst="rect">
            <a:avLst/>
          </a:prstGeom>
          <a:noFill/>
          <a:ln/>
        </p:spPr>
        <p:txBody>
          <a:bodyPr wrap="square" rtlCol="0" anchor="t"/>
          <a:lstStyle/>
          <a:p>
            <a:pPr indent="0" marL="0">
              <a:buNone/>
            </a:pPr>
            <a:r>
              <a:rPr lang="en-US" sz="1100" b="1" dirty="0">
                <a:solidFill>
                  <a:srgbClr val="059669"/>
                </a:solidFill>
                <a:latin typeface="Arial" pitchFamily="34" charset="0"/>
                <a:ea typeface="Arial" pitchFamily="34" charset="-122"/>
                <a:cs typeface="Arial" pitchFamily="34" charset="-120"/>
              </a:rPr>
              <a:t>A reviewer confirms</a:t>
            </a:r>
            <a:endParaRPr lang="en-US" sz="1100" dirty="0"/>
          </a:p>
        </p:txBody>
      </p:sp>
      <p:sp>
        <p:nvSpPr>
          <p:cNvPr id="45" name="Text 42"/>
          <p:cNvSpPr/>
          <p:nvPr/>
        </p:nvSpPr>
        <p:spPr>
          <a:xfrm>
            <a:off x="10149840" y="2871216"/>
            <a:ext cx="1389888" cy="110642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each finding against the original. Then the policy decides again.</a:t>
            </a:r>
            <a:endParaRPr lang="en-US" sz="950" dirty="0"/>
          </a:p>
        </p:txBody>
      </p:sp>
      <p:sp>
        <p:nvSpPr>
          <p:cNvPr id="46" name="Shape 43"/>
          <p:cNvSpPr/>
          <p:nvPr/>
        </p:nvSpPr>
        <p:spPr>
          <a:xfrm>
            <a:off x="548640" y="4297680"/>
            <a:ext cx="6675120" cy="1508760"/>
          </a:xfrm>
          <a:prstGeom prst="roundRect">
            <a:avLst>
              <a:gd name="adj" fmla="val 7273"/>
            </a:avLst>
          </a:prstGeom>
          <a:solidFill>
            <a:srgbClr val="FFFFFF"/>
          </a:solidFill>
          <a:ln w="19050">
            <a:solidFill>
              <a:srgbClr val="C026D3"/>
            </a:solidFill>
            <a:prstDash val="solid"/>
          </a:ln>
        </p:spPr>
      </p:sp>
      <p:sp>
        <p:nvSpPr>
          <p:cNvPr id="47" name="Text 44"/>
          <p:cNvSpPr/>
          <p:nvPr/>
        </p:nvSpPr>
        <p:spPr>
          <a:xfrm>
            <a:off x="777240" y="4370832"/>
            <a:ext cx="3657600" cy="320040"/>
          </a:xfrm>
          <a:prstGeom prst="rect">
            <a:avLst/>
          </a:prstGeom>
          <a:noFill/>
          <a:ln/>
        </p:spPr>
        <p:txBody>
          <a:bodyPr wrap="square" rtlCol="0" anchor="ctr"/>
          <a:lstStyle/>
          <a:p>
            <a:pPr indent="0" marL="0">
              <a:buNone/>
            </a:pPr>
            <a:r>
              <a:rPr lang="en-US" sz="1200" b="1" dirty="0">
                <a:solidFill>
                  <a:srgbClr val="C026D3"/>
                </a:solidFill>
                <a:latin typeface="Arial" pitchFamily="34" charset="0"/>
                <a:ea typeface="Arial" pitchFamily="34" charset="-122"/>
                <a:cs typeface="Arial" pitchFamily="34" charset="-120"/>
              </a:rPr>
              <a:t>The quote check</a:t>
            </a:r>
            <a:endParaRPr lang="en-US" sz="1200" dirty="0"/>
          </a:p>
        </p:txBody>
      </p:sp>
      <p:sp>
        <p:nvSpPr>
          <p:cNvPr id="48" name="Shape 45"/>
          <p:cNvSpPr/>
          <p:nvPr/>
        </p:nvSpPr>
        <p:spPr>
          <a:xfrm>
            <a:off x="777240" y="4754880"/>
            <a:ext cx="3017520" cy="914400"/>
          </a:xfrm>
          <a:prstGeom prst="roundRect">
            <a:avLst>
              <a:gd name="adj" fmla="val 8000"/>
            </a:avLst>
          </a:prstGeom>
          <a:solidFill>
            <a:srgbClr val="D1FAE5"/>
          </a:solidFill>
          <a:ln w="12700">
            <a:solidFill>
              <a:srgbClr val="059669"/>
            </a:solidFill>
            <a:prstDash val="solid"/>
          </a:ln>
        </p:spPr>
      </p:sp>
      <p:sp>
        <p:nvSpPr>
          <p:cNvPr id="49" name="Text 46"/>
          <p:cNvSpPr/>
          <p:nvPr/>
        </p:nvSpPr>
        <p:spPr>
          <a:xfrm>
            <a:off x="868680" y="4773168"/>
            <a:ext cx="2834640" cy="877824"/>
          </a:xfrm>
          <a:prstGeom prst="rect">
            <a:avLst/>
          </a:prstGeom>
          <a:noFill/>
          <a:ln/>
        </p:spPr>
        <p:txBody>
          <a:bodyPr wrap="square" rtlCol="0" anchor="ctr"/>
          <a:lstStyle/>
          <a:p>
            <a:pPr indent="0" marL="0">
              <a:buNone/>
            </a:pPr>
            <a:r>
              <a:rPr lang="en-US" sz="900" i="1" dirty="0">
                <a:solidFill>
                  <a:srgbClr val="0F172A"/>
                </a:solidFill>
                <a:latin typeface="Arial" pitchFamily="34" charset="0"/>
                <a:ea typeface="Arial" pitchFamily="34" charset="-122"/>
                <a:cs typeface="Arial" pitchFamily="34" charset="-120"/>
              </a:rPr>
              <a:t>“She completed eight weeks of physical therapy without relief.”</a:t>
            </a:r>
            <a:endParaRPr lang="en-US" sz="900" dirty="0"/>
          </a:p>
          <a:p>
            <a:pPr indent="0" marL="0">
              <a:buNone/>
            </a:pPr>
            <a:r>
              <a:rPr lang="en-US" sz="850" b="1" dirty="0">
                <a:solidFill>
                  <a:srgbClr val="059669"/>
                </a:solidFill>
                <a:latin typeface="Arial" pitchFamily="34" charset="0"/>
                <a:ea typeface="Arial" pitchFamily="34" charset="-122"/>
                <a:cs typeface="Arial" pitchFamily="34" charset="-120"/>
              </a:rPr>
              <a:t>Found word for word: kept as a proposal</a:t>
            </a:r>
            <a:endParaRPr lang="en-US" sz="900" dirty="0"/>
          </a:p>
        </p:txBody>
      </p:sp>
      <p:sp>
        <p:nvSpPr>
          <p:cNvPr id="50" name="Shape 47"/>
          <p:cNvSpPr/>
          <p:nvPr/>
        </p:nvSpPr>
        <p:spPr>
          <a:xfrm>
            <a:off x="4023360" y="4754880"/>
            <a:ext cx="3017520" cy="914400"/>
          </a:xfrm>
          <a:prstGeom prst="roundRect">
            <a:avLst>
              <a:gd name="adj" fmla="val 8000"/>
            </a:avLst>
          </a:prstGeom>
          <a:solidFill>
            <a:srgbClr val="FEE2E2"/>
          </a:solidFill>
          <a:ln w="12700">
            <a:solidFill>
              <a:srgbClr val="DC2626"/>
            </a:solidFill>
            <a:prstDash val="solid"/>
          </a:ln>
        </p:spPr>
      </p:sp>
      <p:sp>
        <p:nvSpPr>
          <p:cNvPr id="51" name="Text 48"/>
          <p:cNvSpPr/>
          <p:nvPr/>
        </p:nvSpPr>
        <p:spPr>
          <a:xfrm>
            <a:off x="4114800" y="4773168"/>
            <a:ext cx="2834640" cy="877824"/>
          </a:xfrm>
          <a:prstGeom prst="rect">
            <a:avLst/>
          </a:prstGeom>
          <a:noFill/>
          <a:ln/>
        </p:spPr>
        <p:txBody>
          <a:bodyPr wrap="square" rtlCol="0" anchor="ctr"/>
          <a:lstStyle/>
          <a:p>
            <a:pPr indent="0" marL="0">
              <a:buNone/>
            </a:pPr>
            <a:r>
              <a:rPr lang="en-US" sz="900" i="1" dirty="0">
                <a:solidFill>
                  <a:srgbClr val="0F172A"/>
                </a:solidFill>
                <a:latin typeface="Arial" pitchFamily="34" charset="0"/>
                <a:ea typeface="Arial" pitchFamily="34" charset="-122"/>
                <a:cs typeface="Arial" pitchFamily="34" charset="-120"/>
              </a:rPr>
              <a:t>“Patient failed conservative care.”</a:t>
            </a:r>
            <a:endParaRPr lang="en-US" sz="900" dirty="0"/>
          </a:p>
          <a:p>
            <a:pPr indent="0" marL="0">
              <a:buNone/>
            </a:pPr>
            <a:r>
              <a:rPr lang="en-US" sz="850" b="1" dirty="0">
                <a:solidFill>
                  <a:srgbClr val="DC2626"/>
                </a:solidFill>
                <a:latin typeface="Arial" pitchFamily="34" charset="0"/>
                <a:ea typeface="Arial" pitchFamily="34" charset="-122"/>
                <a:cs typeface="Arial" pitchFamily="34" charset="-120"/>
              </a:rPr>
              <a:t>Not in the document: refused</a:t>
            </a:r>
            <a:endParaRPr lang="en-US" sz="900" dirty="0"/>
          </a:p>
        </p:txBody>
      </p:sp>
      <p:sp>
        <p:nvSpPr>
          <p:cNvPr id="52" name="Shape 49"/>
          <p:cNvSpPr/>
          <p:nvPr/>
        </p:nvSpPr>
        <p:spPr>
          <a:xfrm>
            <a:off x="7452360" y="4297680"/>
            <a:ext cx="4187952" cy="1508760"/>
          </a:xfrm>
          <a:prstGeom prst="roundRect">
            <a:avLst>
              <a:gd name="adj" fmla="val 7273"/>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53" name="Shape 50"/>
          <p:cNvSpPr/>
          <p:nvPr/>
        </p:nvSpPr>
        <p:spPr>
          <a:xfrm>
            <a:off x="7562088" y="4462272"/>
            <a:ext cx="54864" cy="1179576"/>
          </a:xfrm>
          <a:prstGeom prst="rect">
            <a:avLst/>
          </a:prstGeom>
          <a:solidFill>
            <a:srgbClr val="7C3AED"/>
          </a:solidFill>
          <a:ln w="12700">
            <a:solidFill>
              <a:srgbClr val="7C3AED"/>
            </a:solidFill>
            <a:prstDash val="solid"/>
          </a:ln>
        </p:spPr>
      </p:sp>
      <p:sp>
        <p:nvSpPr>
          <p:cNvPr id="54" name="Text 51"/>
          <p:cNvSpPr/>
          <p:nvPr/>
        </p:nvSpPr>
        <p:spPr>
          <a:xfrm>
            <a:off x="8366760" y="4425696"/>
            <a:ext cx="3108960" cy="347472"/>
          </a:xfrm>
          <a:prstGeom prst="rect">
            <a:avLst/>
          </a:prstGeom>
          <a:noFill/>
          <a:ln/>
        </p:spPr>
        <p:txBody>
          <a:bodyPr wrap="square" rtlCol="0" anchor="t"/>
          <a:lstStyle/>
          <a:p>
            <a:pPr indent="0" marL="0">
              <a:buNone/>
            </a:pPr>
            <a:r>
              <a:rPr lang="en-US" sz="1200" b="1" dirty="0">
                <a:solidFill>
                  <a:srgbClr val="7C3AED"/>
                </a:solidFill>
                <a:latin typeface="Arial" pitchFamily="34" charset="0"/>
                <a:ea typeface="Arial" pitchFamily="34" charset="-122"/>
                <a:cs typeface="Arial" pitchFamily="34" charset="-120"/>
              </a:rPr>
              <a:t>Patient records stay private</a:t>
            </a:r>
            <a:endParaRPr lang="en-US" sz="1200" dirty="0"/>
          </a:p>
        </p:txBody>
      </p:sp>
      <p:sp>
        <p:nvSpPr>
          <p:cNvPr id="55" name="Text 52"/>
          <p:cNvSpPr/>
          <p:nvPr/>
        </p:nvSpPr>
        <p:spPr>
          <a:xfrm>
            <a:off x="8366760" y="4745736"/>
            <a:ext cx="3108960" cy="96926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The AI model must run on the plan's own computer, unless the plan says its provider is covered by a business associate agreement. A proposal is nothing until a person confirms it.</a:t>
            </a:r>
            <a:endParaRPr lang="en-US" sz="950" dirty="0"/>
          </a:p>
        </p:txBody>
      </p:sp>
      <p:sp>
        <p:nvSpPr>
          <p:cNvPr id="56" name="Shape 53"/>
          <p:cNvSpPr/>
          <p:nvPr/>
        </p:nvSpPr>
        <p:spPr>
          <a:xfrm>
            <a:off x="7845552" y="4526280"/>
            <a:ext cx="329184" cy="365760"/>
          </a:xfrm>
          <a:prstGeom prst="blockArc">
            <a:avLst>
              <a:gd name="adj1" fmla="val 10800000"/>
              <a:gd name="adj2" fmla="val 0"/>
              <a:gd name="adj3" fmla="val 14000"/>
            </a:avLst>
          </a:prstGeom>
          <a:solidFill>
            <a:srgbClr val="7C3AED"/>
          </a:solidFill>
          <a:ln w="12700">
            <a:solidFill>
              <a:srgbClr val="7C3AED"/>
            </a:solidFill>
            <a:prstDash val="solid"/>
          </a:ln>
        </p:spPr>
      </p:sp>
      <p:sp>
        <p:nvSpPr>
          <p:cNvPr id="57" name="Shape 54"/>
          <p:cNvSpPr/>
          <p:nvPr/>
        </p:nvSpPr>
        <p:spPr>
          <a:xfrm>
            <a:off x="7772400" y="4709160"/>
            <a:ext cx="475488" cy="347472"/>
          </a:xfrm>
          <a:prstGeom prst="roundRect">
            <a:avLst>
              <a:gd name="adj" fmla="val 15789"/>
            </a:avLst>
          </a:prstGeom>
          <a:solidFill>
            <a:srgbClr val="7C3AED"/>
          </a:solidFill>
          <a:ln w="12700">
            <a:solidFill>
              <a:srgbClr val="7C3AED"/>
            </a:solidFill>
            <a:prstDash val="solid"/>
          </a:ln>
        </p:spPr>
      </p:sp>
      <p:sp>
        <p:nvSpPr>
          <p:cNvPr id="58" name="Shape 55"/>
          <p:cNvSpPr/>
          <p:nvPr/>
        </p:nvSpPr>
        <p:spPr>
          <a:xfrm>
            <a:off x="7964424" y="4818888"/>
            <a:ext cx="91440" cy="91440"/>
          </a:xfrm>
          <a:prstGeom prst="ellipse">
            <a:avLst/>
          </a:prstGeom>
          <a:solidFill>
            <a:srgbClr val="FFFFFF"/>
          </a:solidFill>
          <a:ln w="12700">
            <a:solidFill>
              <a:srgbClr val="FFFFFF"/>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TIMEFRAMES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Deadlines, extensions and lateness</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The queue shows how long each waiting case has left. The reports count what was late.</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13 / 18</a:t>
            </a:r>
            <a:endParaRPr lang="en-US" sz="800" dirty="0"/>
          </a:p>
        </p:txBody>
      </p:sp>
      <p:sp>
        <p:nvSpPr>
          <p:cNvPr id="11" name="Shape 8"/>
          <p:cNvSpPr/>
          <p:nvPr/>
        </p:nvSpPr>
        <p:spPr>
          <a:xfrm>
            <a:off x="822960" y="2788920"/>
            <a:ext cx="10515600" cy="0"/>
          </a:xfrm>
          <a:prstGeom prst="line">
            <a:avLst/>
          </a:prstGeom>
          <a:noFill/>
          <a:ln w="25400">
            <a:solidFill>
              <a:srgbClr val="475569"/>
            </a:solidFill>
            <a:prstDash val="solid"/>
          </a:ln>
        </p:spPr>
      </p:sp>
      <p:sp>
        <p:nvSpPr>
          <p:cNvPr id="12" name="Shape 9"/>
          <p:cNvSpPr/>
          <p:nvPr/>
        </p:nvSpPr>
        <p:spPr>
          <a:xfrm>
            <a:off x="822960" y="2679192"/>
            <a:ext cx="0" cy="219456"/>
          </a:xfrm>
          <a:prstGeom prst="line">
            <a:avLst/>
          </a:prstGeom>
          <a:noFill/>
          <a:ln w="12700">
            <a:solidFill>
              <a:srgbClr val="475569"/>
            </a:solidFill>
            <a:prstDash val="solid"/>
          </a:ln>
        </p:spPr>
      </p:sp>
      <p:sp>
        <p:nvSpPr>
          <p:cNvPr id="13" name="Text 10"/>
          <p:cNvSpPr/>
          <p:nvPr/>
        </p:nvSpPr>
        <p:spPr>
          <a:xfrm>
            <a:off x="457200" y="2926080"/>
            <a:ext cx="731520" cy="228600"/>
          </a:xfrm>
          <a:prstGeom prst="rect">
            <a:avLst/>
          </a:prstGeom>
          <a:noFill/>
          <a:ln/>
        </p:spPr>
        <p:txBody>
          <a:bodyPr wrap="square"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day 0</a:t>
            </a:r>
            <a:endParaRPr lang="en-US" sz="850" dirty="0"/>
          </a:p>
        </p:txBody>
      </p:sp>
      <p:sp>
        <p:nvSpPr>
          <p:cNvPr id="14" name="Shape 11"/>
          <p:cNvSpPr/>
          <p:nvPr/>
        </p:nvSpPr>
        <p:spPr>
          <a:xfrm>
            <a:off x="1323703" y="2734056"/>
            <a:ext cx="0" cy="109728"/>
          </a:xfrm>
          <a:prstGeom prst="line">
            <a:avLst/>
          </a:prstGeom>
          <a:noFill/>
          <a:ln w="12700">
            <a:solidFill>
              <a:srgbClr val="475569"/>
            </a:solidFill>
            <a:prstDash val="solid"/>
          </a:ln>
        </p:spPr>
      </p:sp>
      <p:sp>
        <p:nvSpPr>
          <p:cNvPr id="15" name="Shape 12"/>
          <p:cNvSpPr/>
          <p:nvPr/>
        </p:nvSpPr>
        <p:spPr>
          <a:xfrm>
            <a:off x="1824446" y="2734056"/>
            <a:ext cx="0" cy="109728"/>
          </a:xfrm>
          <a:prstGeom prst="line">
            <a:avLst/>
          </a:prstGeom>
          <a:noFill/>
          <a:ln w="12700">
            <a:solidFill>
              <a:srgbClr val="475569"/>
            </a:solidFill>
            <a:prstDash val="solid"/>
          </a:ln>
        </p:spPr>
      </p:sp>
      <p:sp>
        <p:nvSpPr>
          <p:cNvPr id="16" name="Shape 13"/>
          <p:cNvSpPr/>
          <p:nvPr/>
        </p:nvSpPr>
        <p:spPr>
          <a:xfrm>
            <a:off x="2325189" y="2734056"/>
            <a:ext cx="0" cy="109728"/>
          </a:xfrm>
          <a:prstGeom prst="line">
            <a:avLst/>
          </a:prstGeom>
          <a:noFill/>
          <a:ln w="12700">
            <a:solidFill>
              <a:srgbClr val="475569"/>
            </a:solidFill>
            <a:prstDash val="solid"/>
          </a:ln>
        </p:spPr>
      </p:sp>
      <p:sp>
        <p:nvSpPr>
          <p:cNvPr id="17" name="Text 14"/>
          <p:cNvSpPr/>
          <p:nvPr/>
        </p:nvSpPr>
        <p:spPr>
          <a:xfrm>
            <a:off x="1959429" y="2926080"/>
            <a:ext cx="731520" cy="228600"/>
          </a:xfrm>
          <a:prstGeom prst="rect">
            <a:avLst/>
          </a:prstGeom>
          <a:noFill/>
          <a:ln/>
        </p:spPr>
        <p:txBody>
          <a:bodyPr wrap="square"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day 3</a:t>
            </a:r>
            <a:endParaRPr lang="en-US" sz="850" dirty="0"/>
          </a:p>
        </p:txBody>
      </p:sp>
      <p:sp>
        <p:nvSpPr>
          <p:cNvPr id="18" name="Shape 15"/>
          <p:cNvSpPr/>
          <p:nvPr/>
        </p:nvSpPr>
        <p:spPr>
          <a:xfrm>
            <a:off x="2825931" y="2734056"/>
            <a:ext cx="0" cy="109728"/>
          </a:xfrm>
          <a:prstGeom prst="line">
            <a:avLst/>
          </a:prstGeom>
          <a:noFill/>
          <a:ln w="12700">
            <a:solidFill>
              <a:srgbClr val="475569"/>
            </a:solidFill>
            <a:prstDash val="solid"/>
          </a:ln>
        </p:spPr>
      </p:sp>
      <p:sp>
        <p:nvSpPr>
          <p:cNvPr id="19" name="Shape 16"/>
          <p:cNvSpPr/>
          <p:nvPr/>
        </p:nvSpPr>
        <p:spPr>
          <a:xfrm>
            <a:off x="3326674" y="2734056"/>
            <a:ext cx="0" cy="109728"/>
          </a:xfrm>
          <a:prstGeom prst="line">
            <a:avLst/>
          </a:prstGeom>
          <a:noFill/>
          <a:ln w="12700">
            <a:solidFill>
              <a:srgbClr val="475569"/>
            </a:solidFill>
            <a:prstDash val="solid"/>
          </a:ln>
        </p:spPr>
      </p:sp>
      <p:sp>
        <p:nvSpPr>
          <p:cNvPr id="20" name="Shape 17"/>
          <p:cNvSpPr/>
          <p:nvPr/>
        </p:nvSpPr>
        <p:spPr>
          <a:xfrm>
            <a:off x="3827417" y="2734056"/>
            <a:ext cx="0" cy="109728"/>
          </a:xfrm>
          <a:prstGeom prst="line">
            <a:avLst/>
          </a:prstGeom>
          <a:noFill/>
          <a:ln w="12700">
            <a:solidFill>
              <a:srgbClr val="475569"/>
            </a:solidFill>
            <a:prstDash val="solid"/>
          </a:ln>
        </p:spPr>
      </p:sp>
      <p:sp>
        <p:nvSpPr>
          <p:cNvPr id="21" name="Shape 18"/>
          <p:cNvSpPr/>
          <p:nvPr/>
        </p:nvSpPr>
        <p:spPr>
          <a:xfrm>
            <a:off x="4328160" y="2679192"/>
            <a:ext cx="0" cy="219456"/>
          </a:xfrm>
          <a:prstGeom prst="line">
            <a:avLst/>
          </a:prstGeom>
          <a:noFill/>
          <a:ln w="12700">
            <a:solidFill>
              <a:srgbClr val="475569"/>
            </a:solidFill>
            <a:prstDash val="solid"/>
          </a:ln>
        </p:spPr>
      </p:sp>
      <p:sp>
        <p:nvSpPr>
          <p:cNvPr id="22" name="Text 19"/>
          <p:cNvSpPr/>
          <p:nvPr/>
        </p:nvSpPr>
        <p:spPr>
          <a:xfrm>
            <a:off x="3962400" y="2926080"/>
            <a:ext cx="731520" cy="228600"/>
          </a:xfrm>
          <a:prstGeom prst="rect">
            <a:avLst/>
          </a:prstGeom>
          <a:noFill/>
          <a:ln/>
        </p:spPr>
        <p:txBody>
          <a:bodyPr wrap="square"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day 7</a:t>
            </a:r>
            <a:endParaRPr lang="en-US" sz="850" dirty="0"/>
          </a:p>
        </p:txBody>
      </p:sp>
      <p:sp>
        <p:nvSpPr>
          <p:cNvPr id="23" name="Shape 20"/>
          <p:cNvSpPr/>
          <p:nvPr/>
        </p:nvSpPr>
        <p:spPr>
          <a:xfrm>
            <a:off x="4828903" y="2734056"/>
            <a:ext cx="0" cy="109728"/>
          </a:xfrm>
          <a:prstGeom prst="line">
            <a:avLst/>
          </a:prstGeom>
          <a:noFill/>
          <a:ln w="12700">
            <a:solidFill>
              <a:srgbClr val="475569"/>
            </a:solidFill>
            <a:prstDash val="solid"/>
          </a:ln>
        </p:spPr>
      </p:sp>
      <p:sp>
        <p:nvSpPr>
          <p:cNvPr id="24" name="Shape 21"/>
          <p:cNvSpPr/>
          <p:nvPr/>
        </p:nvSpPr>
        <p:spPr>
          <a:xfrm>
            <a:off x="5329646" y="2734056"/>
            <a:ext cx="0" cy="109728"/>
          </a:xfrm>
          <a:prstGeom prst="line">
            <a:avLst/>
          </a:prstGeom>
          <a:noFill/>
          <a:ln w="12700">
            <a:solidFill>
              <a:srgbClr val="475569"/>
            </a:solidFill>
            <a:prstDash val="solid"/>
          </a:ln>
        </p:spPr>
      </p:sp>
      <p:sp>
        <p:nvSpPr>
          <p:cNvPr id="25" name="Shape 22"/>
          <p:cNvSpPr/>
          <p:nvPr/>
        </p:nvSpPr>
        <p:spPr>
          <a:xfrm>
            <a:off x="5830389" y="2734056"/>
            <a:ext cx="0" cy="109728"/>
          </a:xfrm>
          <a:prstGeom prst="line">
            <a:avLst/>
          </a:prstGeom>
          <a:noFill/>
          <a:ln w="12700">
            <a:solidFill>
              <a:srgbClr val="475569"/>
            </a:solidFill>
            <a:prstDash val="solid"/>
          </a:ln>
        </p:spPr>
      </p:sp>
      <p:sp>
        <p:nvSpPr>
          <p:cNvPr id="26" name="Shape 23"/>
          <p:cNvSpPr/>
          <p:nvPr/>
        </p:nvSpPr>
        <p:spPr>
          <a:xfrm>
            <a:off x="6331131" y="2734056"/>
            <a:ext cx="0" cy="109728"/>
          </a:xfrm>
          <a:prstGeom prst="line">
            <a:avLst/>
          </a:prstGeom>
          <a:noFill/>
          <a:ln w="12700">
            <a:solidFill>
              <a:srgbClr val="475569"/>
            </a:solidFill>
            <a:prstDash val="solid"/>
          </a:ln>
        </p:spPr>
      </p:sp>
      <p:sp>
        <p:nvSpPr>
          <p:cNvPr id="27" name="Shape 24"/>
          <p:cNvSpPr/>
          <p:nvPr/>
        </p:nvSpPr>
        <p:spPr>
          <a:xfrm>
            <a:off x="6831874" y="2734056"/>
            <a:ext cx="0" cy="109728"/>
          </a:xfrm>
          <a:prstGeom prst="line">
            <a:avLst/>
          </a:prstGeom>
          <a:noFill/>
          <a:ln w="12700">
            <a:solidFill>
              <a:srgbClr val="475569"/>
            </a:solidFill>
            <a:prstDash val="solid"/>
          </a:ln>
        </p:spPr>
      </p:sp>
      <p:sp>
        <p:nvSpPr>
          <p:cNvPr id="28" name="Shape 25"/>
          <p:cNvSpPr/>
          <p:nvPr/>
        </p:nvSpPr>
        <p:spPr>
          <a:xfrm>
            <a:off x="7332617" y="2734056"/>
            <a:ext cx="0" cy="109728"/>
          </a:xfrm>
          <a:prstGeom prst="line">
            <a:avLst/>
          </a:prstGeom>
          <a:noFill/>
          <a:ln w="12700">
            <a:solidFill>
              <a:srgbClr val="475569"/>
            </a:solidFill>
            <a:prstDash val="solid"/>
          </a:ln>
        </p:spPr>
      </p:sp>
      <p:sp>
        <p:nvSpPr>
          <p:cNvPr id="29" name="Shape 26"/>
          <p:cNvSpPr/>
          <p:nvPr/>
        </p:nvSpPr>
        <p:spPr>
          <a:xfrm>
            <a:off x="7833360" y="2679192"/>
            <a:ext cx="0" cy="219456"/>
          </a:xfrm>
          <a:prstGeom prst="line">
            <a:avLst/>
          </a:prstGeom>
          <a:noFill/>
          <a:ln w="12700">
            <a:solidFill>
              <a:srgbClr val="475569"/>
            </a:solidFill>
            <a:prstDash val="solid"/>
          </a:ln>
        </p:spPr>
      </p:sp>
      <p:sp>
        <p:nvSpPr>
          <p:cNvPr id="30" name="Text 27"/>
          <p:cNvSpPr/>
          <p:nvPr/>
        </p:nvSpPr>
        <p:spPr>
          <a:xfrm>
            <a:off x="7467600" y="2926080"/>
            <a:ext cx="731520" cy="228600"/>
          </a:xfrm>
          <a:prstGeom prst="rect">
            <a:avLst/>
          </a:prstGeom>
          <a:noFill/>
          <a:ln/>
        </p:spPr>
        <p:txBody>
          <a:bodyPr wrap="square"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day 14</a:t>
            </a:r>
            <a:endParaRPr lang="en-US" sz="850" dirty="0"/>
          </a:p>
        </p:txBody>
      </p:sp>
      <p:sp>
        <p:nvSpPr>
          <p:cNvPr id="31" name="Shape 28"/>
          <p:cNvSpPr/>
          <p:nvPr/>
        </p:nvSpPr>
        <p:spPr>
          <a:xfrm>
            <a:off x="8334103" y="2734056"/>
            <a:ext cx="0" cy="109728"/>
          </a:xfrm>
          <a:prstGeom prst="line">
            <a:avLst/>
          </a:prstGeom>
          <a:noFill/>
          <a:ln w="12700">
            <a:solidFill>
              <a:srgbClr val="475569"/>
            </a:solidFill>
            <a:prstDash val="solid"/>
          </a:ln>
        </p:spPr>
      </p:sp>
      <p:sp>
        <p:nvSpPr>
          <p:cNvPr id="32" name="Shape 29"/>
          <p:cNvSpPr/>
          <p:nvPr/>
        </p:nvSpPr>
        <p:spPr>
          <a:xfrm>
            <a:off x="8834846" y="2734056"/>
            <a:ext cx="0" cy="109728"/>
          </a:xfrm>
          <a:prstGeom prst="line">
            <a:avLst/>
          </a:prstGeom>
          <a:noFill/>
          <a:ln w="12700">
            <a:solidFill>
              <a:srgbClr val="475569"/>
            </a:solidFill>
            <a:prstDash val="solid"/>
          </a:ln>
        </p:spPr>
      </p:sp>
      <p:sp>
        <p:nvSpPr>
          <p:cNvPr id="33" name="Shape 30"/>
          <p:cNvSpPr/>
          <p:nvPr/>
        </p:nvSpPr>
        <p:spPr>
          <a:xfrm>
            <a:off x="9335589" y="2734056"/>
            <a:ext cx="0" cy="109728"/>
          </a:xfrm>
          <a:prstGeom prst="line">
            <a:avLst/>
          </a:prstGeom>
          <a:noFill/>
          <a:ln w="12700">
            <a:solidFill>
              <a:srgbClr val="475569"/>
            </a:solidFill>
            <a:prstDash val="solid"/>
          </a:ln>
        </p:spPr>
      </p:sp>
      <p:sp>
        <p:nvSpPr>
          <p:cNvPr id="34" name="Shape 31"/>
          <p:cNvSpPr/>
          <p:nvPr/>
        </p:nvSpPr>
        <p:spPr>
          <a:xfrm>
            <a:off x="9836331" y="2734056"/>
            <a:ext cx="0" cy="109728"/>
          </a:xfrm>
          <a:prstGeom prst="line">
            <a:avLst/>
          </a:prstGeom>
          <a:noFill/>
          <a:ln w="12700">
            <a:solidFill>
              <a:srgbClr val="475569"/>
            </a:solidFill>
            <a:prstDash val="solid"/>
          </a:ln>
        </p:spPr>
      </p:sp>
      <p:sp>
        <p:nvSpPr>
          <p:cNvPr id="35" name="Shape 32"/>
          <p:cNvSpPr/>
          <p:nvPr/>
        </p:nvSpPr>
        <p:spPr>
          <a:xfrm>
            <a:off x="10337074" y="2734056"/>
            <a:ext cx="0" cy="109728"/>
          </a:xfrm>
          <a:prstGeom prst="line">
            <a:avLst/>
          </a:prstGeom>
          <a:noFill/>
          <a:ln w="12700">
            <a:solidFill>
              <a:srgbClr val="475569"/>
            </a:solidFill>
            <a:prstDash val="solid"/>
          </a:ln>
        </p:spPr>
      </p:sp>
      <p:sp>
        <p:nvSpPr>
          <p:cNvPr id="36" name="Shape 33"/>
          <p:cNvSpPr/>
          <p:nvPr/>
        </p:nvSpPr>
        <p:spPr>
          <a:xfrm>
            <a:off x="10837817" y="2734056"/>
            <a:ext cx="0" cy="109728"/>
          </a:xfrm>
          <a:prstGeom prst="line">
            <a:avLst/>
          </a:prstGeom>
          <a:noFill/>
          <a:ln w="12700">
            <a:solidFill>
              <a:srgbClr val="475569"/>
            </a:solidFill>
            <a:prstDash val="solid"/>
          </a:ln>
        </p:spPr>
      </p:sp>
      <p:sp>
        <p:nvSpPr>
          <p:cNvPr id="37" name="Shape 34"/>
          <p:cNvSpPr/>
          <p:nvPr/>
        </p:nvSpPr>
        <p:spPr>
          <a:xfrm>
            <a:off x="11338560" y="2679192"/>
            <a:ext cx="0" cy="219456"/>
          </a:xfrm>
          <a:prstGeom prst="line">
            <a:avLst/>
          </a:prstGeom>
          <a:noFill/>
          <a:ln w="12700">
            <a:solidFill>
              <a:srgbClr val="475569"/>
            </a:solidFill>
            <a:prstDash val="solid"/>
          </a:ln>
        </p:spPr>
      </p:sp>
      <p:sp>
        <p:nvSpPr>
          <p:cNvPr id="38" name="Text 35"/>
          <p:cNvSpPr/>
          <p:nvPr/>
        </p:nvSpPr>
        <p:spPr>
          <a:xfrm>
            <a:off x="10972800" y="2926080"/>
            <a:ext cx="731520" cy="228600"/>
          </a:xfrm>
          <a:prstGeom prst="rect">
            <a:avLst/>
          </a:prstGeom>
          <a:noFill/>
          <a:ln/>
        </p:spPr>
        <p:txBody>
          <a:bodyPr wrap="square" rtlCol="0" anchor="ctr"/>
          <a:lstStyle/>
          <a:p>
            <a:pPr algn="ctr" indent="0" marL="0">
              <a:buNone/>
            </a:pPr>
            <a:r>
              <a:rPr lang="en-US" sz="850" dirty="0">
                <a:solidFill>
                  <a:srgbClr val="475569"/>
                </a:solidFill>
                <a:latin typeface="Arial" pitchFamily="34" charset="0"/>
                <a:ea typeface="Arial" pitchFamily="34" charset="-122"/>
                <a:cs typeface="Arial" pitchFamily="34" charset="-120"/>
              </a:rPr>
              <a:t>day 21</a:t>
            </a:r>
            <a:endParaRPr lang="en-US" sz="850" dirty="0"/>
          </a:p>
        </p:txBody>
      </p:sp>
      <p:sp>
        <p:nvSpPr>
          <p:cNvPr id="39" name="Shape 36"/>
          <p:cNvSpPr/>
          <p:nvPr/>
        </p:nvSpPr>
        <p:spPr>
          <a:xfrm>
            <a:off x="822960" y="1463040"/>
            <a:ext cx="1502229" cy="329184"/>
          </a:xfrm>
          <a:prstGeom prst="roundRect">
            <a:avLst>
              <a:gd name="adj" fmla="val 22222"/>
            </a:avLst>
          </a:prstGeom>
          <a:solidFill>
            <a:srgbClr val="DC2626"/>
          </a:solidFill>
          <a:ln w="12700">
            <a:solidFill>
              <a:srgbClr val="DC2626"/>
            </a:solidFill>
            <a:prstDash val="solid"/>
          </a:ln>
        </p:spPr>
      </p:sp>
      <p:sp>
        <p:nvSpPr>
          <p:cNvPr id="40" name="Text 37"/>
          <p:cNvSpPr/>
          <p:nvPr/>
        </p:nvSpPr>
        <p:spPr>
          <a:xfrm>
            <a:off x="896112" y="1463040"/>
            <a:ext cx="2743200" cy="32918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Urgent: 72 hours</a:t>
            </a:r>
            <a:endParaRPr lang="en-US" sz="900" dirty="0"/>
          </a:p>
        </p:txBody>
      </p:sp>
      <p:sp>
        <p:nvSpPr>
          <p:cNvPr id="41" name="Shape 38"/>
          <p:cNvSpPr/>
          <p:nvPr/>
        </p:nvSpPr>
        <p:spPr>
          <a:xfrm>
            <a:off x="822960" y="1920240"/>
            <a:ext cx="3505200" cy="329184"/>
          </a:xfrm>
          <a:prstGeom prst="roundRect">
            <a:avLst>
              <a:gd name="adj" fmla="val 22222"/>
            </a:avLst>
          </a:prstGeom>
          <a:solidFill>
            <a:srgbClr val="2563EB"/>
          </a:solidFill>
          <a:ln w="12700">
            <a:solidFill>
              <a:srgbClr val="2563EB"/>
            </a:solidFill>
            <a:prstDash val="solid"/>
          </a:ln>
        </p:spPr>
      </p:sp>
      <p:sp>
        <p:nvSpPr>
          <p:cNvPr id="42" name="Text 39"/>
          <p:cNvSpPr/>
          <p:nvPr/>
        </p:nvSpPr>
        <p:spPr>
          <a:xfrm>
            <a:off x="896112" y="1920240"/>
            <a:ext cx="3505200" cy="32918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Standard: 7 days</a:t>
            </a:r>
            <a:endParaRPr lang="en-US" sz="900" dirty="0"/>
          </a:p>
        </p:txBody>
      </p:sp>
      <p:sp>
        <p:nvSpPr>
          <p:cNvPr id="43" name="Shape 40"/>
          <p:cNvSpPr/>
          <p:nvPr/>
        </p:nvSpPr>
        <p:spPr>
          <a:xfrm>
            <a:off x="4328160" y="1920240"/>
            <a:ext cx="7010400" cy="329184"/>
          </a:xfrm>
          <a:prstGeom prst="roundRect">
            <a:avLst>
              <a:gd name="adj" fmla="val 22222"/>
            </a:avLst>
          </a:prstGeom>
          <a:solidFill>
            <a:srgbClr val="D97706"/>
          </a:solidFill>
          <a:ln w="12700">
            <a:solidFill>
              <a:srgbClr val="D97706"/>
            </a:solidFill>
            <a:prstDash val="solid"/>
          </a:ln>
        </p:spPr>
      </p:sp>
      <p:sp>
        <p:nvSpPr>
          <p:cNvPr id="44" name="Text 41"/>
          <p:cNvSpPr/>
          <p:nvPr/>
        </p:nvSpPr>
        <p:spPr>
          <a:xfrm>
            <a:off x="4401312" y="1920240"/>
            <a:ext cx="7010400" cy="329184"/>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One extension: up to 14 more days</a:t>
            </a:r>
            <a:endParaRPr lang="en-US" sz="900" dirty="0"/>
          </a:p>
        </p:txBody>
      </p:sp>
      <p:sp>
        <p:nvSpPr>
          <p:cNvPr id="45" name="Text 42"/>
          <p:cNvSpPr/>
          <p:nvPr/>
        </p:nvSpPr>
        <p:spPr>
          <a:xfrm>
            <a:off x="822960" y="3200400"/>
            <a:ext cx="7315200" cy="274320"/>
          </a:xfrm>
          <a:prstGeom prst="rect">
            <a:avLst/>
          </a:prstGeom>
          <a:noFill/>
          <a:ln/>
        </p:spPr>
        <p:txBody>
          <a:bodyPr wrap="square" rtlCol="0" anchor="ctr"/>
          <a:lstStyle/>
          <a:p>
            <a:pPr indent="0" marL="0">
              <a:buNone/>
            </a:pPr>
            <a:r>
              <a:rPr lang="en-US" sz="950" b="1" dirty="0">
                <a:solidFill>
                  <a:srgbClr val="C026D3"/>
                </a:solidFill>
                <a:latin typeface="Arial" pitchFamily="34" charset="0"/>
                <a:ea typeface="Arial" pitchFamily="34" charset="-122"/>
                <a:cs typeface="Arial" pitchFamily="34" charset="-120"/>
              </a:rPr>
              <a:t>Drugs: 72 hours, or 24 hours when urgent, and never extended.</a:t>
            </a:r>
            <a:endParaRPr lang="en-US" sz="950" dirty="0"/>
          </a:p>
        </p:txBody>
      </p:sp>
      <p:sp>
        <p:nvSpPr>
          <p:cNvPr id="46" name="Shape 43"/>
          <p:cNvSpPr/>
          <p:nvPr/>
        </p:nvSpPr>
        <p:spPr>
          <a:xfrm>
            <a:off x="548640" y="3657600"/>
            <a:ext cx="2633472" cy="2103120"/>
          </a:xfrm>
          <a:prstGeom prst="roundRect">
            <a:avLst>
              <a:gd name="adj" fmla="val 5217"/>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7" name="Shape 44"/>
          <p:cNvSpPr/>
          <p:nvPr/>
        </p:nvSpPr>
        <p:spPr>
          <a:xfrm>
            <a:off x="658368" y="3822192"/>
            <a:ext cx="54864" cy="1773936"/>
          </a:xfrm>
          <a:prstGeom prst="rect">
            <a:avLst/>
          </a:prstGeom>
          <a:solidFill>
            <a:srgbClr val="D97706"/>
          </a:solidFill>
          <a:ln w="12700">
            <a:solidFill>
              <a:srgbClr val="D97706"/>
            </a:solidFill>
            <a:prstDash val="solid"/>
          </a:ln>
        </p:spPr>
      </p:sp>
      <p:sp>
        <p:nvSpPr>
          <p:cNvPr id="48" name="Text 45"/>
          <p:cNvSpPr/>
          <p:nvPr/>
        </p:nvSpPr>
        <p:spPr>
          <a:xfrm>
            <a:off x="822960" y="3785616"/>
            <a:ext cx="2194560" cy="347472"/>
          </a:xfrm>
          <a:prstGeom prst="rect">
            <a:avLst/>
          </a:prstGeom>
          <a:noFill/>
          <a:ln/>
        </p:spPr>
        <p:txBody>
          <a:bodyPr wrap="square" rtlCol="0" anchor="t"/>
          <a:lstStyle/>
          <a:p>
            <a:pPr indent="0" marL="0">
              <a:buNone/>
            </a:pPr>
            <a:r>
              <a:rPr lang="en-US" sz="1150" b="1" dirty="0">
                <a:solidFill>
                  <a:srgbClr val="D97706"/>
                </a:solidFill>
                <a:latin typeface="Arial" pitchFamily="34" charset="0"/>
                <a:ea typeface="Arial" pitchFamily="34" charset="-122"/>
                <a:cs typeface="Arial" pitchFamily="34" charset="-120"/>
              </a:rPr>
              <a:t>When a reviewer may extend</a:t>
            </a:r>
            <a:endParaRPr lang="en-US" sz="1150" dirty="0"/>
          </a:p>
        </p:txBody>
      </p:sp>
      <p:sp>
        <p:nvSpPr>
          <p:cNvPr id="49" name="Text 46"/>
          <p:cNvSpPr/>
          <p:nvPr/>
        </p:nvSpPr>
        <p:spPr>
          <a:xfrm>
            <a:off x="822960" y="4197096"/>
            <a:ext cx="2194560" cy="1472184"/>
          </a:xfrm>
          <a:prstGeom prst="rect">
            <a:avLst/>
          </a:prstGeom>
          <a:noFill/>
          <a:ln/>
        </p:spPr>
        <p:txBody>
          <a:bodyPr wrap="square" rtlCol="0" anchor="t"/>
          <a:lstStyle/>
          <a:p>
            <a:pPr indent="0" marL="0">
              <a:spcAft>
                <a:spcPts val="300"/>
              </a:spcAft>
              <a:buNone/>
            </a:pPr>
            <a:r>
              <a:rPr lang="en-US" sz="1000" dirty="0">
                <a:solidFill>
                  <a:srgbClr val="475569"/>
                </a:solidFill>
                <a:latin typeface="Arial" pitchFamily="34" charset="0"/>
                <a:ea typeface="Arial" pitchFamily="34" charset="-122"/>
                <a:cs typeface="Arial" pitchFamily="34" charset="-120"/>
              </a:rPr>
              <a:t>Once per case, before its deadline, for one of the three reasons the federal rule allows:</a:t>
            </a:r>
            <a:endParaRPr lang="en-US" sz="1000" dirty="0"/>
          </a:p>
          <a:p>
            <a:pPr indent="0" marL="0">
              <a:spcAft>
                <a:spcPts val="300"/>
              </a:spcAft>
              <a:buNone/>
            </a:pPr>
            <a:r>
              <a:rPr lang="en-US" sz="1000" dirty="0">
                <a:solidFill>
                  <a:srgbClr val="475569"/>
                </a:solidFill>
                <a:latin typeface="Arial" pitchFamily="34" charset="0"/>
                <a:ea typeface="Arial" pitchFamily="34" charset="-122"/>
                <a:cs typeface="Arial" pitchFamily="34" charset="-120"/>
              </a:rPr>
              <a:t>• the patient asked for more time;</a:t>
            </a:r>
            <a:endParaRPr lang="en-US" sz="1000" dirty="0"/>
          </a:p>
          <a:p>
            <a:pPr indent="0" marL="0">
              <a:spcAft>
                <a:spcPts val="300"/>
              </a:spcAft>
              <a:buNone/>
            </a:pPr>
            <a:r>
              <a:rPr lang="en-US" sz="1000" dirty="0">
                <a:solidFill>
                  <a:srgbClr val="475569"/>
                </a:solidFill>
                <a:latin typeface="Arial" pitchFamily="34" charset="0"/>
                <a:ea typeface="Arial" pitchFamily="34" charset="-122"/>
                <a:cs typeface="Arial" pitchFamily="34" charset="-120"/>
              </a:rPr>
              <a:t>• more medical evidence is needed that could change a denial;</a:t>
            </a:r>
            <a:endParaRPr lang="en-US" sz="1000" dirty="0"/>
          </a:p>
          <a:p>
            <a:pPr indent="0" marL="0">
              <a:spcAft>
                <a:spcPts val="300"/>
              </a:spcAft>
              <a:buNone/>
            </a:pPr>
            <a:r>
              <a:rPr lang="en-US" sz="1000" dirty="0">
                <a:solidFill>
                  <a:srgbClr val="475569"/>
                </a:solidFill>
                <a:latin typeface="Arial" pitchFamily="34" charset="0"/>
                <a:ea typeface="Arial" pitchFamily="34" charset="-122"/>
                <a:cs typeface="Arial" pitchFamily="34" charset="-120"/>
              </a:rPr>
              <a:t>• extraordinary circumstances.</a:t>
            </a:r>
            <a:endParaRPr lang="en-US" sz="1000" dirty="0"/>
          </a:p>
        </p:txBody>
      </p:sp>
      <p:sp>
        <p:nvSpPr>
          <p:cNvPr id="50" name="Shape 47"/>
          <p:cNvSpPr/>
          <p:nvPr/>
        </p:nvSpPr>
        <p:spPr>
          <a:xfrm>
            <a:off x="3364992" y="3657600"/>
            <a:ext cx="2633472" cy="2103120"/>
          </a:xfrm>
          <a:prstGeom prst="roundRect">
            <a:avLst>
              <a:gd name="adj" fmla="val 5217"/>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51" name="Shape 48"/>
          <p:cNvSpPr/>
          <p:nvPr/>
        </p:nvSpPr>
        <p:spPr>
          <a:xfrm>
            <a:off x="3474720" y="3822192"/>
            <a:ext cx="54864" cy="1773936"/>
          </a:xfrm>
          <a:prstGeom prst="rect">
            <a:avLst/>
          </a:prstGeom>
          <a:solidFill>
            <a:srgbClr val="2563EB"/>
          </a:solidFill>
          <a:ln w="12700">
            <a:solidFill>
              <a:srgbClr val="2563EB"/>
            </a:solidFill>
            <a:prstDash val="solid"/>
          </a:ln>
        </p:spPr>
      </p:sp>
      <p:sp>
        <p:nvSpPr>
          <p:cNvPr id="52" name="Text 49"/>
          <p:cNvSpPr/>
          <p:nvPr/>
        </p:nvSpPr>
        <p:spPr>
          <a:xfrm>
            <a:off x="3639312" y="3785616"/>
            <a:ext cx="2194560" cy="347472"/>
          </a:xfrm>
          <a:prstGeom prst="rect">
            <a:avLst/>
          </a:prstGeom>
          <a:noFill/>
          <a:ln/>
        </p:spPr>
        <p:txBody>
          <a:bodyPr wrap="square" rtlCol="0" anchor="t"/>
          <a:lstStyle/>
          <a:p>
            <a:pPr indent="0" marL="0">
              <a:buNone/>
            </a:pPr>
            <a:r>
              <a:rPr lang="en-US" sz="1150" b="1" dirty="0">
                <a:solidFill>
                  <a:srgbClr val="2563EB"/>
                </a:solidFill>
                <a:latin typeface="Arial" pitchFamily="34" charset="0"/>
                <a:ea typeface="Arial" pitchFamily="34" charset="-122"/>
                <a:cs typeface="Arial" pitchFamily="34" charset="-120"/>
              </a:rPr>
              <a:t>What is recorded</a:t>
            </a:r>
            <a:endParaRPr lang="en-US" sz="1150" dirty="0"/>
          </a:p>
        </p:txBody>
      </p:sp>
      <p:sp>
        <p:nvSpPr>
          <p:cNvPr id="53" name="Text 50"/>
          <p:cNvSpPr/>
          <p:nvPr/>
        </p:nvSpPr>
        <p:spPr>
          <a:xfrm>
            <a:off x="3639312" y="4197096"/>
            <a:ext cx="2194560" cy="1472184"/>
          </a:xfrm>
          <a:prstGeom prst="rect">
            <a:avLst/>
          </a:prstGeom>
          <a:noFill/>
          <a:ln/>
        </p:spPr>
        <p:txBody>
          <a:bodyPr wrap="square" rtlCol="0" anchor="t"/>
          <a:lstStyle/>
          <a:p>
            <a:pPr indent="0" marL="0">
              <a:spcAft>
                <a:spcPts val="300"/>
              </a:spcAft>
              <a:buNone/>
            </a:pPr>
            <a:r>
              <a:rPr lang="en-US" sz="1000" dirty="0">
                <a:solidFill>
                  <a:srgbClr val="475569"/>
                </a:solidFill>
                <a:latin typeface="Arial" pitchFamily="34" charset="0"/>
                <a:ea typeface="Arial" pitchFamily="34" charset="-122"/>
                <a:cs typeface="Arial" pitchFamily="34" charset="-120"/>
              </a:rPr>
              <a:t>Who extended it, by how many days, the reason, and what the patient is told the delay is for. All in the audit log.</a:t>
            </a:r>
            <a:endParaRPr lang="en-US" sz="1000" dirty="0"/>
          </a:p>
        </p:txBody>
      </p:sp>
      <p:sp>
        <p:nvSpPr>
          <p:cNvPr id="54" name="Shape 51"/>
          <p:cNvSpPr/>
          <p:nvPr/>
        </p:nvSpPr>
        <p:spPr>
          <a:xfrm>
            <a:off x="6181344" y="3657600"/>
            <a:ext cx="2633472" cy="2103120"/>
          </a:xfrm>
          <a:prstGeom prst="roundRect">
            <a:avLst>
              <a:gd name="adj" fmla="val 5217"/>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55" name="Shape 52"/>
          <p:cNvSpPr/>
          <p:nvPr/>
        </p:nvSpPr>
        <p:spPr>
          <a:xfrm>
            <a:off x="6291072" y="3822192"/>
            <a:ext cx="54864" cy="1773936"/>
          </a:xfrm>
          <a:prstGeom prst="rect">
            <a:avLst/>
          </a:prstGeom>
          <a:solidFill>
            <a:srgbClr val="059669"/>
          </a:solidFill>
          <a:ln w="12700">
            <a:solidFill>
              <a:srgbClr val="059669"/>
            </a:solidFill>
            <a:prstDash val="solid"/>
          </a:ln>
        </p:spPr>
      </p:sp>
      <p:sp>
        <p:nvSpPr>
          <p:cNvPr id="56" name="Text 53"/>
          <p:cNvSpPr/>
          <p:nvPr/>
        </p:nvSpPr>
        <p:spPr>
          <a:xfrm>
            <a:off x="6455664" y="3785616"/>
            <a:ext cx="2194560" cy="347472"/>
          </a:xfrm>
          <a:prstGeom prst="rect">
            <a:avLst/>
          </a:prstGeom>
          <a:noFill/>
          <a:ln/>
        </p:spPr>
        <p:txBody>
          <a:bodyPr wrap="square" rtlCol="0" anchor="t"/>
          <a:lstStyle/>
          <a:p>
            <a:pPr indent="0" marL="0">
              <a:buNone/>
            </a:pPr>
            <a:r>
              <a:rPr lang="en-US" sz="1150" b="1" dirty="0">
                <a:solidFill>
                  <a:srgbClr val="059669"/>
                </a:solidFill>
                <a:latin typeface="Arial" pitchFamily="34" charset="0"/>
                <a:ea typeface="Arial" pitchFamily="34" charset="-122"/>
                <a:cs typeface="Arial" pitchFamily="34" charset="-120"/>
              </a:rPr>
              <a:t>What the queue shows</a:t>
            </a:r>
            <a:endParaRPr lang="en-US" sz="1150" dirty="0"/>
          </a:p>
        </p:txBody>
      </p:sp>
      <p:sp>
        <p:nvSpPr>
          <p:cNvPr id="57" name="Text 54"/>
          <p:cNvSpPr/>
          <p:nvPr/>
        </p:nvSpPr>
        <p:spPr>
          <a:xfrm>
            <a:off x="6455664" y="4197096"/>
            <a:ext cx="2194560" cy="1472184"/>
          </a:xfrm>
          <a:prstGeom prst="rect">
            <a:avLst/>
          </a:prstGeom>
          <a:noFill/>
          <a:ln/>
        </p:spPr>
        <p:txBody>
          <a:bodyPr wrap="square" rtlCol="0" anchor="t"/>
          <a:lstStyle/>
          <a:p>
            <a:pPr indent="0" marL="0">
              <a:spcAft>
                <a:spcPts val="300"/>
              </a:spcAft>
              <a:buNone/>
            </a:pPr>
            <a:r>
              <a:rPr lang="en-US" sz="1000" dirty="0">
                <a:solidFill>
                  <a:srgbClr val="475569"/>
                </a:solidFill>
                <a:latin typeface="Arial" pitchFamily="34" charset="0"/>
                <a:ea typeface="Arial" pitchFamily="34" charset="-122"/>
                <a:cs typeface="Arial" pitchFamily="34" charset="-120"/>
              </a:rPr>
              <a:t>Each waiting case's time left: amber within a day, red when overdue, and a mark on extended cases.</a:t>
            </a:r>
            <a:endParaRPr lang="en-US" sz="1000" dirty="0"/>
          </a:p>
        </p:txBody>
      </p:sp>
      <p:sp>
        <p:nvSpPr>
          <p:cNvPr id="58" name="Shape 55"/>
          <p:cNvSpPr/>
          <p:nvPr/>
        </p:nvSpPr>
        <p:spPr>
          <a:xfrm>
            <a:off x="8997696" y="3657600"/>
            <a:ext cx="2633472" cy="2103120"/>
          </a:xfrm>
          <a:prstGeom prst="roundRect">
            <a:avLst>
              <a:gd name="adj" fmla="val 5217"/>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59" name="Shape 56"/>
          <p:cNvSpPr/>
          <p:nvPr/>
        </p:nvSpPr>
        <p:spPr>
          <a:xfrm>
            <a:off x="9107424" y="3822192"/>
            <a:ext cx="54864" cy="1773936"/>
          </a:xfrm>
          <a:prstGeom prst="rect">
            <a:avLst/>
          </a:prstGeom>
          <a:solidFill>
            <a:srgbClr val="7C3AED"/>
          </a:solidFill>
          <a:ln w="12700">
            <a:solidFill>
              <a:srgbClr val="7C3AED"/>
            </a:solidFill>
            <a:prstDash val="solid"/>
          </a:ln>
        </p:spPr>
      </p:sp>
      <p:sp>
        <p:nvSpPr>
          <p:cNvPr id="60" name="Text 57"/>
          <p:cNvSpPr/>
          <p:nvPr/>
        </p:nvSpPr>
        <p:spPr>
          <a:xfrm>
            <a:off x="9272016" y="3785616"/>
            <a:ext cx="2194560" cy="347472"/>
          </a:xfrm>
          <a:prstGeom prst="rect">
            <a:avLst/>
          </a:prstGeom>
          <a:noFill/>
          <a:ln/>
        </p:spPr>
        <p:txBody>
          <a:bodyPr wrap="square" rtlCol="0" anchor="t"/>
          <a:lstStyle/>
          <a:p>
            <a:pPr indent="0" marL="0">
              <a:buNone/>
            </a:pPr>
            <a:r>
              <a:rPr lang="en-US" sz="1150" b="1" dirty="0">
                <a:solidFill>
                  <a:srgbClr val="7C3AED"/>
                </a:solidFill>
                <a:latin typeface="Arial" pitchFamily="34" charset="0"/>
                <a:ea typeface="Arial" pitchFamily="34" charset="-122"/>
                <a:cs typeface="Arial" pitchFamily="34" charset="-120"/>
              </a:rPr>
              <a:t>What the reports count</a:t>
            </a:r>
            <a:endParaRPr lang="en-US" sz="1150" dirty="0"/>
          </a:p>
        </p:txBody>
      </p:sp>
      <p:sp>
        <p:nvSpPr>
          <p:cNvPr id="61" name="Text 58"/>
          <p:cNvSpPr/>
          <p:nvPr/>
        </p:nvSpPr>
        <p:spPr>
          <a:xfrm>
            <a:off x="9272016" y="4197096"/>
            <a:ext cx="2194560" cy="1472184"/>
          </a:xfrm>
          <a:prstGeom prst="rect">
            <a:avLst/>
          </a:prstGeom>
          <a:noFill/>
          <a:ln/>
        </p:spPr>
        <p:txBody>
          <a:bodyPr wrap="square" rtlCol="0" anchor="t"/>
          <a:lstStyle/>
          <a:p>
            <a:pPr indent="0" marL="0">
              <a:spcAft>
                <a:spcPts val="300"/>
              </a:spcAft>
              <a:buNone/>
            </a:pPr>
            <a:r>
              <a:rPr lang="en-US" sz="1000" dirty="0">
                <a:solidFill>
                  <a:srgbClr val="475569"/>
                </a:solidFill>
                <a:latin typeface="Arial" pitchFamily="34" charset="0"/>
                <a:ea typeface="Arial" pitchFamily="34" charset="-122"/>
                <a:cs typeface="Arial" pitchFamily="34" charset="-120"/>
              </a:rPr>
              <a:t>Extensions, approvals after an extension, and decisions made late or still waiting past their deadline, as the CMS rule asks plans to publish.</a:t>
            </a:r>
            <a:endParaRPr lang="en-US" sz="1000" dirty="0"/>
          </a:p>
        </p:txBody>
      </p:sp>
      <p:sp>
        <p:nvSpPr>
          <p:cNvPr id="62" name="Text 59"/>
          <p:cNvSpPr/>
          <p:nvPr/>
        </p:nvSpPr>
        <p:spPr>
          <a:xfrm>
            <a:off x="548640" y="5897880"/>
            <a:ext cx="11064240" cy="411480"/>
          </a:xfrm>
          <a:prstGeom prst="rect">
            <a:avLst/>
          </a:prstGeom>
          <a:noFill/>
          <a:ln/>
        </p:spPr>
        <p:txBody>
          <a:bodyPr wrap="square" rtlCol="0" anchor="ctr"/>
          <a:lstStyle/>
          <a:p>
            <a:pPr indent="0" marL="0">
              <a:buNone/>
            </a:pPr>
            <a:r>
              <a:rPr lang="en-US" sz="950" i="1" dirty="0">
                <a:solidFill>
                  <a:srgbClr val="475569"/>
                </a:solidFill>
                <a:latin typeface="Arial" pitchFamily="34" charset="0"/>
                <a:ea typeface="Arial" pitchFamily="34" charset="-122"/>
                <a:cs typeface="Arial" pitchFamily="34" charset="-120"/>
              </a:rPr>
              <a:t>Telling the patient by letter is the plan's own process; Vaglio records the reason so the letter can say 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REPORTS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Gold cards and public numbers, straight from the record</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Because every decision is kept, the numbers plans must publish come from the decisions themselves.</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14 / 18</a:t>
            </a:r>
            <a:endParaRPr lang="en-US" sz="800" dirty="0"/>
          </a:p>
        </p:txBody>
      </p:sp>
      <p:graphicFrame>
        <p:nvGraphicFramePr>
          <p:cNvPr id="11" name="Chart 0" descr=""/>
          <p:cNvGraphicFramePr/>
          <p:nvPr/>
        </p:nvGraphicFramePr>
        <p:xfrm>
          <a:off x="548640" y="1600200"/>
          <a:ext cx="5669280" cy="3291840"/>
        </p:xfrm>
        <a:graphic xmlns:a="http://schemas.openxmlformats.org/drawingml/2006/main">
          <a:graphicData uri="http://schemas.openxmlformats.org/drawingml/2006/chart">
            <c:chart xmlns:c="http://schemas.openxmlformats.org/drawingml/2006/chart" r:id="rId3"/>
          </a:graphicData>
        </a:graphic>
      </p:graphicFrame>
      <p:sp>
        <p:nvSpPr>
          <p:cNvPr id="12" name="Shape 8"/>
          <p:cNvSpPr/>
          <p:nvPr/>
        </p:nvSpPr>
        <p:spPr>
          <a:xfrm>
            <a:off x="6446520" y="1600200"/>
            <a:ext cx="5193792" cy="1783080"/>
          </a:xfrm>
          <a:prstGeom prst="roundRect">
            <a:avLst>
              <a:gd name="adj" fmla="val 6154"/>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3" name="Shape 9"/>
          <p:cNvSpPr/>
          <p:nvPr/>
        </p:nvSpPr>
        <p:spPr>
          <a:xfrm>
            <a:off x="6556248" y="1764792"/>
            <a:ext cx="54864" cy="1453896"/>
          </a:xfrm>
          <a:prstGeom prst="rect">
            <a:avLst/>
          </a:prstGeom>
          <a:solidFill>
            <a:srgbClr val="D97706"/>
          </a:solidFill>
          <a:ln w="12700">
            <a:solidFill>
              <a:srgbClr val="D97706"/>
            </a:solidFill>
            <a:prstDash val="solid"/>
          </a:ln>
        </p:spPr>
      </p:sp>
      <p:sp>
        <p:nvSpPr>
          <p:cNvPr id="14" name="Text 10"/>
          <p:cNvSpPr/>
          <p:nvPr/>
        </p:nvSpPr>
        <p:spPr>
          <a:xfrm>
            <a:off x="6720840" y="1728216"/>
            <a:ext cx="4754880" cy="347472"/>
          </a:xfrm>
          <a:prstGeom prst="rect">
            <a:avLst/>
          </a:prstGeom>
          <a:noFill/>
          <a:ln/>
        </p:spPr>
        <p:txBody>
          <a:bodyPr wrap="square" rtlCol="0" anchor="t"/>
          <a:lstStyle/>
          <a:p>
            <a:pPr indent="0" marL="0">
              <a:buNone/>
            </a:pPr>
            <a:r>
              <a:rPr lang="en-US" sz="1200" b="1" dirty="0">
                <a:solidFill>
                  <a:srgbClr val="D97706"/>
                </a:solidFill>
                <a:latin typeface="Arial" pitchFamily="34" charset="0"/>
                <a:ea typeface="Arial" pitchFamily="34" charset="-122"/>
                <a:cs typeface="Arial" pitchFamily="34" charset="-120"/>
              </a:rPr>
              <a:t>Gold cards</a:t>
            </a:r>
            <a:endParaRPr lang="en-US" sz="1200" dirty="0"/>
          </a:p>
        </p:txBody>
      </p:sp>
      <p:sp>
        <p:nvSpPr>
          <p:cNvPr id="15" name="Text 11"/>
          <p:cNvSpPr/>
          <p:nvPr/>
        </p:nvSpPr>
        <p:spPr>
          <a:xfrm>
            <a:off x="6720840" y="2048256"/>
            <a:ext cx="4754880" cy="124358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Some states (Texas, for example) exempt doctors whose recent requests were nearly all approved. Vaglio works out each doctor's standing from the record (approval rate, look-back window, minimum number of decisions) and approves exempt doctors without review, with an answer naming the exemption.</a:t>
            </a:r>
            <a:endParaRPr lang="en-US" sz="950" dirty="0"/>
          </a:p>
        </p:txBody>
      </p:sp>
      <p:sp>
        <p:nvSpPr>
          <p:cNvPr id="16" name="Shape 12"/>
          <p:cNvSpPr/>
          <p:nvPr/>
        </p:nvSpPr>
        <p:spPr>
          <a:xfrm>
            <a:off x="11064240" y="1691640"/>
            <a:ext cx="411480" cy="411480"/>
          </a:xfrm>
          <a:prstGeom prst="star5">
            <a:avLst/>
          </a:prstGeom>
          <a:solidFill>
            <a:srgbClr val="FBBF24"/>
          </a:solidFill>
          <a:ln w="12700">
            <a:solidFill>
              <a:srgbClr val="D97706"/>
            </a:solidFill>
            <a:prstDash val="solid"/>
          </a:ln>
        </p:spPr>
      </p:sp>
      <p:sp>
        <p:nvSpPr>
          <p:cNvPr id="17" name="Shape 13"/>
          <p:cNvSpPr/>
          <p:nvPr/>
        </p:nvSpPr>
        <p:spPr>
          <a:xfrm>
            <a:off x="6446520" y="3520440"/>
            <a:ext cx="5193792" cy="1371600"/>
          </a:xfrm>
          <a:prstGeom prst="roundRect">
            <a:avLst>
              <a:gd name="adj" fmla="val 8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8" name="Shape 14"/>
          <p:cNvSpPr/>
          <p:nvPr/>
        </p:nvSpPr>
        <p:spPr>
          <a:xfrm>
            <a:off x="6556248" y="3685032"/>
            <a:ext cx="54864" cy="1042416"/>
          </a:xfrm>
          <a:prstGeom prst="rect">
            <a:avLst/>
          </a:prstGeom>
          <a:solidFill>
            <a:srgbClr val="7C3AED"/>
          </a:solidFill>
          <a:ln w="12700">
            <a:solidFill>
              <a:srgbClr val="7C3AED"/>
            </a:solidFill>
            <a:prstDash val="solid"/>
          </a:ln>
        </p:spPr>
      </p:sp>
      <p:sp>
        <p:nvSpPr>
          <p:cNvPr id="19" name="Text 15"/>
          <p:cNvSpPr/>
          <p:nvPr/>
        </p:nvSpPr>
        <p:spPr>
          <a:xfrm>
            <a:off x="6720840" y="3648456"/>
            <a:ext cx="4754880" cy="347472"/>
          </a:xfrm>
          <a:prstGeom prst="rect">
            <a:avLst/>
          </a:prstGeom>
          <a:noFill/>
          <a:ln/>
        </p:spPr>
        <p:txBody>
          <a:bodyPr wrap="square" rtlCol="0" anchor="t"/>
          <a:lstStyle/>
          <a:p>
            <a:pPr indent="0" marL="0">
              <a:buNone/>
            </a:pPr>
            <a:r>
              <a:rPr lang="en-US" sz="1200" b="1" dirty="0">
                <a:solidFill>
                  <a:srgbClr val="7C3AED"/>
                </a:solidFill>
                <a:latin typeface="Arial" pitchFamily="34" charset="0"/>
                <a:ea typeface="Arial" pitchFamily="34" charset="-122"/>
                <a:cs typeface="Arial" pitchFamily="34" charset="-120"/>
              </a:rPr>
              <a:t>The CMS numbers</a:t>
            </a:r>
            <a:endParaRPr lang="en-US" sz="1200" dirty="0"/>
          </a:p>
        </p:txBody>
      </p:sp>
      <p:sp>
        <p:nvSpPr>
          <p:cNvPr id="20" name="Text 16"/>
          <p:cNvSpPr/>
          <p:nvPr/>
        </p:nvSpPr>
        <p:spPr>
          <a:xfrm>
            <a:off x="6720840" y="3968496"/>
            <a:ext cx="4754880" cy="832104"/>
          </a:xfrm>
          <a:prstGeom prst="rect">
            <a:avLst/>
          </a:prstGeom>
          <a:noFill/>
          <a:ln/>
        </p:spPr>
        <p:txBody>
          <a:bodyPr wrap="square" rtlCol="0" anchor="t"/>
          <a:lstStyle/>
          <a:p>
            <a:pPr indent="0" marL="0">
              <a:spcAft>
                <a:spcPts val="300"/>
              </a:spcAft>
              <a:buNone/>
            </a:pPr>
            <a:r>
              <a:rPr lang="en-US" sz="950" dirty="0">
                <a:solidFill>
                  <a:srgbClr val="475569"/>
                </a:solidFill>
                <a:latin typeface="Arial" pitchFamily="34" charset="0"/>
                <a:ea typeface="Arial" pitchFamily="34" charset="-122"/>
                <a:cs typeface="Arial" pitchFamily="34" charset="-120"/>
              </a:rPr>
              <a:t>Approved, denied and still waiting; standard and urgent apart, drugs apart; time to decision; approvals after appeal and after extension. On screen or as a spreadsheet.</a:t>
            </a:r>
            <a:endParaRPr lang="en-US" sz="950" dirty="0"/>
          </a:p>
        </p:txBody>
      </p:sp>
      <p:sp>
        <p:nvSpPr>
          <p:cNvPr id="21" name="Shape 17"/>
          <p:cNvSpPr/>
          <p:nvPr/>
        </p:nvSpPr>
        <p:spPr>
          <a:xfrm>
            <a:off x="548640" y="5074920"/>
            <a:ext cx="11091672" cy="777240"/>
          </a:xfrm>
          <a:prstGeom prst="roundRect">
            <a:avLst>
              <a:gd name="adj" fmla="val 14118"/>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2" name="Shape 18"/>
          <p:cNvSpPr/>
          <p:nvPr/>
        </p:nvSpPr>
        <p:spPr>
          <a:xfrm>
            <a:off x="658368" y="5239512"/>
            <a:ext cx="54864" cy="448056"/>
          </a:xfrm>
          <a:prstGeom prst="rect">
            <a:avLst/>
          </a:prstGeom>
          <a:solidFill>
            <a:srgbClr val="0D9488"/>
          </a:solidFill>
          <a:ln w="12700">
            <a:solidFill>
              <a:srgbClr val="0D9488"/>
            </a:solidFill>
            <a:prstDash val="solid"/>
          </a:ln>
        </p:spPr>
      </p:sp>
      <p:sp>
        <p:nvSpPr>
          <p:cNvPr id="23" name="Text 19"/>
          <p:cNvSpPr/>
          <p:nvPr/>
        </p:nvSpPr>
        <p:spPr>
          <a:xfrm>
            <a:off x="822960" y="5202936"/>
            <a:ext cx="10652760" cy="557784"/>
          </a:xfrm>
          <a:prstGeom prst="rect">
            <a:avLst/>
          </a:prstGeom>
          <a:noFill/>
          <a:ln/>
        </p:spPr>
        <p:txBody>
          <a:bodyPr wrap="square" rtlCol="0" anchor="t"/>
          <a:lstStyle/>
          <a:p>
            <a:pPr indent="0" marL="0">
              <a:spcAft>
                <a:spcPts val="300"/>
              </a:spcAft>
              <a:buNone/>
            </a:pPr>
            <a:r>
              <a:rPr lang="en-US" sz="1000" b="1" dirty="0">
                <a:solidFill>
                  <a:srgbClr val="0F172A"/>
                </a:solidFill>
                <a:latin typeface="Arial" pitchFamily="34" charset="0"/>
                <a:ea typeface="Arial" pitchFamily="34" charset="-122"/>
                <a:cs typeface="Arial" pitchFamily="34" charset="-120"/>
              </a:rPr>
              <a:t>Which missing evidence pends most. </a:t>
            </a:r>
            <a:pPr indent="0" marL="0">
              <a:spcAft>
                <a:spcPts val="300"/>
              </a:spcAft>
              <a:buNone/>
            </a:pPr>
            <a:r>
              <a:rPr lang="en-US" sz="1000" dirty="0">
                <a:solidFill>
                  <a:srgbClr val="475569"/>
                </a:solidFill>
                <a:latin typeface="Arial" pitchFamily="34" charset="0"/>
                <a:ea typeface="Arial" pitchFamily="34" charset="-122"/>
                <a:cs typeface="Arial" pitchFamily="34" charset="-120"/>
              </a:rPr>
              <a:t>The pend report shows which facts most often hold requests up, and whether the plan's questionnaire asks for them, so the questions can be fixed at the source.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THE RECORD</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Every decision is kept, and can be replayed</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A log that shows if it was changed, and a way to see what a new policy would have done.</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15 / 18</a:t>
            </a:r>
            <a:endParaRPr lang="en-US" sz="800" dirty="0"/>
          </a:p>
        </p:txBody>
      </p:sp>
      <p:sp>
        <p:nvSpPr>
          <p:cNvPr id="11" name="Shape 8"/>
          <p:cNvSpPr/>
          <p:nvPr/>
        </p:nvSpPr>
        <p:spPr>
          <a:xfrm>
            <a:off x="548640" y="1691640"/>
            <a:ext cx="1920240" cy="1234440"/>
          </a:xfrm>
          <a:prstGeom prst="roundRect">
            <a:avLst>
              <a:gd name="adj" fmla="val 7407"/>
            </a:avLst>
          </a:prstGeom>
          <a:solidFill>
            <a:srgbClr val="FFFFFF"/>
          </a:solidFill>
          <a:ln w="19050">
            <a:solidFill>
              <a:srgbClr val="2563EB"/>
            </a:solidFill>
            <a:prstDash val="solid"/>
          </a:ln>
        </p:spPr>
      </p:sp>
      <p:sp>
        <p:nvSpPr>
          <p:cNvPr id="12" name="Shape 9"/>
          <p:cNvSpPr/>
          <p:nvPr/>
        </p:nvSpPr>
        <p:spPr>
          <a:xfrm>
            <a:off x="548640" y="1691640"/>
            <a:ext cx="1920240" cy="73152"/>
          </a:xfrm>
          <a:prstGeom prst="rect">
            <a:avLst/>
          </a:prstGeom>
          <a:solidFill>
            <a:srgbClr val="2563EB"/>
          </a:solidFill>
          <a:ln w="12700">
            <a:solidFill>
              <a:srgbClr val="2563EB"/>
            </a:solidFill>
            <a:prstDash val="solid"/>
          </a:ln>
        </p:spPr>
      </p:sp>
      <p:sp>
        <p:nvSpPr>
          <p:cNvPr id="13" name="Text 10"/>
          <p:cNvSpPr/>
          <p:nvPr/>
        </p:nvSpPr>
        <p:spPr>
          <a:xfrm>
            <a:off x="658368" y="1810512"/>
            <a:ext cx="1737360" cy="105156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Request received</a:t>
            </a:r>
            <a:endParaRPr lang="en-US" sz="1050" dirty="0"/>
          </a:p>
          <a:p>
            <a:pPr indent="0" marL="0">
              <a:buNone/>
            </a:pPr>
            <a:r>
              <a:rPr lang="en-US" sz="900" dirty="0">
                <a:solidFill>
                  <a:srgbClr val="475569"/>
                </a:solidFill>
                <a:latin typeface="Arial" pitchFamily="34" charset="0"/>
                <a:ea typeface="Arial" pitchFamily="34" charset="-122"/>
                <a:cs typeface="Arial" pitchFamily="34" charset="-120"/>
              </a:rPr>
              <a:t>case opened</a:t>
            </a:r>
            <a:endParaRPr lang="en-US" sz="1050" dirty="0"/>
          </a:p>
          <a:p>
            <a:pPr indent="0" marL="0">
              <a:buNone/>
            </a:pPr>
            <a:r>
              <a:rPr lang="en-US" sz="800" dirty="0">
                <a:solidFill>
                  <a:srgbClr val="94A3B8"/>
                </a:solidFill>
                <a:latin typeface="Courier New" pitchFamily="34" charset="0"/>
                <a:ea typeface="Courier New" pitchFamily="34" charset="-122"/>
                <a:cs typeface="Courier New" pitchFamily="34" charset="-120"/>
              </a:rPr>
              <a:t>hash 3f9a…  ← start…</a:t>
            </a:r>
            <a:endParaRPr lang="en-US" sz="1050" dirty="0"/>
          </a:p>
        </p:txBody>
      </p:sp>
      <p:sp>
        <p:nvSpPr>
          <p:cNvPr id="14" name="Shape 11"/>
          <p:cNvSpPr/>
          <p:nvPr/>
        </p:nvSpPr>
        <p:spPr>
          <a:xfrm>
            <a:off x="2487168" y="2212848"/>
            <a:ext cx="109728" cy="109728"/>
          </a:xfrm>
          <a:prstGeom prst="ellipse">
            <a:avLst/>
          </a:prstGeom>
          <a:solidFill>
            <a:srgbClr val="475569"/>
          </a:solidFill>
          <a:ln w="12700">
            <a:solidFill>
              <a:srgbClr val="475569"/>
            </a:solidFill>
            <a:prstDash val="solid"/>
          </a:ln>
        </p:spPr>
      </p:sp>
      <p:sp>
        <p:nvSpPr>
          <p:cNvPr id="15" name="Shape 12"/>
          <p:cNvSpPr/>
          <p:nvPr/>
        </p:nvSpPr>
        <p:spPr>
          <a:xfrm>
            <a:off x="2542032" y="2267712"/>
            <a:ext cx="274320" cy="0"/>
          </a:xfrm>
          <a:prstGeom prst="line">
            <a:avLst/>
          </a:prstGeom>
          <a:noFill/>
          <a:ln w="25400">
            <a:solidFill>
              <a:srgbClr val="475569"/>
            </a:solidFill>
            <a:prstDash val="solid"/>
          </a:ln>
        </p:spPr>
      </p:sp>
      <p:sp>
        <p:nvSpPr>
          <p:cNvPr id="16" name="Shape 13"/>
          <p:cNvSpPr/>
          <p:nvPr/>
        </p:nvSpPr>
        <p:spPr>
          <a:xfrm>
            <a:off x="2706624" y="2212848"/>
            <a:ext cx="109728" cy="109728"/>
          </a:xfrm>
          <a:prstGeom prst="ellipse">
            <a:avLst/>
          </a:prstGeom>
          <a:solidFill>
            <a:srgbClr val="475569"/>
          </a:solidFill>
          <a:ln w="12700">
            <a:solidFill>
              <a:srgbClr val="475569"/>
            </a:solidFill>
            <a:prstDash val="solid"/>
          </a:ln>
        </p:spPr>
      </p:sp>
      <p:sp>
        <p:nvSpPr>
          <p:cNvPr id="17" name="Shape 14"/>
          <p:cNvSpPr/>
          <p:nvPr/>
        </p:nvSpPr>
        <p:spPr>
          <a:xfrm>
            <a:off x="2816352" y="1691640"/>
            <a:ext cx="1920240" cy="1234440"/>
          </a:xfrm>
          <a:prstGeom prst="roundRect">
            <a:avLst>
              <a:gd name="adj" fmla="val 7407"/>
            </a:avLst>
          </a:prstGeom>
          <a:solidFill>
            <a:srgbClr val="FFFFFF"/>
          </a:solidFill>
          <a:ln w="19050">
            <a:solidFill>
              <a:srgbClr val="D97706"/>
            </a:solidFill>
            <a:prstDash val="solid"/>
          </a:ln>
        </p:spPr>
      </p:sp>
      <p:sp>
        <p:nvSpPr>
          <p:cNvPr id="18" name="Shape 15"/>
          <p:cNvSpPr/>
          <p:nvPr/>
        </p:nvSpPr>
        <p:spPr>
          <a:xfrm>
            <a:off x="2816352" y="1691640"/>
            <a:ext cx="1920240" cy="73152"/>
          </a:xfrm>
          <a:prstGeom prst="rect">
            <a:avLst/>
          </a:prstGeom>
          <a:solidFill>
            <a:srgbClr val="D97706"/>
          </a:solidFill>
          <a:ln w="12700">
            <a:solidFill>
              <a:srgbClr val="D97706"/>
            </a:solidFill>
            <a:prstDash val="solid"/>
          </a:ln>
        </p:spPr>
      </p:sp>
      <p:sp>
        <p:nvSpPr>
          <p:cNvPr id="19" name="Text 16"/>
          <p:cNvSpPr/>
          <p:nvPr/>
        </p:nvSpPr>
        <p:spPr>
          <a:xfrm>
            <a:off x="2926080" y="1810512"/>
            <a:ext cx="1737360" cy="105156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Decision</a:t>
            </a:r>
            <a:endParaRPr lang="en-US" sz="1050" dirty="0"/>
          </a:p>
          <a:p>
            <a:pPr indent="0" marL="0">
              <a:buNone/>
            </a:pPr>
            <a:r>
              <a:rPr lang="en-US" sz="900" dirty="0">
                <a:solidFill>
                  <a:srgbClr val="475569"/>
                </a:solidFill>
                <a:latin typeface="Arial" pitchFamily="34" charset="0"/>
                <a:ea typeface="Arial" pitchFamily="34" charset="-122"/>
                <a:cs typeface="Arial" pitchFamily="34" charset="-120"/>
              </a:rPr>
              <a:t>pend: two facts missing</a:t>
            </a:r>
            <a:endParaRPr lang="en-US" sz="1050" dirty="0"/>
          </a:p>
          <a:p>
            <a:pPr indent="0" marL="0">
              <a:buNone/>
            </a:pPr>
            <a:r>
              <a:rPr lang="en-US" sz="800" dirty="0">
                <a:solidFill>
                  <a:srgbClr val="94A3B8"/>
                </a:solidFill>
                <a:latin typeface="Courier New" pitchFamily="34" charset="0"/>
                <a:ea typeface="Courier New" pitchFamily="34" charset="-122"/>
                <a:cs typeface="Courier New" pitchFamily="34" charset="-120"/>
              </a:rPr>
              <a:t>hash b71c…  ← 3f9a…</a:t>
            </a:r>
            <a:endParaRPr lang="en-US" sz="1050" dirty="0"/>
          </a:p>
        </p:txBody>
      </p:sp>
      <p:sp>
        <p:nvSpPr>
          <p:cNvPr id="20" name="Shape 17"/>
          <p:cNvSpPr/>
          <p:nvPr/>
        </p:nvSpPr>
        <p:spPr>
          <a:xfrm>
            <a:off x="4754880" y="2212848"/>
            <a:ext cx="109728" cy="109728"/>
          </a:xfrm>
          <a:prstGeom prst="ellipse">
            <a:avLst/>
          </a:prstGeom>
          <a:solidFill>
            <a:srgbClr val="475569"/>
          </a:solidFill>
          <a:ln w="12700">
            <a:solidFill>
              <a:srgbClr val="475569"/>
            </a:solidFill>
            <a:prstDash val="solid"/>
          </a:ln>
        </p:spPr>
      </p:sp>
      <p:sp>
        <p:nvSpPr>
          <p:cNvPr id="21" name="Shape 18"/>
          <p:cNvSpPr/>
          <p:nvPr/>
        </p:nvSpPr>
        <p:spPr>
          <a:xfrm>
            <a:off x="4809744" y="2267712"/>
            <a:ext cx="274320" cy="0"/>
          </a:xfrm>
          <a:prstGeom prst="line">
            <a:avLst/>
          </a:prstGeom>
          <a:noFill/>
          <a:ln w="25400">
            <a:solidFill>
              <a:srgbClr val="475569"/>
            </a:solidFill>
            <a:prstDash val="solid"/>
          </a:ln>
        </p:spPr>
      </p:sp>
      <p:sp>
        <p:nvSpPr>
          <p:cNvPr id="22" name="Shape 19"/>
          <p:cNvSpPr/>
          <p:nvPr/>
        </p:nvSpPr>
        <p:spPr>
          <a:xfrm>
            <a:off x="4974336" y="2212848"/>
            <a:ext cx="109728" cy="109728"/>
          </a:xfrm>
          <a:prstGeom prst="ellipse">
            <a:avLst/>
          </a:prstGeom>
          <a:solidFill>
            <a:srgbClr val="475569"/>
          </a:solidFill>
          <a:ln w="12700">
            <a:solidFill>
              <a:srgbClr val="475569"/>
            </a:solidFill>
            <a:prstDash val="solid"/>
          </a:ln>
        </p:spPr>
      </p:sp>
      <p:sp>
        <p:nvSpPr>
          <p:cNvPr id="23" name="Shape 20"/>
          <p:cNvSpPr/>
          <p:nvPr/>
        </p:nvSpPr>
        <p:spPr>
          <a:xfrm>
            <a:off x="5084064" y="1691640"/>
            <a:ext cx="1920240" cy="1234440"/>
          </a:xfrm>
          <a:prstGeom prst="roundRect">
            <a:avLst>
              <a:gd name="adj" fmla="val 7407"/>
            </a:avLst>
          </a:prstGeom>
          <a:solidFill>
            <a:srgbClr val="FFFFFF"/>
          </a:solidFill>
          <a:ln w="19050">
            <a:solidFill>
              <a:srgbClr val="0D9488"/>
            </a:solidFill>
            <a:prstDash val="solid"/>
          </a:ln>
        </p:spPr>
      </p:sp>
      <p:sp>
        <p:nvSpPr>
          <p:cNvPr id="24" name="Shape 21"/>
          <p:cNvSpPr/>
          <p:nvPr/>
        </p:nvSpPr>
        <p:spPr>
          <a:xfrm>
            <a:off x="5084064" y="1691640"/>
            <a:ext cx="1920240" cy="73152"/>
          </a:xfrm>
          <a:prstGeom prst="rect">
            <a:avLst/>
          </a:prstGeom>
          <a:solidFill>
            <a:srgbClr val="0D9488"/>
          </a:solidFill>
          <a:ln w="12700">
            <a:solidFill>
              <a:srgbClr val="0D9488"/>
            </a:solidFill>
            <a:prstDash val="solid"/>
          </a:ln>
        </p:spPr>
      </p:sp>
      <p:sp>
        <p:nvSpPr>
          <p:cNvPr id="25" name="Text 22"/>
          <p:cNvSpPr/>
          <p:nvPr/>
        </p:nvSpPr>
        <p:spPr>
          <a:xfrm>
            <a:off x="5193792" y="1810512"/>
            <a:ext cx="1737360" cy="105156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Document arrived</a:t>
            </a:r>
            <a:endParaRPr lang="en-US" sz="1050" dirty="0"/>
          </a:p>
          <a:p>
            <a:pPr indent="0" marL="0">
              <a:buNone/>
            </a:pPr>
            <a:r>
              <a:rPr lang="en-US" sz="900" dirty="0">
                <a:solidFill>
                  <a:srgbClr val="475569"/>
                </a:solidFill>
                <a:latin typeface="Arial" pitchFamily="34" charset="0"/>
                <a:ea typeface="Arial" pitchFamily="34" charset="-122"/>
                <a:cs typeface="Arial" pitchFamily="34" charset="-120"/>
              </a:rPr>
              <a:t>neurology note</a:t>
            </a:r>
            <a:endParaRPr lang="en-US" sz="1050" dirty="0"/>
          </a:p>
          <a:p>
            <a:pPr indent="0" marL="0">
              <a:buNone/>
            </a:pPr>
            <a:r>
              <a:rPr lang="en-US" sz="800" dirty="0">
                <a:solidFill>
                  <a:srgbClr val="94A3B8"/>
                </a:solidFill>
                <a:latin typeface="Courier New" pitchFamily="34" charset="0"/>
                <a:ea typeface="Courier New" pitchFamily="34" charset="-122"/>
                <a:cs typeface="Courier New" pitchFamily="34" charset="-120"/>
              </a:rPr>
              <a:t>hash 0de4…  ← b71c…</a:t>
            </a:r>
            <a:endParaRPr lang="en-US" sz="1050" dirty="0"/>
          </a:p>
        </p:txBody>
      </p:sp>
      <p:sp>
        <p:nvSpPr>
          <p:cNvPr id="26" name="Shape 23"/>
          <p:cNvSpPr/>
          <p:nvPr/>
        </p:nvSpPr>
        <p:spPr>
          <a:xfrm>
            <a:off x="7022592" y="2212848"/>
            <a:ext cx="109728" cy="109728"/>
          </a:xfrm>
          <a:prstGeom prst="ellipse">
            <a:avLst/>
          </a:prstGeom>
          <a:solidFill>
            <a:srgbClr val="475569"/>
          </a:solidFill>
          <a:ln w="12700">
            <a:solidFill>
              <a:srgbClr val="475569"/>
            </a:solidFill>
            <a:prstDash val="solid"/>
          </a:ln>
        </p:spPr>
      </p:sp>
      <p:sp>
        <p:nvSpPr>
          <p:cNvPr id="27" name="Shape 24"/>
          <p:cNvSpPr/>
          <p:nvPr/>
        </p:nvSpPr>
        <p:spPr>
          <a:xfrm>
            <a:off x="7077456" y="2267712"/>
            <a:ext cx="274320" cy="0"/>
          </a:xfrm>
          <a:prstGeom prst="line">
            <a:avLst/>
          </a:prstGeom>
          <a:noFill/>
          <a:ln w="25400">
            <a:solidFill>
              <a:srgbClr val="475569"/>
            </a:solidFill>
            <a:prstDash val="solid"/>
          </a:ln>
        </p:spPr>
      </p:sp>
      <p:sp>
        <p:nvSpPr>
          <p:cNvPr id="28" name="Shape 25"/>
          <p:cNvSpPr/>
          <p:nvPr/>
        </p:nvSpPr>
        <p:spPr>
          <a:xfrm>
            <a:off x="7242048" y="2212848"/>
            <a:ext cx="109728" cy="109728"/>
          </a:xfrm>
          <a:prstGeom prst="ellipse">
            <a:avLst/>
          </a:prstGeom>
          <a:solidFill>
            <a:srgbClr val="475569"/>
          </a:solidFill>
          <a:ln w="12700">
            <a:solidFill>
              <a:srgbClr val="475569"/>
            </a:solidFill>
            <a:prstDash val="solid"/>
          </a:ln>
        </p:spPr>
      </p:sp>
      <p:sp>
        <p:nvSpPr>
          <p:cNvPr id="29" name="Shape 26"/>
          <p:cNvSpPr/>
          <p:nvPr/>
        </p:nvSpPr>
        <p:spPr>
          <a:xfrm>
            <a:off x="7351776" y="1691640"/>
            <a:ext cx="1920240" cy="1234440"/>
          </a:xfrm>
          <a:prstGeom prst="roundRect">
            <a:avLst>
              <a:gd name="adj" fmla="val 7407"/>
            </a:avLst>
          </a:prstGeom>
          <a:solidFill>
            <a:srgbClr val="FFFFFF"/>
          </a:solidFill>
          <a:ln w="19050">
            <a:solidFill>
              <a:srgbClr val="059669"/>
            </a:solidFill>
            <a:prstDash val="solid"/>
          </a:ln>
        </p:spPr>
      </p:sp>
      <p:sp>
        <p:nvSpPr>
          <p:cNvPr id="30" name="Shape 27"/>
          <p:cNvSpPr/>
          <p:nvPr/>
        </p:nvSpPr>
        <p:spPr>
          <a:xfrm>
            <a:off x="7351776" y="1691640"/>
            <a:ext cx="1920240" cy="73152"/>
          </a:xfrm>
          <a:prstGeom prst="rect">
            <a:avLst/>
          </a:prstGeom>
          <a:solidFill>
            <a:srgbClr val="059669"/>
          </a:solidFill>
          <a:ln w="12700">
            <a:solidFill>
              <a:srgbClr val="059669"/>
            </a:solidFill>
            <a:prstDash val="solid"/>
          </a:ln>
        </p:spPr>
      </p:sp>
      <p:sp>
        <p:nvSpPr>
          <p:cNvPr id="31" name="Text 28"/>
          <p:cNvSpPr/>
          <p:nvPr/>
        </p:nvSpPr>
        <p:spPr>
          <a:xfrm>
            <a:off x="7461504" y="1810512"/>
            <a:ext cx="1737360" cy="105156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Reviewer</a:t>
            </a:r>
            <a:endParaRPr lang="en-US" sz="1050" dirty="0"/>
          </a:p>
          <a:p>
            <a:pPr indent="0" marL="0">
              <a:buNone/>
            </a:pPr>
            <a:r>
              <a:rPr lang="en-US" sz="900" dirty="0">
                <a:solidFill>
                  <a:srgbClr val="475569"/>
                </a:solidFill>
                <a:latin typeface="Arial" pitchFamily="34" charset="0"/>
                <a:ea typeface="Arial" pitchFamily="34" charset="-122"/>
                <a:cs typeface="Arial" pitchFamily="34" charset="-120"/>
              </a:rPr>
              <a:t>approve, with reason</a:t>
            </a:r>
            <a:endParaRPr lang="en-US" sz="1050" dirty="0"/>
          </a:p>
          <a:p>
            <a:pPr indent="0" marL="0">
              <a:buNone/>
            </a:pPr>
            <a:r>
              <a:rPr lang="en-US" sz="800" dirty="0">
                <a:solidFill>
                  <a:srgbClr val="94A3B8"/>
                </a:solidFill>
                <a:latin typeface="Courier New" pitchFamily="34" charset="0"/>
                <a:ea typeface="Courier New" pitchFamily="34" charset="-122"/>
                <a:cs typeface="Courier New" pitchFamily="34" charset="-120"/>
              </a:rPr>
              <a:t>hash 9a52…  ← 0de4…</a:t>
            </a:r>
            <a:endParaRPr lang="en-US" sz="1050" dirty="0"/>
          </a:p>
        </p:txBody>
      </p:sp>
      <p:sp>
        <p:nvSpPr>
          <p:cNvPr id="32" name="Shape 29"/>
          <p:cNvSpPr/>
          <p:nvPr/>
        </p:nvSpPr>
        <p:spPr>
          <a:xfrm>
            <a:off x="9290304" y="2212848"/>
            <a:ext cx="109728" cy="109728"/>
          </a:xfrm>
          <a:prstGeom prst="ellipse">
            <a:avLst/>
          </a:prstGeom>
          <a:solidFill>
            <a:srgbClr val="475569"/>
          </a:solidFill>
          <a:ln w="12700">
            <a:solidFill>
              <a:srgbClr val="475569"/>
            </a:solidFill>
            <a:prstDash val="solid"/>
          </a:ln>
        </p:spPr>
      </p:sp>
      <p:sp>
        <p:nvSpPr>
          <p:cNvPr id="33" name="Shape 30"/>
          <p:cNvSpPr/>
          <p:nvPr/>
        </p:nvSpPr>
        <p:spPr>
          <a:xfrm>
            <a:off x="9345168" y="2267712"/>
            <a:ext cx="274320" cy="0"/>
          </a:xfrm>
          <a:prstGeom prst="line">
            <a:avLst/>
          </a:prstGeom>
          <a:noFill/>
          <a:ln w="25400">
            <a:solidFill>
              <a:srgbClr val="475569"/>
            </a:solidFill>
            <a:prstDash val="solid"/>
          </a:ln>
        </p:spPr>
      </p:sp>
      <p:sp>
        <p:nvSpPr>
          <p:cNvPr id="34" name="Shape 31"/>
          <p:cNvSpPr/>
          <p:nvPr/>
        </p:nvSpPr>
        <p:spPr>
          <a:xfrm>
            <a:off x="9509760" y="2212848"/>
            <a:ext cx="109728" cy="109728"/>
          </a:xfrm>
          <a:prstGeom prst="ellipse">
            <a:avLst/>
          </a:prstGeom>
          <a:solidFill>
            <a:srgbClr val="475569"/>
          </a:solidFill>
          <a:ln w="12700">
            <a:solidFill>
              <a:srgbClr val="475569"/>
            </a:solidFill>
            <a:prstDash val="solid"/>
          </a:ln>
        </p:spPr>
      </p:sp>
      <p:sp>
        <p:nvSpPr>
          <p:cNvPr id="35" name="Shape 32"/>
          <p:cNvSpPr/>
          <p:nvPr/>
        </p:nvSpPr>
        <p:spPr>
          <a:xfrm>
            <a:off x="9619488" y="1691640"/>
            <a:ext cx="1920240" cy="1234440"/>
          </a:xfrm>
          <a:prstGeom prst="roundRect">
            <a:avLst>
              <a:gd name="adj" fmla="val 7407"/>
            </a:avLst>
          </a:prstGeom>
          <a:solidFill>
            <a:srgbClr val="FFFFFF"/>
          </a:solidFill>
          <a:ln w="19050">
            <a:solidFill>
              <a:srgbClr val="7C3AED"/>
            </a:solidFill>
            <a:prstDash val="solid"/>
          </a:ln>
        </p:spPr>
      </p:sp>
      <p:sp>
        <p:nvSpPr>
          <p:cNvPr id="36" name="Shape 33"/>
          <p:cNvSpPr/>
          <p:nvPr/>
        </p:nvSpPr>
        <p:spPr>
          <a:xfrm>
            <a:off x="9619488" y="1691640"/>
            <a:ext cx="1920240" cy="73152"/>
          </a:xfrm>
          <a:prstGeom prst="rect">
            <a:avLst/>
          </a:prstGeom>
          <a:solidFill>
            <a:srgbClr val="7C3AED"/>
          </a:solidFill>
          <a:ln w="12700">
            <a:solidFill>
              <a:srgbClr val="7C3AED"/>
            </a:solidFill>
            <a:prstDash val="solid"/>
          </a:ln>
        </p:spPr>
      </p:sp>
      <p:sp>
        <p:nvSpPr>
          <p:cNvPr id="37" name="Text 34"/>
          <p:cNvSpPr/>
          <p:nvPr/>
        </p:nvSpPr>
        <p:spPr>
          <a:xfrm>
            <a:off x="9729216" y="1810512"/>
            <a:ext cx="1737360" cy="1051560"/>
          </a:xfrm>
          <a:prstGeom prst="rect">
            <a:avLst/>
          </a:prstGeom>
          <a:noFill/>
          <a:ln/>
        </p:spPr>
        <p:txBody>
          <a:bodyPr wrap="square" rtlCol="0" anchor="ctr"/>
          <a:lstStyle/>
          <a:p>
            <a:pPr indent="0" marL="0">
              <a:buNone/>
            </a:pPr>
            <a:r>
              <a:rPr lang="en-US" sz="1050" b="1" dirty="0">
                <a:solidFill>
                  <a:srgbClr val="0F172A"/>
                </a:solidFill>
                <a:latin typeface="Arial" pitchFamily="34" charset="0"/>
                <a:ea typeface="Arial" pitchFamily="34" charset="-122"/>
                <a:cs typeface="Arial" pitchFamily="34" charset="-120"/>
              </a:rPr>
              <a:t>Sent to the doctor</a:t>
            </a:r>
            <a:endParaRPr lang="en-US" sz="1050" dirty="0"/>
          </a:p>
          <a:p>
            <a:pPr indent="0" marL="0">
              <a:buNone/>
            </a:pPr>
            <a:r>
              <a:rPr lang="en-US" sz="900" dirty="0">
                <a:solidFill>
                  <a:srgbClr val="475569"/>
                </a:solidFill>
                <a:latin typeface="Arial" pitchFamily="34" charset="0"/>
                <a:ea typeface="Arial" pitchFamily="34" charset="-122"/>
                <a:cs typeface="Arial" pitchFamily="34" charset="-120"/>
              </a:rPr>
              <a:t>delivered</a:t>
            </a:r>
            <a:endParaRPr lang="en-US" sz="1050" dirty="0"/>
          </a:p>
          <a:p>
            <a:pPr indent="0" marL="0">
              <a:buNone/>
            </a:pPr>
            <a:r>
              <a:rPr lang="en-US" sz="800" dirty="0">
                <a:solidFill>
                  <a:srgbClr val="94A3B8"/>
                </a:solidFill>
                <a:latin typeface="Courier New" pitchFamily="34" charset="0"/>
                <a:ea typeface="Courier New" pitchFamily="34" charset="-122"/>
                <a:cs typeface="Courier New" pitchFamily="34" charset="-120"/>
              </a:rPr>
              <a:t>hash e60b…  ← 9a52…</a:t>
            </a:r>
            <a:endParaRPr lang="en-US" sz="1050" dirty="0"/>
          </a:p>
        </p:txBody>
      </p:sp>
      <p:sp>
        <p:nvSpPr>
          <p:cNvPr id="38" name="Text 35"/>
          <p:cNvSpPr/>
          <p:nvPr/>
        </p:nvSpPr>
        <p:spPr>
          <a:xfrm>
            <a:off x="548640" y="3017520"/>
            <a:ext cx="11064240" cy="411480"/>
          </a:xfrm>
          <a:prstGeom prst="rect">
            <a:avLst/>
          </a:prstGeom>
          <a:noFill/>
          <a:ln/>
        </p:spPr>
        <p:txBody>
          <a:bodyPr wrap="square" rtlCol="0" anchor="ctr"/>
          <a:lstStyle/>
          <a:p>
            <a:pPr indent="0" marL="0">
              <a:buNone/>
            </a:pPr>
            <a:r>
              <a:rPr lang="en-US" sz="1000" dirty="0">
                <a:solidFill>
                  <a:srgbClr val="475569"/>
                </a:solidFill>
                <a:latin typeface="Arial" pitchFamily="34" charset="0"/>
                <a:ea typeface="Arial" pitchFamily="34" charset="-122"/>
                <a:cs typeface="Arial" pitchFamily="34" charset="-120"/>
              </a:rPr>
              <a:t>Each record carries a fingerprint of the one before it. Edit, delete or reorder any record and the chain breaks: the server will not start on a broken log.</a:t>
            </a:r>
            <a:endParaRPr lang="en-US" sz="1000" dirty="0"/>
          </a:p>
        </p:txBody>
      </p:sp>
      <p:sp>
        <p:nvSpPr>
          <p:cNvPr id="39" name="Shape 36"/>
          <p:cNvSpPr/>
          <p:nvPr/>
        </p:nvSpPr>
        <p:spPr>
          <a:xfrm>
            <a:off x="548640" y="3611880"/>
            <a:ext cx="5440680" cy="2194560"/>
          </a:xfrm>
          <a:prstGeom prst="roundRect">
            <a:avLst>
              <a:gd name="adj" fmla="val 5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0" name="Shape 37"/>
          <p:cNvSpPr/>
          <p:nvPr/>
        </p:nvSpPr>
        <p:spPr>
          <a:xfrm>
            <a:off x="658368" y="3776472"/>
            <a:ext cx="54864" cy="1865376"/>
          </a:xfrm>
          <a:prstGeom prst="rect">
            <a:avLst/>
          </a:prstGeom>
          <a:solidFill>
            <a:srgbClr val="2563EB"/>
          </a:solidFill>
          <a:ln w="12700">
            <a:solidFill>
              <a:srgbClr val="2563EB"/>
            </a:solidFill>
            <a:prstDash val="solid"/>
          </a:ln>
        </p:spPr>
      </p:sp>
      <p:sp>
        <p:nvSpPr>
          <p:cNvPr id="41" name="Text 38"/>
          <p:cNvSpPr/>
          <p:nvPr/>
        </p:nvSpPr>
        <p:spPr>
          <a:xfrm>
            <a:off x="822960" y="3739896"/>
            <a:ext cx="5001768" cy="347472"/>
          </a:xfrm>
          <a:prstGeom prst="rect">
            <a:avLst/>
          </a:prstGeom>
          <a:noFill/>
          <a:ln/>
        </p:spPr>
        <p:txBody>
          <a:bodyPr wrap="square" rtlCol="0" anchor="t"/>
          <a:lstStyle/>
          <a:p>
            <a:pPr indent="0" marL="0">
              <a:buNone/>
            </a:pPr>
            <a:r>
              <a:rPr lang="en-US" sz="1200" b="1" dirty="0">
                <a:solidFill>
                  <a:srgbClr val="2563EB"/>
                </a:solidFill>
                <a:latin typeface="Arial" pitchFamily="34" charset="0"/>
                <a:ea typeface="Arial" pitchFamily="34" charset="-122"/>
                <a:cs typeface="Arial" pitchFamily="34" charset="-120"/>
              </a:rPr>
              <a:t>What is in the log</a:t>
            </a:r>
            <a:endParaRPr lang="en-US" sz="1200" dirty="0"/>
          </a:p>
        </p:txBody>
      </p:sp>
      <p:sp>
        <p:nvSpPr>
          <p:cNvPr id="42" name="Text 39"/>
          <p:cNvSpPr/>
          <p:nvPr/>
        </p:nvSpPr>
        <p:spPr>
          <a:xfrm>
            <a:off x="822960" y="4123944"/>
            <a:ext cx="5001768" cy="1591056"/>
          </a:xfrm>
          <a:prstGeom prst="rect">
            <a:avLst/>
          </a:prstGeom>
          <a:noFill/>
          <a:ln/>
        </p:spPr>
        <p:txBody>
          <a:bodyPr wrap="square" rtlCol="0" anchor="t"/>
          <a:lstStyle/>
          <a:p>
            <a:pPr indent="0" marL="0">
              <a:spcAft>
                <a:spcPts val="300"/>
              </a:spcAft>
              <a:buNone/>
            </a:pPr>
            <a:r>
              <a:rPr lang="en-US" sz="1150" dirty="0">
                <a:solidFill>
                  <a:srgbClr val="475569"/>
                </a:solidFill>
                <a:latin typeface="Arial" pitchFamily="34" charset="0"/>
                <a:ea typeface="Arial" pitchFamily="34" charset="-122"/>
                <a:cs typeface="Arial" pitchFamily="34" charset="-120"/>
              </a:rPr>
              <a:t>• every request, decision and proof</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every review, extension, appeal and override</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every sign-in, failed sign-in and account change</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every time someone opened a case</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every policy draft saved and signed off, by its fingerprint</a:t>
            </a:r>
            <a:endParaRPr lang="en-US" sz="1150" dirty="0"/>
          </a:p>
        </p:txBody>
      </p:sp>
      <p:sp>
        <p:nvSpPr>
          <p:cNvPr id="43" name="Shape 40"/>
          <p:cNvSpPr/>
          <p:nvPr/>
        </p:nvSpPr>
        <p:spPr>
          <a:xfrm>
            <a:off x="6199632" y="3611880"/>
            <a:ext cx="5440680" cy="2194560"/>
          </a:xfrm>
          <a:prstGeom prst="roundRect">
            <a:avLst>
              <a:gd name="adj" fmla="val 5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4" name="Shape 41"/>
          <p:cNvSpPr/>
          <p:nvPr/>
        </p:nvSpPr>
        <p:spPr>
          <a:xfrm>
            <a:off x="6309360" y="3776472"/>
            <a:ext cx="54864" cy="1865376"/>
          </a:xfrm>
          <a:prstGeom prst="rect">
            <a:avLst/>
          </a:prstGeom>
          <a:solidFill>
            <a:srgbClr val="C026D3"/>
          </a:solidFill>
          <a:ln w="12700">
            <a:solidFill>
              <a:srgbClr val="C026D3"/>
            </a:solidFill>
            <a:prstDash val="solid"/>
          </a:ln>
        </p:spPr>
      </p:sp>
      <p:sp>
        <p:nvSpPr>
          <p:cNvPr id="45" name="Text 42"/>
          <p:cNvSpPr/>
          <p:nvPr/>
        </p:nvSpPr>
        <p:spPr>
          <a:xfrm>
            <a:off x="6473952" y="3739896"/>
            <a:ext cx="5001768" cy="347472"/>
          </a:xfrm>
          <a:prstGeom prst="rect">
            <a:avLst/>
          </a:prstGeom>
          <a:noFill/>
          <a:ln/>
        </p:spPr>
        <p:txBody>
          <a:bodyPr wrap="square" rtlCol="0" anchor="t"/>
          <a:lstStyle/>
          <a:p>
            <a:pPr indent="0" marL="0">
              <a:buNone/>
            </a:pPr>
            <a:r>
              <a:rPr lang="en-US" sz="1200" b="1" dirty="0">
                <a:solidFill>
                  <a:srgbClr val="C026D3"/>
                </a:solidFill>
                <a:latin typeface="Arial" pitchFamily="34" charset="0"/>
                <a:ea typeface="Arial" pitchFamily="34" charset="-122"/>
                <a:cs typeface="Arial" pitchFamily="34" charset="-120"/>
              </a:rPr>
              <a:t>Replay</a:t>
            </a:r>
            <a:endParaRPr lang="en-US" sz="1200" dirty="0"/>
          </a:p>
        </p:txBody>
      </p:sp>
      <p:sp>
        <p:nvSpPr>
          <p:cNvPr id="46" name="Text 43"/>
          <p:cNvSpPr/>
          <p:nvPr/>
        </p:nvSpPr>
        <p:spPr>
          <a:xfrm>
            <a:off x="6473952" y="4123944"/>
            <a:ext cx="5001768" cy="1591056"/>
          </a:xfrm>
          <a:prstGeom prst="rect">
            <a:avLst/>
          </a:prstGeom>
          <a:noFill/>
          <a:ln/>
        </p:spPr>
        <p:txBody>
          <a:bodyPr wrap="square" rtlCol="0" anchor="t"/>
          <a:lstStyle/>
          <a:p>
            <a:pPr indent="0" marL="0">
              <a:spcAft>
                <a:spcPts val="300"/>
              </a:spcAft>
              <a:buNone/>
            </a:pPr>
            <a:r>
              <a:rPr lang="en-US" sz="1150" dirty="0">
                <a:solidFill>
                  <a:srgbClr val="475569"/>
                </a:solidFill>
                <a:latin typeface="Arial" pitchFamily="34" charset="0"/>
                <a:ea typeface="Arial" pitchFamily="34" charset="-122"/>
                <a:cs typeface="Arial" pitchFamily="34" charset="-120"/>
              </a:rPr>
              <a:t>Before a new version of a policy is signed off, run it over every past request it covers. Vaglio lists each decision that would change, and flags any that would overrule a reviewer. Nothing is changed by a replay, and the replay itself is logged.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WHERE IT FITS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Vaglio and the plan's other systems</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Vaglio is the reviewer in the back office. A PAS server is the front desk providers talk to.</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16 / 18</a:t>
            </a:r>
            <a:endParaRPr lang="en-US" sz="800" dirty="0"/>
          </a:p>
        </p:txBody>
      </p:sp>
      <p:sp>
        <p:nvSpPr>
          <p:cNvPr id="11" name="Shape 8"/>
          <p:cNvSpPr/>
          <p:nvPr/>
        </p:nvSpPr>
        <p:spPr>
          <a:xfrm>
            <a:off x="548640" y="1828800"/>
            <a:ext cx="2377440" cy="1188720"/>
          </a:xfrm>
          <a:prstGeom prst="roundRect">
            <a:avLst>
              <a:gd name="adj" fmla="val 9231"/>
            </a:avLst>
          </a:prstGeom>
          <a:solidFill>
            <a:srgbClr val="DBEAFE"/>
          </a:solidFill>
          <a:ln w="19050">
            <a:solidFill>
              <a:srgbClr val="2563EB"/>
            </a:solidFill>
            <a:prstDash val="solid"/>
          </a:ln>
        </p:spPr>
      </p:sp>
      <p:sp>
        <p:nvSpPr>
          <p:cNvPr id="12" name="Text 9"/>
          <p:cNvSpPr/>
          <p:nvPr/>
        </p:nvSpPr>
        <p:spPr>
          <a:xfrm>
            <a:off x="685800" y="1828800"/>
            <a:ext cx="2103120" cy="1188720"/>
          </a:xfrm>
          <a:prstGeom prst="rect">
            <a:avLst/>
          </a:prstGeom>
          <a:noFill/>
          <a:ln/>
        </p:spPr>
        <p:txBody>
          <a:bodyPr wrap="square" rtlCol="0" anchor="ctr"/>
          <a:lstStyle/>
          <a:p>
            <a:pPr indent="0" marL="0">
              <a:buNone/>
            </a:pPr>
            <a:r>
              <a:rPr lang="en-US" sz="1200" b="1" dirty="0">
                <a:solidFill>
                  <a:srgbClr val="2563EB"/>
                </a:solidFill>
                <a:latin typeface="Arial" pitchFamily="34" charset="0"/>
                <a:ea typeface="Arial" pitchFamily="34" charset="-122"/>
                <a:cs typeface="Arial" pitchFamily="34" charset="-120"/>
              </a:rPr>
              <a:t>The doctor's system</a:t>
            </a:r>
            <a:endParaRPr lang="en-US" sz="950" dirty="0"/>
          </a:p>
          <a:p>
            <a:pPr indent="0" marL="0">
              <a:buNone/>
            </a:pPr>
            <a:r>
              <a:rPr lang="en-US" sz="950" dirty="0">
                <a:solidFill>
                  <a:srgbClr val="0F172A"/>
                </a:solidFill>
                <a:latin typeface="Arial" pitchFamily="34" charset="0"/>
                <a:ea typeface="Arial" pitchFamily="34" charset="-122"/>
                <a:cs typeface="Arial" pitchFamily="34" charset="-120"/>
              </a:rPr>
              <a:t>EHR, practice system or DTR app</a:t>
            </a:r>
            <a:endParaRPr lang="en-US" sz="950" dirty="0"/>
          </a:p>
        </p:txBody>
      </p:sp>
      <p:sp>
        <p:nvSpPr>
          <p:cNvPr id="13" name="Shape 10"/>
          <p:cNvSpPr/>
          <p:nvPr/>
        </p:nvSpPr>
        <p:spPr>
          <a:xfrm>
            <a:off x="3657600" y="1828800"/>
            <a:ext cx="2651760" cy="1188720"/>
          </a:xfrm>
          <a:prstGeom prst="roundRect">
            <a:avLst>
              <a:gd name="adj" fmla="val 9231"/>
            </a:avLst>
          </a:prstGeom>
          <a:solidFill>
            <a:srgbClr val="CCFBF1"/>
          </a:solidFill>
          <a:ln w="19050">
            <a:solidFill>
              <a:srgbClr val="0D9488"/>
            </a:solidFill>
            <a:prstDash val="solid"/>
          </a:ln>
        </p:spPr>
      </p:sp>
      <p:sp>
        <p:nvSpPr>
          <p:cNvPr id="14" name="Text 11"/>
          <p:cNvSpPr/>
          <p:nvPr/>
        </p:nvSpPr>
        <p:spPr>
          <a:xfrm>
            <a:off x="3794760" y="1828800"/>
            <a:ext cx="2377440" cy="1188720"/>
          </a:xfrm>
          <a:prstGeom prst="rect">
            <a:avLst/>
          </a:prstGeom>
          <a:noFill/>
          <a:ln/>
        </p:spPr>
        <p:txBody>
          <a:bodyPr wrap="square" rtlCol="0" anchor="ctr"/>
          <a:lstStyle/>
          <a:p>
            <a:pPr indent="0" marL="0">
              <a:buNone/>
            </a:pPr>
            <a:r>
              <a:rPr lang="en-US" sz="1200" b="1" dirty="0">
                <a:solidFill>
                  <a:srgbClr val="0D9488"/>
                </a:solidFill>
                <a:latin typeface="Arial" pitchFamily="34" charset="0"/>
                <a:ea typeface="Arial" pitchFamily="34" charset="-122"/>
                <a:cs typeface="Arial" pitchFamily="34" charset="-120"/>
              </a:rPr>
              <a:t>PAS server</a:t>
            </a:r>
            <a:endParaRPr lang="en-US" sz="950" dirty="0"/>
          </a:p>
          <a:p>
            <a:pPr indent="0" marL="0">
              <a:buNone/>
            </a:pPr>
            <a:r>
              <a:rPr lang="en-US" sz="950" dirty="0">
                <a:solidFill>
                  <a:srgbClr val="0F172A"/>
                </a:solidFill>
                <a:latin typeface="Arial" pitchFamily="34" charset="0"/>
                <a:ea typeface="Arial" pitchFamily="34" charset="-122"/>
                <a:cs typeface="Arial" pitchFamily="34" charset="-120"/>
              </a:rPr>
              <a:t>Perfuse (free, Apache-2.0), or any server that calls the decision hook</a:t>
            </a:r>
            <a:endParaRPr lang="en-US" sz="950" dirty="0"/>
          </a:p>
        </p:txBody>
      </p:sp>
      <p:sp>
        <p:nvSpPr>
          <p:cNvPr id="15" name="Shape 12"/>
          <p:cNvSpPr/>
          <p:nvPr/>
        </p:nvSpPr>
        <p:spPr>
          <a:xfrm>
            <a:off x="7040880" y="1600200"/>
            <a:ext cx="4599432" cy="3017520"/>
          </a:xfrm>
          <a:prstGeom prst="roundRect">
            <a:avLst>
              <a:gd name="adj" fmla="val 4242"/>
            </a:avLst>
          </a:prstGeom>
          <a:solidFill>
            <a:srgbClr val="0B1220"/>
          </a:solidFill>
          <a:ln w="25400">
            <a:solidFill>
              <a:srgbClr val="A855F7"/>
            </a:solidFill>
            <a:prstDash val="solid"/>
          </a:ln>
        </p:spPr>
      </p:sp>
      <p:sp>
        <p:nvSpPr>
          <p:cNvPr id="16" name="Shape 13"/>
          <p:cNvSpPr/>
          <p:nvPr/>
        </p:nvSpPr>
        <p:spPr>
          <a:xfrm>
            <a:off x="7498080" y="1828800"/>
            <a:ext cx="73152" cy="73152"/>
          </a:xfrm>
          <a:prstGeom prst="ellipse">
            <a:avLst/>
          </a:prstGeom>
          <a:solidFill>
            <a:srgbClr val="E879F9"/>
          </a:solidFill>
          <a:ln w="12700">
            <a:solidFill>
              <a:srgbClr val="E879F9"/>
            </a:solidFill>
            <a:prstDash val="solid"/>
          </a:ln>
        </p:spPr>
      </p:sp>
      <p:sp>
        <p:nvSpPr>
          <p:cNvPr id="17" name="Shape 14"/>
          <p:cNvSpPr/>
          <p:nvPr/>
        </p:nvSpPr>
        <p:spPr>
          <a:xfrm>
            <a:off x="7612380" y="1783080"/>
            <a:ext cx="73152" cy="73152"/>
          </a:xfrm>
          <a:prstGeom prst="ellipse">
            <a:avLst/>
          </a:prstGeom>
          <a:solidFill>
            <a:srgbClr val="C084FC"/>
          </a:solidFill>
          <a:ln w="12700">
            <a:solidFill>
              <a:srgbClr val="C084FC"/>
            </a:solidFill>
            <a:prstDash val="solid"/>
          </a:ln>
        </p:spPr>
      </p:sp>
      <p:sp>
        <p:nvSpPr>
          <p:cNvPr id="18" name="Shape 15"/>
          <p:cNvSpPr/>
          <p:nvPr/>
        </p:nvSpPr>
        <p:spPr>
          <a:xfrm>
            <a:off x="7726680" y="1847088"/>
            <a:ext cx="73152" cy="73152"/>
          </a:xfrm>
          <a:prstGeom prst="ellipse">
            <a:avLst/>
          </a:prstGeom>
          <a:solidFill>
            <a:srgbClr val="A78BFA"/>
          </a:solidFill>
          <a:ln w="12700">
            <a:solidFill>
              <a:srgbClr val="A78BFA"/>
            </a:solidFill>
            <a:prstDash val="solid"/>
          </a:ln>
        </p:spPr>
      </p:sp>
      <p:sp>
        <p:nvSpPr>
          <p:cNvPr id="19" name="Shape 16"/>
          <p:cNvSpPr/>
          <p:nvPr/>
        </p:nvSpPr>
        <p:spPr>
          <a:xfrm>
            <a:off x="7338060" y="1737360"/>
            <a:ext cx="594360" cy="594360"/>
          </a:xfrm>
          <a:prstGeom prst="chord">
            <a:avLst>
              <a:gd name="adj1" fmla="val 0"/>
              <a:gd name="adj2" fmla="val 10800000"/>
            </a:avLst>
          </a:prstGeom>
          <a:solidFill>
            <a:srgbClr val="2E1065"/>
          </a:solidFill>
          <a:ln w="38100">
            <a:solidFill>
              <a:srgbClr val="A855F7"/>
            </a:solidFill>
            <a:prstDash val="solid"/>
          </a:ln>
        </p:spPr>
      </p:sp>
      <p:sp>
        <p:nvSpPr>
          <p:cNvPr id="20" name="Shape 17"/>
          <p:cNvSpPr/>
          <p:nvPr/>
        </p:nvSpPr>
        <p:spPr>
          <a:xfrm>
            <a:off x="7437272" y="2034540"/>
            <a:ext cx="0" cy="73152"/>
          </a:xfrm>
          <a:prstGeom prst="line">
            <a:avLst/>
          </a:prstGeom>
          <a:noFill/>
          <a:ln w="12700">
            <a:solidFill>
              <a:srgbClr val="A78BFA"/>
            </a:solidFill>
            <a:prstDash val="solid"/>
          </a:ln>
        </p:spPr>
      </p:sp>
      <p:sp>
        <p:nvSpPr>
          <p:cNvPr id="21" name="Shape 18"/>
          <p:cNvSpPr/>
          <p:nvPr/>
        </p:nvSpPr>
        <p:spPr>
          <a:xfrm>
            <a:off x="7536485" y="2034540"/>
            <a:ext cx="0" cy="109728"/>
          </a:xfrm>
          <a:prstGeom prst="line">
            <a:avLst/>
          </a:prstGeom>
          <a:noFill/>
          <a:ln w="12700">
            <a:solidFill>
              <a:srgbClr val="A78BFA"/>
            </a:solidFill>
            <a:prstDash val="solid"/>
          </a:ln>
        </p:spPr>
      </p:sp>
      <p:sp>
        <p:nvSpPr>
          <p:cNvPr id="22" name="Shape 19"/>
          <p:cNvSpPr/>
          <p:nvPr/>
        </p:nvSpPr>
        <p:spPr>
          <a:xfrm>
            <a:off x="7635697" y="2034540"/>
            <a:ext cx="0" cy="146304"/>
          </a:xfrm>
          <a:prstGeom prst="line">
            <a:avLst/>
          </a:prstGeom>
          <a:noFill/>
          <a:ln w="12700">
            <a:solidFill>
              <a:srgbClr val="A78BFA"/>
            </a:solidFill>
            <a:prstDash val="solid"/>
          </a:ln>
        </p:spPr>
      </p:sp>
      <p:sp>
        <p:nvSpPr>
          <p:cNvPr id="23" name="Shape 20"/>
          <p:cNvSpPr/>
          <p:nvPr/>
        </p:nvSpPr>
        <p:spPr>
          <a:xfrm>
            <a:off x="7734910" y="2034540"/>
            <a:ext cx="0" cy="109728"/>
          </a:xfrm>
          <a:prstGeom prst="line">
            <a:avLst/>
          </a:prstGeom>
          <a:noFill/>
          <a:ln w="12700">
            <a:solidFill>
              <a:srgbClr val="A78BFA"/>
            </a:solidFill>
            <a:prstDash val="solid"/>
          </a:ln>
        </p:spPr>
      </p:sp>
      <p:sp>
        <p:nvSpPr>
          <p:cNvPr id="24" name="Shape 21"/>
          <p:cNvSpPr/>
          <p:nvPr/>
        </p:nvSpPr>
        <p:spPr>
          <a:xfrm>
            <a:off x="7834122" y="2034540"/>
            <a:ext cx="0" cy="73152"/>
          </a:xfrm>
          <a:prstGeom prst="line">
            <a:avLst/>
          </a:prstGeom>
          <a:noFill/>
          <a:ln w="12700">
            <a:solidFill>
              <a:srgbClr val="A78BFA"/>
            </a:solidFill>
            <a:prstDash val="solid"/>
          </a:ln>
        </p:spPr>
      </p:sp>
      <p:sp>
        <p:nvSpPr>
          <p:cNvPr id="25" name="Shape 22"/>
          <p:cNvSpPr/>
          <p:nvPr/>
        </p:nvSpPr>
        <p:spPr>
          <a:xfrm>
            <a:off x="7292340" y="2034540"/>
            <a:ext cx="685800" cy="0"/>
          </a:xfrm>
          <a:prstGeom prst="line">
            <a:avLst/>
          </a:prstGeom>
          <a:noFill/>
          <a:ln w="50800">
            <a:solidFill>
              <a:srgbClr val="C084FC"/>
            </a:solidFill>
            <a:prstDash val="solid"/>
          </a:ln>
        </p:spPr>
      </p:sp>
      <p:sp>
        <p:nvSpPr>
          <p:cNvPr id="26" name="Shape 23"/>
          <p:cNvSpPr/>
          <p:nvPr/>
        </p:nvSpPr>
        <p:spPr>
          <a:xfrm>
            <a:off x="7552944" y="2377440"/>
            <a:ext cx="64008" cy="64008"/>
          </a:xfrm>
          <a:prstGeom prst="line">
            <a:avLst/>
          </a:prstGeom>
          <a:noFill/>
          <a:ln w="63500">
            <a:solidFill>
              <a:srgbClr val="34D399"/>
            </a:solidFill>
            <a:prstDash val="solid"/>
          </a:ln>
        </p:spPr>
      </p:sp>
      <p:sp>
        <p:nvSpPr>
          <p:cNvPr id="27" name="Shape 24"/>
          <p:cNvSpPr/>
          <p:nvPr/>
        </p:nvSpPr>
        <p:spPr>
          <a:xfrm flipV="1">
            <a:off x="7616952" y="2304288"/>
            <a:ext cx="128016" cy="137160"/>
          </a:xfrm>
          <a:prstGeom prst="line">
            <a:avLst/>
          </a:prstGeom>
          <a:noFill/>
          <a:ln w="63500">
            <a:solidFill>
              <a:srgbClr val="34D399"/>
            </a:solidFill>
            <a:prstDash val="solid"/>
          </a:ln>
        </p:spPr>
      </p:sp>
      <p:sp>
        <p:nvSpPr>
          <p:cNvPr id="28" name="Text 25"/>
          <p:cNvSpPr/>
          <p:nvPr/>
        </p:nvSpPr>
        <p:spPr>
          <a:xfrm>
            <a:off x="8092440" y="1737360"/>
            <a:ext cx="2743200" cy="548640"/>
          </a:xfrm>
          <a:prstGeom prst="rect">
            <a:avLst/>
          </a:prstGeom>
          <a:noFill/>
          <a:ln/>
        </p:spPr>
        <p:txBody>
          <a:bodyPr wrap="square" rtlCol="0" anchor="ctr"/>
          <a:lstStyle/>
          <a:p>
            <a:pPr indent="0" marL="0">
              <a:buNone/>
            </a:pPr>
            <a:r>
              <a:rPr lang="en-US" sz="2000" b="1" dirty="0">
                <a:solidFill>
                  <a:srgbClr val="F5F3FF"/>
                </a:solidFill>
                <a:latin typeface="Arial" pitchFamily="34" charset="0"/>
                <a:ea typeface="Arial" pitchFamily="34" charset="-122"/>
                <a:cs typeface="Arial" pitchFamily="34" charset="-120"/>
              </a:rPr>
              <a:t>Vaglio</a:t>
            </a:r>
            <a:endParaRPr lang="en-US" sz="2000" dirty="0"/>
          </a:p>
        </p:txBody>
      </p:sp>
      <p:sp>
        <p:nvSpPr>
          <p:cNvPr id="29" name="Text 26"/>
          <p:cNvSpPr/>
          <p:nvPr/>
        </p:nvSpPr>
        <p:spPr>
          <a:xfrm>
            <a:off x="7269480" y="2514600"/>
            <a:ext cx="4206240" cy="2011680"/>
          </a:xfrm>
          <a:prstGeom prst="rect">
            <a:avLst/>
          </a:prstGeom>
          <a:noFill/>
          <a:ln/>
        </p:spPr>
        <p:txBody>
          <a:bodyPr wrap="square" rtlCol="0" anchor="t"/>
          <a:lstStyle/>
          <a:p>
            <a:pPr indent="0" marL="0">
              <a:buNone/>
            </a:pPr>
            <a:r>
              <a:rPr lang="en-US" sz="1050" dirty="0">
                <a:solidFill>
                  <a:srgbClr val="DDD6FE"/>
                </a:solidFill>
                <a:latin typeface="Arial" pitchFamily="34" charset="0"/>
                <a:ea typeface="Arial" pitchFamily="34" charset="-122"/>
                <a:cs typeface="Arial" pitchFamily="34" charset="-120"/>
              </a:rPr>
              <a:t>• reads the evidence, with citations</a:t>
            </a:r>
            <a:endParaRPr lang="en-US" sz="1050" dirty="0"/>
          </a:p>
          <a:p>
            <a:pPr indent="0" marL="0">
              <a:buNone/>
            </a:pPr>
            <a:r>
              <a:rPr lang="en-US" sz="1050" dirty="0">
                <a:solidFill>
                  <a:srgbClr val="DDD6FE"/>
                </a:solidFill>
                <a:latin typeface="Arial" pitchFamily="34" charset="0"/>
                <a:ea typeface="Arial" pitchFamily="34" charset="-122"/>
                <a:cs typeface="Arial" pitchFamily="34" charset="-120"/>
              </a:rPr>
              <a:t>• applies the plan's signed policies</a:t>
            </a:r>
            <a:endParaRPr lang="en-US" sz="1050" dirty="0"/>
          </a:p>
          <a:p>
            <a:pPr indent="0" marL="0">
              <a:buNone/>
            </a:pPr>
            <a:r>
              <a:rPr lang="en-US" sz="1050" dirty="0">
                <a:solidFill>
                  <a:srgbClr val="DDD6FE"/>
                </a:solidFill>
                <a:latin typeface="Arial" pitchFamily="34" charset="0"/>
                <a:ea typeface="Arial" pitchFamily="34" charset="-122"/>
                <a:cs typeface="Arial" pitchFamily="34" charset="-120"/>
              </a:rPr>
              <a:t>• proves the answer, or asks</a:t>
            </a:r>
            <a:endParaRPr lang="en-US" sz="1050" dirty="0"/>
          </a:p>
          <a:p>
            <a:pPr indent="0" marL="0">
              <a:buNone/>
            </a:pPr>
            <a:r>
              <a:rPr lang="en-US" sz="1050" dirty="0">
                <a:solidFill>
                  <a:srgbClr val="DDD6FE"/>
                </a:solidFill>
                <a:latin typeface="Arial" pitchFamily="34" charset="0"/>
                <a:ea typeface="Arial" pitchFamily="34" charset="-122"/>
                <a:cs typeface="Arial" pitchFamily="34" charset="-120"/>
              </a:rPr>
              <a:t>• the reviewers' console</a:t>
            </a:r>
            <a:endParaRPr lang="en-US" sz="1050" dirty="0"/>
          </a:p>
          <a:p>
            <a:pPr indent="0" marL="0">
              <a:buNone/>
            </a:pPr>
            <a:r>
              <a:rPr lang="en-US" sz="1050" dirty="0">
                <a:solidFill>
                  <a:srgbClr val="DDD6FE"/>
                </a:solidFill>
                <a:latin typeface="Arial" pitchFamily="34" charset="0"/>
                <a:ea typeface="Arial" pitchFamily="34" charset="-122"/>
                <a:cs typeface="Arial" pitchFamily="34" charset="-120"/>
              </a:rPr>
              <a:t>• the audit log, reports, replay</a:t>
            </a:r>
            <a:endParaRPr lang="en-US" sz="1050" dirty="0"/>
          </a:p>
          <a:p>
            <a:pPr indent="0" marL="0">
              <a:buNone/>
            </a:pPr>
            <a:r>
              <a:rPr lang="en-US" sz="1050" dirty="0">
                <a:solidFill>
                  <a:srgbClr val="DDD6FE"/>
                </a:solidFill>
                <a:latin typeface="Arial" pitchFamily="34" charset="0"/>
                <a:ea typeface="Arial" pitchFamily="34" charset="-122"/>
                <a:cs typeface="Arial" pitchFamily="34" charset="-120"/>
              </a:rPr>
              <a:t>• the policy editor and library</a:t>
            </a:r>
            <a:endParaRPr lang="en-US" sz="1050" dirty="0"/>
          </a:p>
        </p:txBody>
      </p:sp>
      <p:sp>
        <p:nvSpPr>
          <p:cNvPr id="30" name="Shape 27"/>
          <p:cNvSpPr/>
          <p:nvPr/>
        </p:nvSpPr>
        <p:spPr>
          <a:xfrm>
            <a:off x="2971800" y="2286000"/>
            <a:ext cx="640080" cy="0"/>
          </a:xfrm>
          <a:prstGeom prst="line">
            <a:avLst/>
          </a:prstGeom>
          <a:noFill/>
          <a:ln w="31750">
            <a:solidFill>
              <a:srgbClr val="2563EB"/>
            </a:solidFill>
            <a:prstDash val="solid"/>
            <a:tailEnd type="triangle"/>
          </a:ln>
        </p:spPr>
      </p:sp>
      <p:sp>
        <p:nvSpPr>
          <p:cNvPr id="31" name="Text 28"/>
          <p:cNvSpPr/>
          <p:nvPr/>
        </p:nvSpPr>
        <p:spPr>
          <a:xfrm>
            <a:off x="2926080" y="1965960"/>
            <a:ext cx="731520" cy="274320"/>
          </a:xfrm>
          <a:prstGeom prst="rect">
            <a:avLst/>
          </a:prstGeom>
          <a:noFill/>
          <a:ln/>
        </p:spPr>
        <p:txBody>
          <a:bodyPr wrap="square" rtlCol="0" anchor="ctr"/>
          <a:lstStyle/>
          <a:p>
            <a:pPr algn="ctr" indent="0" marL="0">
              <a:buNone/>
            </a:pPr>
            <a:r>
              <a:rPr lang="en-US" sz="850" dirty="0">
                <a:solidFill>
                  <a:srgbClr val="2563EB"/>
                </a:solidFill>
                <a:latin typeface="Arial" pitchFamily="34" charset="0"/>
                <a:ea typeface="Arial" pitchFamily="34" charset="-122"/>
                <a:cs typeface="Arial" pitchFamily="34" charset="-120"/>
              </a:rPr>
              <a:t>request</a:t>
            </a:r>
            <a:endParaRPr lang="en-US" sz="850" dirty="0"/>
          </a:p>
        </p:txBody>
      </p:sp>
      <p:sp>
        <p:nvSpPr>
          <p:cNvPr id="32" name="Shape 29"/>
          <p:cNvSpPr/>
          <p:nvPr/>
        </p:nvSpPr>
        <p:spPr>
          <a:xfrm flipH="1">
            <a:off x="2971800" y="2606040"/>
            <a:ext cx="640080" cy="0"/>
          </a:xfrm>
          <a:prstGeom prst="line">
            <a:avLst/>
          </a:prstGeom>
          <a:noFill/>
          <a:ln w="31750">
            <a:solidFill>
              <a:srgbClr val="0D9488"/>
            </a:solidFill>
            <a:prstDash val="solid"/>
            <a:tailEnd type="triangle"/>
          </a:ln>
        </p:spPr>
      </p:sp>
      <p:sp>
        <p:nvSpPr>
          <p:cNvPr id="33" name="Text 30"/>
          <p:cNvSpPr/>
          <p:nvPr/>
        </p:nvSpPr>
        <p:spPr>
          <a:xfrm>
            <a:off x="2926080" y="2651760"/>
            <a:ext cx="731520" cy="274320"/>
          </a:xfrm>
          <a:prstGeom prst="rect">
            <a:avLst/>
          </a:prstGeom>
          <a:noFill/>
          <a:ln/>
        </p:spPr>
        <p:txBody>
          <a:bodyPr wrap="square" rtlCol="0" anchor="ctr"/>
          <a:lstStyle/>
          <a:p>
            <a:pPr algn="ctr" indent="0" marL="0">
              <a:buNone/>
            </a:pPr>
            <a:r>
              <a:rPr lang="en-US" sz="850" dirty="0">
                <a:solidFill>
                  <a:srgbClr val="0D9488"/>
                </a:solidFill>
                <a:latin typeface="Arial" pitchFamily="34" charset="0"/>
                <a:ea typeface="Arial" pitchFamily="34" charset="-122"/>
                <a:cs typeface="Arial" pitchFamily="34" charset="-120"/>
              </a:rPr>
              <a:t>answer</a:t>
            </a:r>
            <a:endParaRPr lang="en-US" sz="850" dirty="0"/>
          </a:p>
        </p:txBody>
      </p:sp>
      <p:sp>
        <p:nvSpPr>
          <p:cNvPr id="34" name="Shape 31"/>
          <p:cNvSpPr/>
          <p:nvPr/>
        </p:nvSpPr>
        <p:spPr>
          <a:xfrm>
            <a:off x="6355080" y="2194560"/>
            <a:ext cx="640080" cy="0"/>
          </a:xfrm>
          <a:prstGeom prst="line">
            <a:avLst/>
          </a:prstGeom>
          <a:noFill/>
          <a:ln w="31750">
            <a:solidFill>
              <a:srgbClr val="7C3AED"/>
            </a:solidFill>
            <a:prstDash val="solid"/>
            <a:tailEnd type="triangle"/>
          </a:ln>
        </p:spPr>
      </p:sp>
      <p:sp>
        <p:nvSpPr>
          <p:cNvPr id="35" name="Text 32"/>
          <p:cNvSpPr/>
          <p:nvPr/>
        </p:nvSpPr>
        <p:spPr>
          <a:xfrm>
            <a:off x="6309360" y="1874520"/>
            <a:ext cx="731520" cy="274320"/>
          </a:xfrm>
          <a:prstGeom prst="rect">
            <a:avLst/>
          </a:prstGeom>
          <a:noFill/>
          <a:ln/>
        </p:spPr>
        <p:txBody>
          <a:bodyPr wrap="square" rtlCol="0" anchor="ctr"/>
          <a:lstStyle/>
          <a:p>
            <a:pPr algn="ctr" indent="0" marL="0">
              <a:buNone/>
            </a:pPr>
            <a:r>
              <a:rPr lang="en-US" sz="850" dirty="0">
                <a:solidFill>
                  <a:srgbClr val="7C3AED"/>
                </a:solidFill>
                <a:latin typeface="Arial" pitchFamily="34" charset="0"/>
                <a:ea typeface="Arial" pitchFamily="34" charset="-122"/>
                <a:cs typeface="Arial" pitchFamily="34" charset="-120"/>
              </a:rPr>
              <a:t>asks</a:t>
            </a:r>
            <a:endParaRPr lang="en-US" sz="850" dirty="0"/>
          </a:p>
        </p:txBody>
      </p:sp>
      <p:sp>
        <p:nvSpPr>
          <p:cNvPr id="36" name="Shape 33"/>
          <p:cNvSpPr/>
          <p:nvPr/>
        </p:nvSpPr>
        <p:spPr>
          <a:xfrm flipH="1">
            <a:off x="6355080" y="2651760"/>
            <a:ext cx="640080" cy="0"/>
          </a:xfrm>
          <a:prstGeom prst="line">
            <a:avLst/>
          </a:prstGeom>
          <a:noFill/>
          <a:ln w="31750">
            <a:solidFill>
              <a:srgbClr val="7C3AED"/>
            </a:solidFill>
            <a:prstDash val="solid"/>
            <a:tailEnd type="triangle"/>
          </a:ln>
        </p:spPr>
      </p:sp>
      <p:sp>
        <p:nvSpPr>
          <p:cNvPr id="37" name="Text 34"/>
          <p:cNvSpPr/>
          <p:nvPr/>
        </p:nvSpPr>
        <p:spPr>
          <a:xfrm>
            <a:off x="6309360" y="2697480"/>
            <a:ext cx="731520" cy="274320"/>
          </a:xfrm>
          <a:prstGeom prst="rect">
            <a:avLst/>
          </a:prstGeom>
          <a:noFill/>
          <a:ln/>
        </p:spPr>
        <p:txBody>
          <a:bodyPr wrap="square" rtlCol="0" anchor="ctr"/>
          <a:lstStyle/>
          <a:p>
            <a:pPr algn="ctr" indent="0" marL="0">
              <a:buNone/>
            </a:pPr>
            <a:r>
              <a:rPr lang="en-US" sz="850" dirty="0">
                <a:solidFill>
                  <a:srgbClr val="7C3AED"/>
                </a:solidFill>
                <a:latin typeface="Arial" pitchFamily="34" charset="0"/>
                <a:ea typeface="Arial" pitchFamily="34" charset="-122"/>
                <a:cs typeface="Arial" pitchFamily="34" charset="-120"/>
              </a:rPr>
              <a:t>decides</a:t>
            </a:r>
            <a:endParaRPr lang="en-US" sz="850" dirty="0"/>
          </a:p>
        </p:txBody>
      </p:sp>
      <p:sp>
        <p:nvSpPr>
          <p:cNvPr id="38" name="Shape 35"/>
          <p:cNvSpPr/>
          <p:nvPr/>
        </p:nvSpPr>
        <p:spPr>
          <a:xfrm>
            <a:off x="3657600" y="3429000"/>
            <a:ext cx="2651760" cy="1188720"/>
          </a:xfrm>
          <a:prstGeom prst="roundRect">
            <a:avLst>
              <a:gd name="adj" fmla="val 9231"/>
            </a:avLst>
          </a:prstGeom>
          <a:solidFill>
            <a:srgbClr val="F1F5F9"/>
          </a:solidFill>
          <a:ln w="19050">
            <a:solidFill>
              <a:srgbClr val="475569"/>
            </a:solidFill>
            <a:prstDash val="solid"/>
          </a:ln>
        </p:spPr>
      </p:sp>
      <p:sp>
        <p:nvSpPr>
          <p:cNvPr id="39" name="Text 36"/>
          <p:cNvSpPr/>
          <p:nvPr/>
        </p:nvSpPr>
        <p:spPr>
          <a:xfrm>
            <a:off x="3794760" y="3429000"/>
            <a:ext cx="2377440" cy="1188720"/>
          </a:xfrm>
          <a:prstGeom prst="rect">
            <a:avLst/>
          </a:prstGeom>
          <a:noFill/>
          <a:ln/>
        </p:spPr>
        <p:txBody>
          <a:bodyPr wrap="square" rtlCol="0" anchor="ctr"/>
          <a:lstStyle/>
          <a:p>
            <a:pPr indent="0" marL="0">
              <a:buNone/>
            </a:pPr>
            <a:r>
              <a:rPr lang="en-US" sz="1200" b="1" dirty="0">
                <a:solidFill>
                  <a:srgbClr val="475569"/>
                </a:solidFill>
                <a:latin typeface="Arial" pitchFamily="34" charset="0"/>
                <a:ea typeface="Arial" pitchFamily="34" charset="-122"/>
                <a:cs typeface="Arial" pitchFamily="34" charset="-120"/>
              </a:rPr>
              <a:t>The plan's systems</a:t>
            </a:r>
            <a:endParaRPr lang="en-US" sz="950" dirty="0"/>
          </a:p>
          <a:p>
            <a:pPr indent="0" marL="0">
              <a:buNone/>
            </a:pPr>
            <a:r>
              <a:rPr lang="en-US" sz="950" dirty="0">
                <a:solidFill>
                  <a:srgbClr val="0F172A"/>
                </a:solidFill>
                <a:latin typeface="Arial" pitchFamily="34" charset="0"/>
                <a:ea typeface="Arial" pitchFamily="34" charset="-122"/>
                <a:cs typeface="Arial" pitchFamily="34" charset="-120"/>
              </a:rPr>
              <a:t>appeals system (feed or CSV), sign-in (SSO)</a:t>
            </a:r>
            <a:endParaRPr lang="en-US" sz="950" dirty="0"/>
          </a:p>
        </p:txBody>
      </p:sp>
      <p:sp>
        <p:nvSpPr>
          <p:cNvPr id="40" name="Shape 37"/>
          <p:cNvSpPr/>
          <p:nvPr/>
        </p:nvSpPr>
        <p:spPr>
          <a:xfrm>
            <a:off x="6355080" y="4023360"/>
            <a:ext cx="640080" cy="0"/>
          </a:xfrm>
          <a:prstGeom prst="line">
            <a:avLst/>
          </a:prstGeom>
          <a:noFill/>
          <a:ln w="25400">
            <a:solidFill>
              <a:srgbClr val="475569"/>
            </a:solidFill>
            <a:prstDash val="solid"/>
            <a:tailEnd type="triangle"/>
          </a:ln>
        </p:spPr>
      </p:sp>
      <p:sp>
        <p:nvSpPr>
          <p:cNvPr id="41" name="Shape 38"/>
          <p:cNvSpPr/>
          <p:nvPr/>
        </p:nvSpPr>
        <p:spPr>
          <a:xfrm>
            <a:off x="548640" y="4983480"/>
            <a:ext cx="5486400" cy="868680"/>
          </a:xfrm>
          <a:prstGeom prst="roundRect">
            <a:avLst>
              <a:gd name="adj" fmla="val 12632"/>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2" name="Shape 39"/>
          <p:cNvSpPr/>
          <p:nvPr/>
        </p:nvSpPr>
        <p:spPr>
          <a:xfrm>
            <a:off x="658368" y="5148072"/>
            <a:ext cx="54864" cy="539496"/>
          </a:xfrm>
          <a:prstGeom prst="rect">
            <a:avLst/>
          </a:prstGeom>
          <a:solidFill>
            <a:srgbClr val="0D9488"/>
          </a:solidFill>
          <a:ln w="12700">
            <a:solidFill>
              <a:srgbClr val="0D9488"/>
            </a:solidFill>
            <a:prstDash val="solid"/>
          </a:ln>
        </p:spPr>
      </p:sp>
      <p:sp>
        <p:nvSpPr>
          <p:cNvPr id="43" name="Text 40"/>
          <p:cNvSpPr/>
          <p:nvPr/>
        </p:nvSpPr>
        <p:spPr>
          <a:xfrm>
            <a:off x="822960" y="5111496"/>
            <a:ext cx="5047488" cy="649224"/>
          </a:xfrm>
          <a:prstGeom prst="rect">
            <a:avLst/>
          </a:prstGeom>
          <a:noFill/>
          <a:ln/>
        </p:spPr>
        <p:txBody>
          <a:bodyPr wrap="square" rtlCol="0" anchor="t"/>
          <a:lstStyle/>
          <a:p>
            <a:pPr indent="0" marL="0">
              <a:spcAft>
                <a:spcPts val="300"/>
              </a:spcAft>
              <a:buNone/>
            </a:pPr>
            <a:r>
              <a:rPr lang="en-US" sz="950" b="1" dirty="0">
                <a:solidFill>
                  <a:srgbClr val="0D9488"/>
                </a:solidFill>
                <a:latin typeface="Arial" pitchFamily="34" charset="0"/>
                <a:ea typeface="Arial" pitchFamily="34" charset="-122"/>
                <a:cs typeface="Arial" pitchFamily="34" charset="-120"/>
              </a:rPr>
              <a:t>The PAS server </a:t>
            </a:r>
            <a:pPr indent="0" marL="0">
              <a:spcAft>
                <a:spcPts val="300"/>
              </a:spcAft>
              <a:buNone/>
            </a:pPr>
            <a:r>
              <a:rPr lang="en-US" sz="950" dirty="0">
                <a:solidFill>
                  <a:srgbClr val="475569"/>
                </a:solidFill>
                <a:latin typeface="Arial" pitchFamily="34" charset="0"/>
                <a:ea typeface="Arial" pitchFamily="34" charset="-122"/>
                <a:cs typeface="Arial" pitchFamily="34" charset="-120"/>
              </a:rPr>
              <a:t>speaks the standards providers use: it receives requests, asks for documents, answers status checks and notifies the doctor when a pended request is decided.</a:t>
            </a:r>
            <a:endParaRPr lang="en-US" sz="950" dirty="0"/>
          </a:p>
        </p:txBody>
      </p:sp>
      <p:sp>
        <p:nvSpPr>
          <p:cNvPr id="44" name="Shape 41"/>
          <p:cNvSpPr/>
          <p:nvPr/>
        </p:nvSpPr>
        <p:spPr>
          <a:xfrm>
            <a:off x="6172200" y="4983480"/>
            <a:ext cx="5468112" cy="868680"/>
          </a:xfrm>
          <a:prstGeom prst="roundRect">
            <a:avLst>
              <a:gd name="adj" fmla="val 12632"/>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5" name="Shape 42"/>
          <p:cNvSpPr/>
          <p:nvPr/>
        </p:nvSpPr>
        <p:spPr>
          <a:xfrm>
            <a:off x="6281928" y="5148072"/>
            <a:ext cx="54864" cy="539496"/>
          </a:xfrm>
          <a:prstGeom prst="rect">
            <a:avLst/>
          </a:prstGeom>
          <a:solidFill>
            <a:srgbClr val="7C3AED"/>
          </a:solidFill>
          <a:ln w="12700">
            <a:solidFill>
              <a:srgbClr val="7C3AED"/>
            </a:solidFill>
            <a:prstDash val="solid"/>
          </a:ln>
        </p:spPr>
      </p:sp>
      <p:sp>
        <p:nvSpPr>
          <p:cNvPr id="46" name="Text 43"/>
          <p:cNvSpPr/>
          <p:nvPr/>
        </p:nvSpPr>
        <p:spPr>
          <a:xfrm>
            <a:off x="6446520" y="5111496"/>
            <a:ext cx="5029200" cy="649224"/>
          </a:xfrm>
          <a:prstGeom prst="rect">
            <a:avLst/>
          </a:prstGeom>
          <a:noFill/>
          <a:ln/>
        </p:spPr>
        <p:txBody>
          <a:bodyPr wrap="square" rtlCol="0" anchor="t"/>
          <a:lstStyle/>
          <a:p>
            <a:pPr indent="0" marL="0">
              <a:spcAft>
                <a:spcPts val="300"/>
              </a:spcAft>
              <a:buNone/>
            </a:pPr>
            <a:r>
              <a:rPr lang="en-US" sz="950" b="1" dirty="0">
                <a:solidFill>
                  <a:srgbClr val="7C3AED"/>
                </a:solidFill>
                <a:latin typeface="Arial" pitchFamily="34" charset="0"/>
                <a:ea typeface="Arial" pitchFamily="34" charset="-122"/>
                <a:cs typeface="Arial" pitchFamily="34" charset="-120"/>
              </a:rPr>
              <a:t>Perfuse never needs Vaglio. </a:t>
            </a:r>
            <a:pPr indent="0" marL="0">
              <a:spcAft>
                <a:spcPts val="300"/>
              </a:spcAft>
              <a:buNone/>
            </a:pPr>
            <a:r>
              <a:rPr lang="en-US" sz="950" dirty="0">
                <a:solidFill>
                  <a:srgbClr val="475569"/>
                </a:solidFill>
                <a:latin typeface="Arial" pitchFamily="34" charset="0"/>
                <a:ea typeface="Arial" pitchFamily="34" charset="-122"/>
                <a:cs typeface="Arial" pitchFamily="34" charset="-120"/>
              </a:rPr>
              <a:t>It makes its own decisions with simple rules and a reviewer queue. Vaglio is an optional engine a plan adds behind it.</a:t>
            </a:r>
            <a:endParaRPr lang="en-US" sz="950" dirty="0"/>
          </a:p>
        </p:txBody>
      </p:sp>
      <p:sp>
        <p:nvSpPr>
          <p:cNvPr id="47" name="Shape 44"/>
          <p:cNvSpPr/>
          <p:nvPr/>
        </p:nvSpPr>
        <p:spPr>
          <a:xfrm>
            <a:off x="548640" y="3429000"/>
            <a:ext cx="2377440" cy="1188720"/>
          </a:xfrm>
          <a:prstGeom prst="roundRect">
            <a:avLst>
              <a:gd name="adj" fmla="val 9231"/>
            </a:avLst>
          </a:prstGeom>
          <a:solidFill>
            <a:srgbClr val="FAE8FF"/>
          </a:solidFill>
          <a:ln w="19050">
            <a:solidFill>
              <a:srgbClr val="C026D3"/>
            </a:solidFill>
            <a:prstDash val="solid"/>
          </a:ln>
        </p:spPr>
      </p:sp>
      <p:sp>
        <p:nvSpPr>
          <p:cNvPr id="48" name="Text 45"/>
          <p:cNvSpPr/>
          <p:nvPr/>
        </p:nvSpPr>
        <p:spPr>
          <a:xfrm>
            <a:off x="685800" y="3429000"/>
            <a:ext cx="2103120" cy="1188720"/>
          </a:xfrm>
          <a:prstGeom prst="rect">
            <a:avLst/>
          </a:prstGeom>
          <a:noFill/>
          <a:ln/>
        </p:spPr>
        <p:txBody>
          <a:bodyPr wrap="square" rtlCol="0" anchor="ctr"/>
          <a:lstStyle/>
          <a:p>
            <a:pPr indent="0" marL="0">
              <a:buNone/>
            </a:pPr>
            <a:r>
              <a:rPr lang="en-US" sz="1200" b="1" dirty="0">
                <a:solidFill>
                  <a:srgbClr val="C026D3"/>
                </a:solidFill>
                <a:latin typeface="Arial" pitchFamily="34" charset="0"/>
                <a:ea typeface="Arial" pitchFamily="34" charset="-122"/>
                <a:cs typeface="Arial" pitchFamily="34" charset="-120"/>
              </a:rPr>
              <a:t>Reviewers and clinicians</a:t>
            </a:r>
            <a:endParaRPr lang="en-US" sz="950" dirty="0"/>
          </a:p>
          <a:p>
            <a:pPr indent="0" marL="0">
              <a:buNone/>
            </a:pPr>
            <a:r>
              <a:rPr lang="en-US" sz="950" dirty="0">
                <a:solidFill>
                  <a:srgbClr val="0F172A"/>
                </a:solidFill>
                <a:latin typeface="Arial" pitchFamily="34" charset="0"/>
                <a:ea typeface="Arial" pitchFamily="34" charset="-122"/>
                <a:cs typeface="Arial" pitchFamily="34" charset="-120"/>
              </a:rPr>
              <a:t>use Vaglio's console in a web browser</a:t>
            </a:r>
            <a:endParaRPr lang="en-US" sz="950" dirty="0"/>
          </a:p>
        </p:txBody>
      </p:sp>
      <p:sp>
        <p:nvSpPr>
          <p:cNvPr id="49" name="Shape 46"/>
          <p:cNvSpPr/>
          <p:nvPr/>
        </p:nvSpPr>
        <p:spPr>
          <a:xfrm>
            <a:off x="1737360" y="4617720"/>
            <a:ext cx="0" cy="137160"/>
          </a:xfrm>
          <a:prstGeom prst="line">
            <a:avLst/>
          </a:prstGeom>
          <a:noFill/>
          <a:ln w="25400">
            <a:solidFill>
              <a:srgbClr val="C026D3"/>
            </a:solidFill>
            <a:prstDash val="solid"/>
          </a:ln>
        </p:spPr>
      </p:sp>
      <p:sp>
        <p:nvSpPr>
          <p:cNvPr id="50" name="Shape 47"/>
          <p:cNvSpPr/>
          <p:nvPr/>
        </p:nvSpPr>
        <p:spPr>
          <a:xfrm>
            <a:off x="1737360" y="4754880"/>
            <a:ext cx="7589520" cy="0"/>
          </a:xfrm>
          <a:prstGeom prst="line">
            <a:avLst/>
          </a:prstGeom>
          <a:noFill/>
          <a:ln w="25400">
            <a:solidFill>
              <a:srgbClr val="C026D3"/>
            </a:solidFill>
            <a:prstDash val="solid"/>
          </a:ln>
        </p:spPr>
      </p:sp>
      <p:sp>
        <p:nvSpPr>
          <p:cNvPr id="51" name="Shape 48"/>
          <p:cNvSpPr/>
          <p:nvPr/>
        </p:nvSpPr>
        <p:spPr>
          <a:xfrm flipV="1">
            <a:off x="9326880" y="4636008"/>
            <a:ext cx="0" cy="118872"/>
          </a:xfrm>
          <a:prstGeom prst="line">
            <a:avLst/>
          </a:prstGeom>
          <a:noFill/>
          <a:ln w="25400">
            <a:solidFill>
              <a:srgbClr val="C026D3"/>
            </a:solidFill>
            <a:prstDash val="solid"/>
            <a:tailEnd type="triangle"/>
          </a:ln>
        </p:spPr>
      </p:sp>
      <p:sp>
        <p:nvSpPr>
          <p:cNvPr id="52" name="Text 49"/>
          <p:cNvSpPr/>
          <p:nvPr/>
        </p:nvSpPr>
        <p:spPr>
          <a:xfrm>
            <a:off x="4206240" y="4754880"/>
            <a:ext cx="822960" cy="274320"/>
          </a:xfrm>
          <a:prstGeom prst="rect">
            <a:avLst/>
          </a:prstGeom>
          <a:noFill/>
          <a:ln/>
        </p:spPr>
        <p:txBody>
          <a:bodyPr wrap="square" rtlCol="0" anchor="ctr"/>
          <a:lstStyle/>
          <a:p>
            <a:pPr algn="ctr" indent="0" marL="0">
              <a:buNone/>
            </a:pPr>
            <a:r>
              <a:rPr lang="en-US" sz="850" dirty="0">
                <a:solidFill>
                  <a:srgbClr val="C026D3"/>
                </a:solidFill>
                <a:latin typeface="Arial" pitchFamily="34" charset="0"/>
                <a:ea typeface="Arial" pitchFamily="34" charset="-122"/>
                <a:cs typeface="Arial" pitchFamily="34" charset="-120"/>
              </a:rPr>
              <a:t>console</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SECURITY AND PRIVACY</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Built for patient data</a:t>
            </a:r>
            <a:endParaRPr lang="en-US" sz="2400" dirty="0"/>
          </a:p>
        </p:txBody>
      </p:sp>
      <p:sp>
        <p:nvSpPr>
          <p:cNvPr id="6" name="Text 4"/>
          <p:cNvSpPr/>
          <p:nvPr/>
        </p:nvSpPr>
        <p:spPr>
          <a:xfrm>
            <a:off x="548640" y="1033272"/>
            <a:ext cx="11155680" cy="411480"/>
          </a:xfrm>
          <a:prstGeom prst="rect">
            <a:avLst/>
          </a:prstGeom>
          <a:noFill/>
          <a:ln/>
        </p:spPr>
        <p:txBody>
          <a:bodyPr wrap="square" rtlCol="0" anchor="ctr"/>
          <a:lstStyle/>
          <a:p>
            <a:pPr indent="0" marL="0">
              <a:buNone/>
            </a:pPr>
            <a:r>
              <a:rPr lang="en-US" sz="1200" dirty="0">
                <a:solidFill>
                  <a:srgbClr val="475569"/>
                </a:solidFill>
                <a:latin typeface="Arial" pitchFamily="34" charset="0"/>
                <a:ea typeface="Arial" pitchFamily="34" charset="-122"/>
                <a:cs typeface="Arial" pitchFamily="34" charset="-120"/>
              </a:rPr>
              <a:t>Vaglio runs on the plan's own computers. Nothing is sent to BioDream.</a:t>
            </a:r>
            <a:endParaRPr lang="en-US" sz="1200" dirty="0"/>
          </a:p>
        </p:txBody>
      </p:sp>
      <p:pic>
        <p:nvPicPr>
          <p:cNvPr id="7"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8" name="Shape 5"/>
          <p:cNvSpPr/>
          <p:nvPr/>
        </p:nvSpPr>
        <p:spPr>
          <a:xfrm>
            <a:off x="548640" y="6419088"/>
            <a:ext cx="11091672" cy="0"/>
          </a:xfrm>
          <a:prstGeom prst="line">
            <a:avLst/>
          </a:prstGeom>
          <a:noFill/>
          <a:ln w="9525">
            <a:solidFill>
              <a:srgbClr val="CBD5E1"/>
            </a:solidFill>
            <a:prstDash val="solid"/>
          </a:ln>
        </p:spPr>
      </p:sp>
      <p:sp>
        <p:nvSpPr>
          <p:cNvPr id="9" name="Text 6"/>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10" name="Text 7"/>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17 / 18</a:t>
            </a:r>
            <a:endParaRPr lang="en-US" sz="800" dirty="0"/>
          </a:p>
        </p:txBody>
      </p:sp>
      <p:sp>
        <p:nvSpPr>
          <p:cNvPr id="11" name="Shape 8"/>
          <p:cNvSpPr/>
          <p:nvPr/>
        </p:nvSpPr>
        <p:spPr>
          <a:xfrm>
            <a:off x="758952" y="1691640"/>
            <a:ext cx="329184" cy="365760"/>
          </a:xfrm>
          <a:prstGeom prst="blockArc">
            <a:avLst>
              <a:gd name="adj1" fmla="val 10800000"/>
              <a:gd name="adj2" fmla="val 0"/>
              <a:gd name="adj3" fmla="val 14000"/>
            </a:avLst>
          </a:prstGeom>
          <a:solidFill>
            <a:srgbClr val="7C3AED"/>
          </a:solidFill>
          <a:ln w="12700">
            <a:solidFill>
              <a:srgbClr val="7C3AED"/>
            </a:solidFill>
            <a:prstDash val="solid"/>
          </a:ln>
        </p:spPr>
      </p:sp>
      <p:sp>
        <p:nvSpPr>
          <p:cNvPr id="12" name="Shape 9"/>
          <p:cNvSpPr/>
          <p:nvPr/>
        </p:nvSpPr>
        <p:spPr>
          <a:xfrm>
            <a:off x="685800" y="1874520"/>
            <a:ext cx="475488" cy="347472"/>
          </a:xfrm>
          <a:prstGeom prst="roundRect">
            <a:avLst>
              <a:gd name="adj" fmla="val 15789"/>
            </a:avLst>
          </a:prstGeom>
          <a:solidFill>
            <a:srgbClr val="7C3AED"/>
          </a:solidFill>
          <a:ln w="12700">
            <a:solidFill>
              <a:srgbClr val="7C3AED"/>
            </a:solidFill>
            <a:prstDash val="solid"/>
          </a:ln>
        </p:spPr>
      </p:sp>
      <p:sp>
        <p:nvSpPr>
          <p:cNvPr id="13" name="Shape 10"/>
          <p:cNvSpPr/>
          <p:nvPr/>
        </p:nvSpPr>
        <p:spPr>
          <a:xfrm>
            <a:off x="877824" y="1984248"/>
            <a:ext cx="91440" cy="91440"/>
          </a:xfrm>
          <a:prstGeom prst="ellipse">
            <a:avLst/>
          </a:prstGeom>
          <a:solidFill>
            <a:srgbClr val="FFFFFF"/>
          </a:solidFill>
          <a:ln w="12700">
            <a:solidFill>
              <a:srgbClr val="FFFFFF"/>
            </a:solidFill>
            <a:prstDash val="solid"/>
          </a:ln>
        </p:spPr>
      </p:sp>
      <p:sp>
        <p:nvSpPr>
          <p:cNvPr id="14" name="Shape 11"/>
          <p:cNvSpPr/>
          <p:nvPr/>
        </p:nvSpPr>
        <p:spPr>
          <a:xfrm>
            <a:off x="1371600" y="164592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5" name="Shape 12"/>
          <p:cNvSpPr/>
          <p:nvPr/>
        </p:nvSpPr>
        <p:spPr>
          <a:xfrm>
            <a:off x="1481328" y="1810512"/>
            <a:ext cx="54864" cy="603504"/>
          </a:xfrm>
          <a:prstGeom prst="rect">
            <a:avLst/>
          </a:prstGeom>
          <a:solidFill>
            <a:srgbClr val="7C3AED"/>
          </a:solidFill>
          <a:ln w="12700">
            <a:solidFill>
              <a:srgbClr val="7C3AED"/>
            </a:solidFill>
            <a:prstDash val="solid"/>
          </a:ln>
        </p:spPr>
      </p:sp>
      <p:sp>
        <p:nvSpPr>
          <p:cNvPr id="16" name="Text 13"/>
          <p:cNvSpPr/>
          <p:nvPr/>
        </p:nvSpPr>
        <p:spPr>
          <a:xfrm>
            <a:off x="1645920" y="1773936"/>
            <a:ext cx="4590288" cy="347472"/>
          </a:xfrm>
          <a:prstGeom prst="rect">
            <a:avLst/>
          </a:prstGeom>
          <a:noFill/>
          <a:ln/>
        </p:spPr>
        <p:txBody>
          <a:bodyPr wrap="square" rtlCol="0" anchor="t"/>
          <a:lstStyle/>
          <a:p>
            <a:pPr indent="0" marL="0">
              <a:buNone/>
            </a:pPr>
            <a:r>
              <a:rPr lang="en-US" sz="1100" b="1" dirty="0">
                <a:solidFill>
                  <a:srgbClr val="7C3AED"/>
                </a:solidFill>
                <a:latin typeface="Arial" pitchFamily="34" charset="0"/>
                <a:ea typeface="Arial" pitchFamily="34" charset="-122"/>
                <a:cs typeface="Arial" pitchFamily="34" charset="-120"/>
              </a:rPr>
              <a:t>On the plan's own servers</a:t>
            </a:r>
            <a:endParaRPr lang="en-US" sz="1100" dirty="0"/>
          </a:p>
        </p:txBody>
      </p:sp>
      <p:sp>
        <p:nvSpPr>
          <p:cNvPr id="17" name="Text 14"/>
          <p:cNvSpPr/>
          <p:nvPr/>
        </p:nvSpPr>
        <p:spPr>
          <a:xfrm>
            <a:off x="1645920" y="204825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One program, run by the plan. Patient records stay in a folder only that program's owner can read; it refuses to start otherwise.</a:t>
            </a:r>
            <a:endParaRPr lang="en-US" sz="920" dirty="0"/>
          </a:p>
        </p:txBody>
      </p:sp>
      <p:sp>
        <p:nvSpPr>
          <p:cNvPr id="18" name="Shape 15"/>
          <p:cNvSpPr/>
          <p:nvPr/>
        </p:nvSpPr>
        <p:spPr>
          <a:xfrm>
            <a:off x="6537960" y="164592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9" name="Shape 16"/>
          <p:cNvSpPr/>
          <p:nvPr/>
        </p:nvSpPr>
        <p:spPr>
          <a:xfrm>
            <a:off x="6647688" y="1810512"/>
            <a:ext cx="54864" cy="603504"/>
          </a:xfrm>
          <a:prstGeom prst="rect">
            <a:avLst/>
          </a:prstGeom>
          <a:solidFill>
            <a:srgbClr val="2563EB"/>
          </a:solidFill>
          <a:ln w="12700">
            <a:solidFill>
              <a:srgbClr val="2563EB"/>
            </a:solidFill>
            <a:prstDash val="solid"/>
          </a:ln>
        </p:spPr>
      </p:sp>
      <p:sp>
        <p:nvSpPr>
          <p:cNvPr id="20" name="Text 17"/>
          <p:cNvSpPr/>
          <p:nvPr/>
        </p:nvSpPr>
        <p:spPr>
          <a:xfrm>
            <a:off x="6812280" y="1773936"/>
            <a:ext cx="4590288" cy="347472"/>
          </a:xfrm>
          <a:prstGeom prst="rect">
            <a:avLst/>
          </a:prstGeom>
          <a:noFill/>
          <a:ln/>
        </p:spPr>
        <p:txBody>
          <a:bodyPr wrap="square" rtlCol="0" anchor="t"/>
          <a:lstStyle/>
          <a:p>
            <a:pPr indent="0" marL="0">
              <a:buNone/>
            </a:pPr>
            <a:r>
              <a:rPr lang="en-US" sz="1100" b="1" dirty="0">
                <a:solidFill>
                  <a:srgbClr val="2563EB"/>
                </a:solidFill>
                <a:latin typeface="Arial" pitchFamily="34" charset="0"/>
                <a:ea typeface="Arial" pitchFamily="34" charset="-122"/>
                <a:cs typeface="Arial" pitchFamily="34" charset="-120"/>
              </a:rPr>
              <a:t>Encrypted off this machine</a:t>
            </a:r>
            <a:endParaRPr lang="en-US" sz="1100" dirty="0"/>
          </a:p>
        </p:txBody>
      </p:sp>
      <p:sp>
        <p:nvSpPr>
          <p:cNvPr id="21" name="Text 18"/>
          <p:cNvSpPr/>
          <p:nvPr/>
        </p:nvSpPr>
        <p:spPr>
          <a:xfrm>
            <a:off x="6812280" y="204825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Anywhere but the local computer, it requires HTTPS and refuses requests addressed to any other name.</a:t>
            </a:r>
            <a:endParaRPr lang="en-US" sz="920" dirty="0"/>
          </a:p>
        </p:txBody>
      </p:sp>
      <p:sp>
        <p:nvSpPr>
          <p:cNvPr id="22" name="Shape 19"/>
          <p:cNvSpPr/>
          <p:nvPr/>
        </p:nvSpPr>
        <p:spPr>
          <a:xfrm>
            <a:off x="1371600" y="269748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3" name="Shape 20"/>
          <p:cNvSpPr/>
          <p:nvPr/>
        </p:nvSpPr>
        <p:spPr>
          <a:xfrm>
            <a:off x="1481328" y="2862072"/>
            <a:ext cx="54864" cy="603504"/>
          </a:xfrm>
          <a:prstGeom prst="rect">
            <a:avLst/>
          </a:prstGeom>
          <a:solidFill>
            <a:srgbClr val="0D9488"/>
          </a:solidFill>
          <a:ln w="12700">
            <a:solidFill>
              <a:srgbClr val="0D9488"/>
            </a:solidFill>
            <a:prstDash val="solid"/>
          </a:ln>
        </p:spPr>
      </p:sp>
      <p:sp>
        <p:nvSpPr>
          <p:cNvPr id="24" name="Text 21"/>
          <p:cNvSpPr/>
          <p:nvPr/>
        </p:nvSpPr>
        <p:spPr>
          <a:xfrm>
            <a:off x="1645920" y="2825496"/>
            <a:ext cx="4590288" cy="347472"/>
          </a:xfrm>
          <a:prstGeom prst="rect">
            <a:avLst/>
          </a:prstGeom>
          <a:noFill/>
          <a:ln/>
        </p:spPr>
        <p:txBody>
          <a:bodyPr wrap="square" rtlCol="0" anchor="t"/>
          <a:lstStyle/>
          <a:p>
            <a:pPr indent="0" marL="0">
              <a:buNone/>
            </a:pPr>
            <a:r>
              <a:rPr lang="en-US" sz="1100" b="1" dirty="0">
                <a:solidFill>
                  <a:srgbClr val="0D9488"/>
                </a:solidFill>
                <a:latin typeface="Arial" pitchFamily="34" charset="0"/>
                <a:ea typeface="Arial" pitchFamily="34" charset="-122"/>
                <a:cs typeface="Arial" pitchFamily="34" charset="-120"/>
              </a:rPr>
              <a:t>Who may do what</a:t>
            </a:r>
            <a:endParaRPr lang="en-US" sz="1100" dirty="0"/>
          </a:p>
        </p:txBody>
      </p:sp>
      <p:sp>
        <p:nvSpPr>
          <p:cNvPr id="25" name="Text 22"/>
          <p:cNvSpPr/>
          <p:nvPr/>
        </p:nvSpPr>
        <p:spPr>
          <a:xfrm>
            <a:off x="1645920" y="309981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Viewers read; reviewers decide; admins manage. Narrower scopes: write drafts, read the log, record appeals, see one policy's cases.</a:t>
            </a:r>
            <a:endParaRPr lang="en-US" sz="920" dirty="0"/>
          </a:p>
        </p:txBody>
      </p:sp>
      <p:sp>
        <p:nvSpPr>
          <p:cNvPr id="26" name="Shape 23"/>
          <p:cNvSpPr/>
          <p:nvPr/>
        </p:nvSpPr>
        <p:spPr>
          <a:xfrm>
            <a:off x="6537960" y="269748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27" name="Shape 24"/>
          <p:cNvSpPr/>
          <p:nvPr/>
        </p:nvSpPr>
        <p:spPr>
          <a:xfrm>
            <a:off x="6647688" y="2862072"/>
            <a:ext cx="54864" cy="603504"/>
          </a:xfrm>
          <a:prstGeom prst="rect">
            <a:avLst/>
          </a:prstGeom>
          <a:solidFill>
            <a:srgbClr val="059669"/>
          </a:solidFill>
          <a:ln w="12700">
            <a:solidFill>
              <a:srgbClr val="059669"/>
            </a:solidFill>
            <a:prstDash val="solid"/>
          </a:ln>
        </p:spPr>
      </p:sp>
      <p:sp>
        <p:nvSpPr>
          <p:cNvPr id="28" name="Text 25"/>
          <p:cNvSpPr/>
          <p:nvPr/>
        </p:nvSpPr>
        <p:spPr>
          <a:xfrm>
            <a:off x="6812280" y="2825496"/>
            <a:ext cx="4590288" cy="347472"/>
          </a:xfrm>
          <a:prstGeom prst="rect">
            <a:avLst/>
          </a:prstGeom>
          <a:noFill/>
          <a:ln/>
        </p:spPr>
        <p:txBody>
          <a:bodyPr wrap="square" rtlCol="0" anchor="t"/>
          <a:lstStyle/>
          <a:p>
            <a:pPr indent="0" marL="0">
              <a:buNone/>
            </a:pPr>
            <a:r>
              <a:rPr lang="en-US" sz="1100" b="1" dirty="0">
                <a:solidFill>
                  <a:srgbClr val="059669"/>
                </a:solidFill>
                <a:latin typeface="Arial" pitchFamily="34" charset="0"/>
                <a:ea typeface="Arial" pitchFamily="34" charset="-122"/>
                <a:cs typeface="Arial" pitchFamily="34" charset="-120"/>
              </a:rPr>
              <a:t>Single sign-on</a:t>
            </a:r>
            <a:endParaRPr lang="en-US" sz="1100" dirty="0"/>
          </a:p>
        </p:txBody>
      </p:sp>
      <p:sp>
        <p:nvSpPr>
          <p:cNvPr id="29" name="Text 26"/>
          <p:cNvSpPr/>
          <p:nvPr/>
        </p:nvSpPr>
        <p:spPr>
          <a:xfrm>
            <a:off x="6812280" y="309981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Sign in with the plan's identity provider (OpenID Connect). It proves who someone is; the plan's accounts in Vaglio say what they may do.</a:t>
            </a:r>
            <a:endParaRPr lang="en-US" sz="920" dirty="0"/>
          </a:p>
        </p:txBody>
      </p:sp>
      <p:sp>
        <p:nvSpPr>
          <p:cNvPr id="30" name="Shape 27"/>
          <p:cNvSpPr/>
          <p:nvPr/>
        </p:nvSpPr>
        <p:spPr>
          <a:xfrm>
            <a:off x="1371600" y="374904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31" name="Shape 28"/>
          <p:cNvSpPr/>
          <p:nvPr/>
        </p:nvSpPr>
        <p:spPr>
          <a:xfrm>
            <a:off x="1481328" y="3913632"/>
            <a:ext cx="54864" cy="603504"/>
          </a:xfrm>
          <a:prstGeom prst="rect">
            <a:avLst/>
          </a:prstGeom>
          <a:solidFill>
            <a:srgbClr val="D97706"/>
          </a:solidFill>
          <a:ln w="12700">
            <a:solidFill>
              <a:srgbClr val="D97706"/>
            </a:solidFill>
            <a:prstDash val="solid"/>
          </a:ln>
        </p:spPr>
      </p:sp>
      <p:sp>
        <p:nvSpPr>
          <p:cNvPr id="32" name="Text 29"/>
          <p:cNvSpPr/>
          <p:nvPr/>
        </p:nvSpPr>
        <p:spPr>
          <a:xfrm>
            <a:off x="1645920" y="3877056"/>
            <a:ext cx="4590288" cy="347472"/>
          </a:xfrm>
          <a:prstGeom prst="rect">
            <a:avLst/>
          </a:prstGeom>
          <a:noFill/>
          <a:ln/>
        </p:spPr>
        <p:txBody>
          <a:bodyPr wrap="square" rtlCol="0" anchor="t"/>
          <a:lstStyle/>
          <a:p>
            <a:pPr indent="0" marL="0">
              <a:buNone/>
            </a:pPr>
            <a:r>
              <a:rPr lang="en-US" sz="1100" b="1" dirty="0">
                <a:solidFill>
                  <a:srgbClr val="D97706"/>
                </a:solidFill>
                <a:latin typeface="Arial" pitchFamily="34" charset="0"/>
                <a:ea typeface="Arial" pitchFamily="34" charset="-122"/>
                <a:cs typeface="Arial" pitchFamily="34" charset="-120"/>
              </a:rPr>
              <a:t>Sessions and passwords</a:t>
            </a:r>
            <a:endParaRPr lang="en-US" sz="1100" dirty="0"/>
          </a:p>
        </p:txBody>
      </p:sp>
      <p:sp>
        <p:nvSpPr>
          <p:cNvPr id="33" name="Text 30"/>
          <p:cNvSpPr/>
          <p:nvPr/>
        </p:nvSpPr>
        <p:spPr>
          <a:xfrm>
            <a:off x="1645920" y="415137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Sessions end after 30 minutes idle or 12 hours. Five wrong passwords lock a name for 15 minutes.</a:t>
            </a:r>
            <a:endParaRPr lang="en-US" sz="920" dirty="0"/>
          </a:p>
        </p:txBody>
      </p:sp>
      <p:sp>
        <p:nvSpPr>
          <p:cNvPr id="34" name="Shape 31"/>
          <p:cNvSpPr/>
          <p:nvPr/>
        </p:nvSpPr>
        <p:spPr>
          <a:xfrm>
            <a:off x="6537960" y="374904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35" name="Shape 32"/>
          <p:cNvSpPr/>
          <p:nvPr/>
        </p:nvSpPr>
        <p:spPr>
          <a:xfrm>
            <a:off x="6647688" y="3913632"/>
            <a:ext cx="54864" cy="603504"/>
          </a:xfrm>
          <a:prstGeom prst="rect">
            <a:avLst/>
          </a:prstGeom>
          <a:solidFill>
            <a:srgbClr val="DC2626"/>
          </a:solidFill>
          <a:ln w="12700">
            <a:solidFill>
              <a:srgbClr val="DC2626"/>
            </a:solidFill>
            <a:prstDash val="solid"/>
          </a:ln>
        </p:spPr>
      </p:sp>
      <p:sp>
        <p:nvSpPr>
          <p:cNvPr id="36" name="Text 33"/>
          <p:cNvSpPr/>
          <p:nvPr/>
        </p:nvSpPr>
        <p:spPr>
          <a:xfrm>
            <a:off x="6812280" y="3877056"/>
            <a:ext cx="4590288" cy="347472"/>
          </a:xfrm>
          <a:prstGeom prst="rect">
            <a:avLst/>
          </a:prstGeom>
          <a:noFill/>
          <a:ln/>
        </p:spPr>
        <p:txBody>
          <a:bodyPr wrap="square" rtlCol="0" anchor="t"/>
          <a:lstStyle/>
          <a:p>
            <a:pPr indent="0" marL="0">
              <a:buNone/>
            </a:pPr>
            <a:r>
              <a:rPr lang="en-US" sz="1100" b="1" dirty="0">
                <a:solidFill>
                  <a:srgbClr val="DC2626"/>
                </a:solidFill>
                <a:latin typeface="Arial" pitchFamily="34" charset="0"/>
                <a:ea typeface="Arial" pitchFamily="34" charset="-122"/>
                <a:cs typeface="Arial" pitchFamily="34" charset="-120"/>
              </a:rPr>
              <a:t>Every read is recorded</a:t>
            </a:r>
            <a:endParaRPr lang="en-US" sz="1100" dirty="0"/>
          </a:p>
        </p:txBody>
      </p:sp>
      <p:sp>
        <p:nvSpPr>
          <p:cNvPr id="37" name="Text 34"/>
          <p:cNvSpPr/>
          <p:nvPr/>
        </p:nvSpPr>
        <p:spPr>
          <a:xfrm>
            <a:off x="6812280" y="415137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Opening a case is logged, as is every decision, sign-in and account change.</a:t>
            </a:r>
            <a:endParaRPr lang="en-US" sz="920" dirty="0"/>
          </a:p>
        </p:txBody>
      </p:sp>
      <p:sp>
        <p:nvSpPr>
          <p:cNvPr id="38" name="Shape 35"/>
          <p:cNvSpPr/>
          <p:nvPr/>
        </p:nvSpPr>
        <p:spPr>
          <a:xfrm>
            <a:off x="1371600" y="480060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39" name="Shape 36"/>
          <p:cNvSpPr/>
          <p:nvPr/>
        </p:nvSpPr>
        <p:spPr>
          <a:xfrm>
            <a:off x="1481328" y="4965192"/>
            <a:ext cx="54864" cy="603504"/>
          </a:xfrm>
          <a:prstGeom prst="rect">
            <a:avLst/>
          </a:prstGeom>
          <a:solidFill>
            <a:srgbClr val="C026D3"/>
          </a:solidFill>
          <a:ln w="12700">
            <a:solidFill>
              <a:srgbClr val="C026D3"/>
            </a:solidFill>
            <a:prstDash val="solid"/>
          </a:ln>
        </p:spPr>
      </p:sp>
      <p:sp>
        <p:nvSpPr>
          <p:cNvPr id="40" name="Text 37"/>
          <p:cNvSpPr/>
          <p:nvPr/>
        </p:nvSpPr>
        <p:spPr>
          <a:xfrm>
            <a:off x="1645920" y="4928616"/>
            <a:ext cx="4590288" cy="347472"/>
          </a:xfrm>
          <a:prstGeom prst="rect">
            <a:avLst/>
          </a:prstGeom>
          <a:noFill/>
          <a:ln/>
        </p:spPr>
        <p:txBody>
          <a:bodyPr wrap="square" rtlCol="0" anchor="t"/>
          <a:lstStyle/>
          <a:p>
            <a:pPr indent="0" marL="0">
              <a:buNone/>
            </a:pPr>
            <a:r>
              <a:rPr lang="en-US" sz="1100" b="1" dirty="0">
                <a:solidFill>
                  <a:srgbClr val="C026D3"/>
                </a:solidFill>
                <a:latin typeface="Arial" pitchFamily="34" charset="0"/>
                <a:ea typeface="Arial" pitchFamily="34" charset="-122"/>
                <a:cs typeface="Arial" pitchFamily="34" charset="-120"/>
              </a:rPr>
              <a:t>AI kept on a short leash</a:t>
            </a:r>
            <a:endParaRPr lang="en-US" sz="1100" dirty="0"/>
          </a:p>
        </p:txBody>
      </p:sp>
      <p:sp>
        <p:nvSpPr>
          <p:cNvPr id="41" name="Text 38"/>
          <p:cNvSpPr/>
          <p:nvPr/>
        </p:nvSpPr>
        <p:spPr>
          <a:xfrm>
            <a:off x="1645920" y="520293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Drafting policies uses only public documents. Reading patient notes needs a model on this machine, or a business associate agreement.</a:t>
            </a:r>
            <a:endParaRPr lang="en-US" sz="920" dirty="0"/>
          </a:p>
        </p:txBody>
      </p:sp>
      <p:sp>
        <p:nvSpPr>
          <p:cNvPr id="42" name="Shape 39"/>
          <p:cNvSpPr/>
          <p:nvPr/>
        </p:nvSpPr>
        <p:spPr>
          <a:xfrm>
            <a:off x="6537960" y="4800600"/>
            <a:ext cx="5029200" cy="932688"/>
          </a:xfrm>
          <a:prstGeom prst="roundRect">
            <a:avLst>
              <a:gd name="adj" fmla="val 11765"/>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43" name="Shape 40"/>
          <p:cNvSpPr/>
          <p:nvPr/>
        </p:nvSpPr>
        <p:spPr>
          <a:xfrm>
            <a:off x="6647688" y="4965192"/>
            <a:ext cx="54864" cy="603504"/>
          </a:xfrm>
          <a:prstGeom prst="rect">
            <a:avLst/>
          </a:prstGeom>
          <a:solidFill>
            <a:srgbClr val="475569"/>
          </a:solidFill>
          <a:ln w="12700">
            <a:solidFill>
              <a:srgbClr val="475569"/>
            </a:solidFill>
            <a:prstDash val="solid"/>
          </a:ln>
        </p:spPr>
      </p:sp>
      <p:sp>
        <p:nvSpPr>
          <p:cNvPr id="44" name="Text 41"/>
          <p:cNvSpPr/>
          <p:nvPr/>
        </p:nvSpPr>
        <p:spPr>
          <a:xfrm>
            <a:off x="6812280" y="4928616"/>
            <a:ext cx="4590288" cy="347472"/>
          </a:xfrm>
          <a:prstGeom prst="rect">
            <a:avLst/>
          </a:prstGeom>
          <a:noFill/>
          <a:ln/>
        </p:spPr>
        <p:txBody>
          <a:bodyPr wrap="square" rtlCol="0" anchor="t"/>
          <a:lstStyle/>
          <a:p>
            <a:pPr indent="0" marL="0">
              <a:buNone/>
            </a:pPr>
            <a:r>
              <a:rPr lang="en-US" sz="1100" b="1" dirty="0">
                <a:solidFill>
                  <a:srgbClr val="475569"/>
                </a:solidFill>
                <a:latin typeface="Arial" pitchFamily="34" charset="0"/>
                <a:ea typeface="Arial" pitchFamily="34" charset="-122"/>
                <a:cs typeface="Arial" pitchFamily="34" charset="-120"/>
              </a:rPr>
              <a:t>Small, readable code</a:t>
            </a:r>
            <a:endParaRPr lang="en-US" sz="1100" dirty="0"/>
          </a:p>
        </p:txBody>
      </p:sp>
      <p:sp>
        <p:nvSpPr>
          <p:cNvPr id="45" name="Text 42"/>
          <p:cNvSpPr/>
          <p:nvPr/>
        </p:nvSpPr>
        <p:spPr>
          <a:xfrm>
            <a:off x="6812280" y="5202936"/>
            <a:ext cx="4590288" cy="438912"/>
          </a:xfrm>
          <a:prstGeom prst="rect">
            <a:avLst/>
          </a:prstGeom>
          <a:noFill/>
          <a:ln/>
        </p:spPr>
        <p:txBody>
          <a:bodyPr wrap="square" rtlCol="0" anchor="t"/>
          <a:lstStyle/>
          <a:p>
            <a:pPr indent="0" marL="0">
              <a:spcAft>
                <a:spcPts val="300"/>
              </a:spcAft>
              <a:buNone/>
            </a:pPr>
            <a:r>
              <a:rPr lang="en-US" sz="920" dirty="0">
                <a:solidFill>
                  <a:srgbClr val="475569"/>
                </a:solidFill>
                <a:latin typeface="Arial" pitchFamily="34" charset="0"/>
                <a:ea typeface="Arial" pitchFamily="34" charset="-122"/>
                <a:cs typeface="Arial" pitchFamily="34" charset="-120"/>
              </a:rPr>
              <a:t>Written in Go with almost nothing outside its standard library. One program to check and patch.</a:t>
            </a:r>
            <a:endParaRPr lang="en-US" sz="9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7C3AED"/>
          </a:solidFill>
          <a:ln w="12700">
            <a:solidFill>
              <a:srgbClr val="7C3AED"/>
            </a:solidFill>
            <a:prstDash val="solid"/>
          </a:ln>
        </p:spPr>
      </p:sp>
      <p:sp>
        <p:nvSpPr>
          <p:cNvPr id="3" name="Shape 1"/>
          <p:cNvSpPr/>
          <p:nvPr/>
        </p:nvSpPr>
        <p:spPr>
          <a:xfrm>
            <a:off x="128016" y="0"/>
            <a:ext cx="45720" cy="6858000"/>
          </a:xfrm>
          <a:prstGeom prst="rect">
            <a:avLst/>
          </a:prstGeom>
          <a:solidFill>
            <a:srgbClr val="C026D3"/>
          </a:solidFill>
          <a:ln w="12700">
            <a:solidFill>
              <a:srgbClr val="C026D3"/>
            </a:solidFill>
            <a:prstDash val="solid"/>
          </a:ln>
        </p:spPr>
      </p:sp>
      <p:sp>
        <p:nvSpPr>
          <p:cNvPr id="4" name="Text 2"/>
          <p:cNvSpPr/>
          <p:nvPr/>
        </p:nvSpPr>
        <p:spPr>
          <a:xfrm>
            <a:off x="548640" y="256032"/>
            <a:ext cx="8229600" cy="274320"/>
          </a:xfrm>
          <a:prstGeom prst="rect">
            <a:avLst/>
          </a:prstGeom>
          <a:noFill/>
          <a:ln/>
        </p:spPr>
        <p:txBody>
          <a:bodyPr wrap="square" rtlCol="0" anchor="ctr"/>
          <a:lstStyle/>
          <a:p>
            <a:pPr indent="0" marL="0">
              <a:buNone/>
            </a:pPr>
            <a:r>
              <a:rPr lang="en-US" sz="1000" b="1" spc="300" kern="0" dirty="0">
                <a:solidFill>
                  <a:srgbClr val="7C3AED"/>
                </a:solidFill>
                <a:latin typeface="Arial" pitchFamily="34" charset="0"/>
                <a:ea typeface="Arial" pitchFamily="34" charset="-122"/>
                <a:cs typeface="Arial" pitchFamily="34" charset="-120"/>
              </a:rPr>
              <a:t>STATUS</a:t>
            </a:r>
            <a:endParaRPr lang="en-US" sz="1000" dirty="0"/>
          </a:p>
        </p:txBody>
      </p:sp>
      <p:sp>
        <p:nvSpPr>
          <p:cNvPr id="5" name="Text 3"/>
          <p:cNvSpPr/>
          <p:nvPr/>
        </p:nvSpPr>
        <p:spPr>
          <a:xfrm>
            <a:off x="548640" y="502920"/>
            <a:ext cx="11155680" cy="548640"/>
          </a:xfrm>
          <a:prstGeom prst="rect">
            <a:avLst/>
          </a:prstGeom>
          <a:noFill/>
          <a:ln/>
        </p:spPr>
        <p:txBody>
          <a:bodyPr wrap="square" rtlCol="0" anchor="ctr"/>
          <a:lstStyle/>
          <a:p>
            <a:pPr indent="0" marL="0">
              <a:buNone/>
            </a:pPr>
            <a:r>
              <a:rPr lang="en-US" sz="2400" b="1" dirty="0">
                <a:solidFill>
                  <a:srgbClr val="0F172A"/>
                </a:solidFill>
                <a:latin typeface="Arial" pitchFamily="34" charset="0"/>
                <a:ea typeface="Arial" pitchFamily="34" charset="-122"/>
                <a:cs typeface="Arial" pitchFamily="34" charset="-120"/>
              </a:rPr>
              <a:t>Where Vaglio is today, and how to get it</a:t>
            </a:r>
            <a:endParaRPr lang="en-US" sz="2400" dirty="0"/>
          </a:p>
        </p:txBody>
      </p:sp>
      <p:pic>
        <p:nvPicPr>
          <p:cNvPr id="6" name="Image 0" descr="Vaglio logo">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384280" y="274320"/>
            <a:ext cx="457200" cy="457200"/>
          </a:xfrm>
          <a:prstGeom prst="rect">
            <a:avLst/>
          </a:prstGeom>
        </p:spPr>
      </p:pic>
      <p:sp>
        <p:nvSpPr>
          <p:cNvPr id="7" name="Shape 4"/>
          <p:cNvSpPr/>
          <p:nvPr/>
        </p:nvSpPr>
        <p:spPr>
          <a:xfrm>
            <a:off x="548640" y="6419088"/>
            <a:ext cx="11091672" cy="0"/>
          </a:xfrm>
          <a:prstGeom prst="line">
            <a:avLst/>
          </a:prstGeom>
          <a:noFill/>
          <a:ln w="9525">
            <a:solidFill>
              <a:srgbClr val="CBD5E1"/>
            </a:solidFill>
            <a:prstDash val="solid"/>
          </a:ln>
        </p:spPr>
      </p:sp>
      <p:sp>
        <p:nvSpPr>
          <p:cNvPr id="8" name="Text 5"/>
          <p:cNvSpPr/>
          <p:nvPr/>
        </p:nvSpPr>
        <p:spPr>
          <a:xfrm>
            <a:off x="548640" y="6455664"/>
            <a:ext cx="7315200" cy="274320"/>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Vaglio · BioDream LLC · github.com/BioDream-LLC/vaglio</a:t>
            </a:r>
            <a:endParaRPr lang="en-US" sz="800" dirty="0"/>
          </a:p>
        </p:txBody>
      </p:sp>
      <p:sp>
        <p:nvSpPr>
          <p:cNvPr id="9" name="Text 6"/>
          <p:cNvSpPr/>
          <p:nvPr/>
        </p:nvSpPr>
        <p:spPr>
          <a:xfrm>
            <a:off x="10698480" y="6455664"/>
            <a:ext cx="941832" cy="274320"/>
          </a:xfrm>
          <a:prstGeom prst="rect">
            <a:avLst/>
          </a:prstGeom>
          <a:noFill/>
          <a:ln/>
        </p:spPr>
        <p:txBody>
          <a:bodyPr wrap="square" rtlCol="0" anchor="ctr"/>
          <a:lstStyle/>
          <a:p>
            <a:pPr algn="r" indent="0" marL="0">
              <a:buNone/>
            </a:pPr>
            <a:r>
              <a:rPr lang="en-US" sz="800" dirty="0">
                <a:solidFill>
                  <a:srgbClr val="94A3B8"/>
                </a:solidFill>
                <a:latin typeface="Arial" pitchFamily="34" charset="0"/>
                <a:ea typeface="Arial" pitchFamily="34" charset="-122"/>
                <a:cs typeface="Arial" pitchFamily="34" charset="-120"/>
              </a:rPr>
              <a:t>18 / 18</a:t>
            </a:r>
            <a:endParaRPr lang="en-US" sz="800" dirty="0"/>
          </a:p>
        </p:txBody>
      </p:sp>
      <p:sp>
        <p:nvSpPr>
          <p:cNvPr id="10" name="Shape 7"/>
          <p:cNvSpPr/>
          <p:nvPr/>
        </p:nvSpPr>
        <p:spPr>
          <a:xfrm>
            <a:off x="548640" y="1188720"/>
            <a:ext cx="3657600" cy="4526280"/>
          </a:xfrm>
          <a:prstGeom prst="roundRect">
            <a:avLst>
              <a:gd name="adj" fmla="val 3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1" name="Shape 8"/>
          <p:cNvSpPr/>
          <p:nvPr/>
        </p:nvSpPr>
        <p:spPr>
          <a:xfrm>
            <a:off x="658368" y="1353312"/>
            <a:ext cx="54864" cy="4197096"/>
          </a:xfrm>
          <a:prstGeom prst="rect">
            <a:avLst/>
          </a:prstGeom>
          <a:solidFill>
            <a:srgbClr val="059669"/>
          </a:solidFill>
          <a:ln w="12700">
            <a:solidFill>
              <a:srgbClr val="059669"/>
            </a:solidFill>
            <a:prstDash val="solid"/>
          </a:ln>
        </p:spPr>
      </p:sp>
      <p:sp>
        <p:nvSpPr>
          <p:cNvPr id="12" name="Text 9"/>
          <p:cNvSpPr/>
          <p:nvPr/>
        </p:nvSpPr>
        <p:spPr>
          <a:xfrm>
            <a:off x="822960" y="1316736"/>
            <a:ext cx="3218688" cy="347472"/>
          </a:xfrm>
          <a:prstGeom prst="rect">
            <a:avLst/>
          </a:prstGeom>
          <a:noFill/>
          <a:ln/>
        </p:spPr>
        <p:txBody>
          <a:bodyPr wrap="square" rtlCol="0" anchor="t"/>
          <a:lstStyle/>
          <a:p>
            <a:pPr indent="0" marL="0">
              <a:buNone/>
            </a:pPr>
            <a:r>
              <a:rPr lang="en-US" sz="1300" b="1" dirty="0">
                <a:solidFill>
                  <a:srgbClr val="059669"/>
                </a:solidFill>
                <a:latin typeface="Arial" pitchFamily="34" charset="0"/>
                <a:ea typeface="Arial" pitchFamily="34" charset="-122"/>
                <a:cs typeface="Arial" pitchFamily="34" charset="-120"/>
              </a:rPr>
              <a:t>Working and tested</a:t>
            </a:r>
            <a:endParaRPr lang="en-US" sz="1300" dirty="0"/>
          </a:p>
        </p:txBody>
      </p:sp>
      <p:sp>
        <p:nvSpPr>
          <p:cNvPr id="13" name="Text 10"/>
          <p:cNvSpPr/>
          <p:nvPr/>
        </p:nvSpPr>
        <p:spPr>
          <a:xfrm>
            <a:off x="822960" y="1682496"/>
            <a:ext cx="3218688" cy="3941064"/>
          </a:xfrm>
          <a:prstGeom prst="rect">
            <a:avLst/>
          </a:prstGeom>
          <a:noFill/>
          <a:ln/>
        </p:spPr>
        <p:txBody>
          <a:bodyPr wrap="square" rtlCol="0" anchor="t"/>
          <a:lstStyle/>
          <a:p>
            <a:pPr indent="0" marL="0">
              <a:spcAft>
                <a:spcPts val="300"/>
              </a:spcAft>
              <a:buNone/>
            </a:pPr>
            <a:r>
              <a:rPr lang="en-US" sz="1150" dirty="0">
                <a:solidFill>
                  <a:srgbClr val="475569"/>
                </a:solidFill>
                <a:latin typeface="Arial" pitchFamily="34" charset="0"/>
                <a:ea typeface="Arial" pitchFamily="34" charset="-122"/>
                <a:cs typeface="Arial" pitchFamily="34" charset="-120"/>
              </a:rPr>
              <a:t>• decisions with proofs, and the absence rule</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the reviewers' console and the queue</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questionnaires made from policies</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asking for and reading documents</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drug requests and step therapy</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gold cards, CMS reports, replay</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the policy editor and clinician sign-off</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extensions, appeals feed, scopes, SSO</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run end to end through a real Perfuse</a:t>
            </a:r>
            <a:endParaRPr lang="en-US" sz="1150" dirty="0"/>
          </a:p>
        </p:txBody>
      </p:sp>
      <p:sp>
        <p:nvSpPr>
          <p:cNvPr id="14" name="Shape 11"/>
          <p:cNvSpPr/>
          <p:nvPr/>
        </p:nvSpPr>
        <p:spPr>
          <a:xfrm>
            <a:off x="4343400" y="1188720"/>
            <a:ext cx="3657600" cy="4526280"/>
          </a:xfrm>
          <a:prstGeom prst="roundRect">
            <a:avLst>
              <a:gd name="adj" fmla="val 3000"/>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5" name="Shape 12"/>
          <p:cNvSpPr/>
          <p:nvPr/>
        </p:nvSpPr>
        <p:spPr>
          <a:xfrm>
            <a:off x="4453128" y="1353312"/>
            <a:ext cx="54864" cy="4197096"/>
          </a:xfrm>
          <a:prstGeom prst="rect">
            <a:avLst/>
          </a:prstGeom>
          <a:solidFill>
            <a:srgbClr val="D97706"/>
          </a:solidFill>
          <a:ln w="12700">
            <a:solidFill>
              <a:srgbClr val="D97706"/>
            </a:solidFill>
            <a:prstDash val="solid"/>
          </a:ln>
        </p:spPr>
      </p:sp>
      <p:sp>
        <p:nvSpPr>
          <p:cNvPr id="16" name="Text 13"/>
          <p:cNvSpPr/>
          <p:nvPr/>
        </p:nvSpPr>
        <p:spPr>
          <a:xfrm>
            <a:off x="4617720" y="1316736"/>
            <a:ext cx="3218688" cy="347472"/>
          </a:xfrm>
          <a:prstGeom prst="rect">
            <a:avLst/>
          </a:prstGeom>
          <a:noFill/>
          <a:ln/>
        </p:spPr>
        <p:txBody>
          <a:bodyPr wrap="square" rtlCol="0" anchor="t"/>
          <a:lstStyle/>
          <a:p>
            <a:pPr indent="0" marL="0">
              <a:buNone/>
            </a:pPr>
            <a:r>
              <a:rPr lang="en-US" sz="1300" b="1" dirty="0">
                <a:solidFill>
                  <a:srgbClr val="D97706"/>
                </a:solidFill>
                <a:latin typeface="Arial" pitchFamily="34" charset="0"/>
                <a:ea typeface="Arial" pitchFamily="34" charset="-122"/>
                <a:cs typeface="Arial" pitchFamily="34" charset="-120"/>
              </a:rPr>
              <a:t>Not yet</a:t>
            </a:r>
            <a:endParaRPr lang="en-US" sz="1300" dirty="0"/>
          </a:p>
        </p:txBody>
      </p:sp>
      <p:sp>
        <p:nvSpPr>
          <p:cNvPr id="17" name="Text 14"/>
          <p:cNvSpPr/>
          <p:nvPr/>
        </p:nvSpPr>
        <p:spPr>
          <a:xfrm>
            <a:off x="4617720" y="1682496"/>
            <a:ext cx="3218688" cy="3941064"/>
          </a:xfrm>
          <a:prstGeom prst="rect">
            <a:avLst/>
          </a:prstGeom>
          <a:noFill/>
          <a:ln/>
        </p:spPr>
        <p:txBody>
          <a:bodyPr wrap="square" rtlCol="0" anchor="t"/>
          <a:lstStyle/>
          <a:p>
            <a:pPr indent="0" marL="0">
              <a:spcAft>
                <a:spcPts val="300"/>
              </a:spcAft>
              <a:buNone/>
            </a:pPr>
            <a:r>
              <a:rPr lang="en-US" sz="1150" dirty="0">
                <a:solidFill>
                  <a:srgbClr val="475569"/>
                </a:solidFill>
                <a:latin typeface="Arial" pitchFamily="34" charset="0"/>
                <a:ea typeface="Arial" pitchFamily="34" charset="-122"/>
                <a:cs typeface="Arial" pitchFamily="34" charset="-120"/>
              </a:rPr>
              <a:t>• version 0.0.1: early, not yet in production anywhere</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the example policies are illustrative, not any plan's rules</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library policies need the plan's clinician to sign them off</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single sign-on is tested against a test provider only</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reading scanned images needs an OCR program installed</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letters to patients are the plan's own process</a:t>
            </a:r>
            <a:endParaRPr lang="en-US" sz="1150" dirty="0"/>
          </a:p>
        </p:txBody>
      </p:sp>
      <p:sp>
        <p:nvSpPr>
          <p:cNvPr id="18" name="Shape 15"/>
          <p:cNvSpPr/>
          <p:nvPr/>
        </p:nvSpPr>
        <p:spPr>
          <a:xfrm>
            <a:off x="8138160" y="1188720"/>
            <a:ext cx="3502152" cy="4526280"/>
          </a:xfrm>
          <a:prstGeom prst="roundRect">
            <a:avLst>
              <a:gd name="adj" fmla="val 3133"/>
            </a:avLst>
          </a:prstGeom>
          <a:solidFill>
            <a:srgbClr val="FFFFFF"/>
          </a:solidFill>
          <a:ln w="9525">
            <a:solidFill>
              <a:srgbClr val="CBD5E1"/>
            </a:solidFill>
            <a:prstDash val="solid"/>
          </a:ln>
          <a:effectLst>
            <a:outerShdw sx="100000" sy="100000" kx="0" ky="0" algn="bl" rotWithShape="0" blurRad="76200" dist="25400" dir="5400000">
              <a:srgbClr val="0F172A">
                <a:alpha val="12000"/>
              </a:srgbClr>
            </a:outerShdw>
          </a:effectLst>
        </p:spPr>
      </p:sp>
      <p:sp>
        <p:nvSpPr>
          <p:cNvPr id="19" name="Shape 16"/>
          <p:cNvSpPr/>
          <p:nvPr/>
        </p:nvSpPr>
        <p:spPr>
          <a:xfrm>
            <a:off x="8247888" y="1353312"/>
            <a:ext cx="54864" cy="4197096"/>
          </a:xfrm>
          <a:prstGeom prst="rect">
            <a:avLst/>
          </a:prstGeom>
          <a:solidFill>
            <a:srgbClr val="7C3AED"/>
          </a:solidFill>
          <a:ln w="12700">
            <a:solidFill>
              <a:srgbClr val="7C3AED"/>
            </a:solidFill>
            <a:prstDash val="solid"/>
          </a:ln>
        </p:spPr>
      </p:sp>
      <p:sp>
        <p:nvSpPr>
          <p:cNvPr id="20" name="Text 17"/>
          <p:cNvSpPr/>
          <p:nvPr/>
        </p:nvSpPr>
        <p:spPr>
          <a:xfrm>
            <a:off x="8412480" y="1316736"/>
            <a:ext cx="3063240" cy="347472"/>
          </a:xfrm>
          <a:prstGeom prst="rect">
            <a:avLst/>
          </a:prstGeom>
          <a:noFill/>
          <a:ln/>
        </p:spPr>
        <p:txBody>
          <a:bodyPr wrap="square" rtlCol="0" anchor="t"/>
          <a:lstStyle/>
          <a:p>
            <a:pPr indent="0" marL="0">
              <a:buNone/>
            </a:pPr>
            <a:r>
              <a:rPr lang="en-US" sz="1300" b="1" dirty="0">
                <a:solidFill>
                  <a:srgbClr val="7C3AED"/>
                </a:solidFill>
                <a:latin typeface="Arial" pitchFamily="34" charset="0"/>
                <a:ea typeface="Arial" pitchFamily="34" charset="-122"/>
                <a:cs typeface="Arial" pitchFamily="34" charset="-120"/>
              </a:rPr>
              <a:t>Licence</a:t>
            </a:r>
            <a:endParaRPr lang="en-US" sz="1300" dirty="0"/>
          </a:p>
        </p:txBody>
      </p:sp>
      <p:sp>
        <p:nvSpPr>
          <p:cNvPr id="21" name="Text 18"/>
          <p:cNvSpPr/>
          <p:nvPr/>
        </p:nvSpPr>
        <p:spPr>
          <a:xfrm>
            <a:off x="8412480" y="1682496"/>
            <a:ext cx="3063240" cy="3941064"/>
          </a:xfrm>
          <a:prstGeom prst="rect">
            <a:avLst/>
          </a:prstGeom>
          <a:noFill/>
          <a:ln/>
        </p:spPr>
        <p:txBody>
          <a:bodyPr wrap="square" rtlCol="0" anchor="t"/>
          <a:lstStyle/>
          <a:p>
            <a:pPr indent="0" marL="0">
              <a:spcAft>
                <a:spcPts val="300"/>
              </a:spcAft>
              <a:buNone/>
            </a:pPr>
            <a:r>
              <a:rPr lang="en-US" sz="1150" b="1" dirty="0">
                <a:solidFill>
                  <a:srgbClr val="0F172A"/>
                </a:solidFill>
                <a:latin typeface="Arial" pitchFamily="34" charset="0"/>
                <a:ea typeface="Arial" pitchFamily="34" charset="-122"/>
                <a:cs typeface="Arial" pitchFamily="34" charset="-120"/>
              </a:rPr>
              <a:t>PolyForm Shield 1.0.0: source-available.</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Anyone may read, run, change and share it, including a health plan deciding its own requests, at no cost.</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Not allowed without a commercial licence: offering a product or service that competes with Vaglio.</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 </a:t>
            </a:r>
            <a:endParaRPr lang="en-US" sz="1150" dirty="0"/>
          </a:p>
          <a:p>
            <a:pPr indent="0" marL="0">
              <a:spcAft>
                <a:spcPts val="300"/>
              </a:spcAft>
              <a:buNone/>
            </a:pPr>
            <a:r>
              <a:rPr lang="en-US" sz="1150" dirty="0">
                <a:solidFill>
                  <a:srgbClr val="475569"/>
                </a:solidFill>
                <a:latin typeface="Arial" pitchFamily="34" charset="0"/>
                <a:ea typeface="Arial" pitchFamily="34" charset="-122"/>
                <a:cs typeface="Arial" pitchFamily="34" charset="-120"/>
              </a:rPr>
              <a:t>Perfuse, which it works with, stays Apache-2.0 open source.</a:t>
            </a:r>
            <a:endParaRPr lang="en-US" sz="1150" dirty="0"/>
          </a:p>
        </p:txBody>
      </p:sp>
      <p:sp>
        <p:nvSpPr>
          <p:cNvPr id="22" name="Shape 19"/>
          <p:cNvSpPr/>
          <p:nvPr/>
        </p:nvSpPr>
        <p:spPr>
          <a:xfrm>
            <a:off x="548640" y="5806440"/>
            <a:ext cx="11091672" cy="502920"/>
          </a:xfrm>
          <a:prstGeom prst="roundRect">
            <a:avLst>
              <a:gd name="adj" fmla="val 18182"/>
            </a:avLst>
          </a:prstGeom>
          <a:solidFill>
            <a:srgbClr val="0B1220"/>
          </a:solidFill>
          <a:ln w="12700">
            <a:solidFill>
              <a:srgbClr val="0B1220"/>
            </a:solidFill>
            <a:prstDash val="solid"/>
          </a:ln>
        </p:spPr>
      </p:sp>
      <p:sp>
        <p:nvSpPr>
          <p:cNvPr id="23" name="Text 20"/>
          <p:cNvSpPr/>
          <p:nvPr/>
        </p:nvSpPr>
        <p:spPr>
          <a:xfrm>
            <a:off x="731520" y="5806440"/>
            <a:ext cx="10789920" cy="502920"/>
          </a:xfrm>
          <a:prstGeom prst="rect">
            <a:avLst/>
          </a:prstGeom>
          <a:noFill/>
          <a:ln/>
        </p:spPr>
        <p:txBody>
          <a:bodyPr wrap="square" rtlCol="0" anchor="ctr"/>
          <a:lstStyle/>
          <a:p>
            <a:pPr indent="0" marL="0">
              <a:buNone/>
            </a:pPr>
            <a:r>
              <a:rPr lang="en-US" sz="1100" b="1" dirty="0">
                <a:solidFill>
                  <a:srgbClr val="6EE7B7"/>
                </a:solidFill>
                <a:latin typeface="Arial" pitchFamily="34" charset="0"/>
                <a:ea typeface="Arial" pitchFamily="34" charset="-122"/>
                <a:cs typeface="Arial" pitchFamily="34" charset="-120"/>
              </a:rPr>
              <a:t>Get it: </a:t>
            </a:r>
            <a:pPr indent="0" marL="0">
              <a:buNone/>
            </a:pPr>
            <a:r>
              <a:rPr lang="en-US" sz="1100" b="1" dirty="0">
                <a:solidFill>
                  <a:srgbClr val="F5F3FF"/>
                </a:solidFill>
                <a:latin typeface="Arial" pitchFamily="34" charset="0"/>
                <a:ea typeface="Arial" pitchFamily="34" charset="-122"/>
                <a:cs typeface="Arial" pitchFamily="34" charset="-120"/>
              </a:rPr>
              <a:t>github.com/BioDream-LLC/vaglio</a:t>
            </a:r>
            <a:pPr indent="0" marL="0">
              <a:buNone/>
            </a:pPr>
            <a:r>
              <a:rPr lang="en-US" sz="1100" dirty="0">
                <a:solidFill>
                  <a:srgbClr val="CBD5E1"/>
                </a:solidFill>
                <a:latin typeface="Arial" pitchFamily="34" charset="0"/>
                <a:ea typeface="Arial" pitchFamily="34" charset="-122"/>
                <a:cs typeface="Arial" pitchFamily="34" charset="-120"/>
              </a:rPr>
              <a:t>   ·   Bug reports welcome; code contributions are not accepted.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BioDream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Vaglio in plain words</dc:title>
  <dc:subject>What Vaglio does, for people who do not write software</dc:subject>
  <dc:creator>BioDream Developer</dc:creator>
  <cp:lastModifiedBy>BioDream Developer</cp:lastModifiedBy>
  <cp:revision>1</cp:revision>
  <dcterms:created xsi:type="dcterms:W3CDTF">2026-10-14T01:30:54Z</dcterms:created>
  <dcterms:modified xsi:type="dcterms:W3CDTF">2026-10-14T01:30:54Z</dcterms:modified>
</cp:coreProperties>
</file>